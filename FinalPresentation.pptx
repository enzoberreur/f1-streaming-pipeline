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3.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4.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5.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6.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7.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8.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9.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10.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11.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1"/>
  </p:sldMasterIdLst>
  <p:notesMasterIdLst>
    <p:notesMasterId r:id="rId14"/>
  </p:notesMasterIdLst>
  <p:handoutMasterIdLst>
    <p:handoutMasterId r:id="rId15"/>
  </p:handoutMasterIdLst>
  <p:sldIdLst>
    <p:sldId id="532" r:id="rId2"/>
    <p:sldId id="544" r:id="rId3"/>
    <p:sldId id="536" r:id="rId4"/>
    <p:sldId id="548" r:id="rId5"/>
    <p:sldId id="546" r:id="rId6"/>
    <p:sldId id="539" r:id="rId7"/>
    <p:sldId id="540" r:id="rId8"/>
    <p:sldId id="542" r:id="rId9"/>
    <p:sldId id="541" r:id="rId10"/>
    <p:sldId id="549" r:id="rId11"/>
    <p:sldId id="543" r:id="rId12"/>
    <p:sldId id="547" r:id="rId13"/>
  </p:sldIdLst>
  <p:sldSz cx="12192000" cy="6858000"/>
  <p:notesSz cx="6950075" cy="9236075"/>
  <p:custShowLst>
    <p:custShow name="Format Guide Workshop" id="0">
      <p:sldLst/>
    </p:custShow>
  </p:custShowLst>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1786" userDrawn="1">
          <p15:clr>
            <a:srgbClr val="A4A3A4"/>
          </p15:clr>
        </p15:guide>
        <p15:guide id="5" pos="6185" userDrawn="1">
          <p15:clr>
            <a:srgbClr val="A4A3A4"/>
          </p15:clr>
        </p15:guide>
        <p15:guide id="7" pos="1345" userDrawn="1">
          <p15:clr>
            <a:srgbClr val="A4A3A4"/>
          </p15:clr>
        </p15:guide>
        <p15:guide id="8" pos="89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1C1C"/>
    <a:srgbClr val="2C2C2C"/>
    <a:srgbClr val="7D0D2D"/>
    <a:srgbClr val="480B22"/>
    <a:srgbClr val="F2F2F2"/>
    <a:srgbClr val="7B1113"/>
    <a:srgbClr val="FF2428"/>
    <a:srgbClr val="550B22"/>
    <a:srgbClr val="75102D"/>
    <a:srgbClr val="8712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3" autoAdjust="0"/>
    <p:restoredTop sz="85027" autoAdjust="0"/>
  </p:normalViewPr>
  <p:slideViewPr>
    <p:cSldViewPr>
      <p:cViewPr>
        <p:scale>
          <a:sx n="94" d="100"/>
          <a:sy n="94" d="100"/>
        </p:scale>
        <p:origin x="1152" y="144"/>
      </p:cViewPr>
      <p:guideLst>
        <p:guide orient="horz" pos="1786"/>
        <p:guide pos="6185"/>
        <p:guide pos="1345"/>
        <p:guide pos="896"/>
      </p:guideLst>
    </p:cSldViewPr>
  </p:slideViewPr>
  <p:outlineViewPr>
    <p:cViewPr>
      <p:scale>
        <a:sx n="33" d="100"/>
        <a:sy n="33" d="100"/>
      </p:scale>
      <p:origin x="0" y="0"/>
    </p:cViewPr>
  </p:outlineViewPr>
  <p:notesTextViewPr>
    <p:cViewPr>
      <p:scale>
        <a:sx n="180" d="100"/>
        <a:sy n="180" d="100"/>
      </p:scale>
      <p:origin x="0" y="0"/>
    </p:cViewPr>
  </p:notesTextViewPr>
  <p:sorterViewPr>
    <p:cViewPr>
      <p:scale>
        <a:sx n="66" d="100"/>
        <a:sy n="66" d="100"/>
      </p:scale>
      <p:origin x="0" y="0"/>
    </p:cViewPr>
  </p:sorterViewPr>
  <p:notesViewPr>
    <p:cSldViewPr>
      <p:cViewPr>
        <p:scale>
          <a:sx n="75" d="100"/>
          <a:sy n="75" d="100"/>
        </p:scale>
        <p:origin x="4120" y="520"/>
      </p:cViewPr>
      <p:guideLst/>
    </p:cSldViewPr>
  </p:notesViewPr>
  <p:gridSpacing cx="39601" cy="39601"/>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10/21/25</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10/21/25</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0</a:t>
            </a:fld>
            <a:endParaRPr lang="en-US" dirty="0"/>
          </a:p>
        </p:txBody>
      </p:sp>
    </p:spTree>
    <p:extLst>
      <p:ext uri="{BB962C8B-B14F-4D97-AF65-F5344CB8AC3E}">
        <p14:creationId xmlns:p14="http://schemas.microsoft.com/office/powerpoint/2010/main" val="1087024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r>
              <a:rPr lang="en-GB" dirty="0"/>
              <a:t>In Formula 1, every millisecond counts.</a:t>
            </a:r>
            <a:br>
              <a:rPr lang="en-GB" dirty="0"/>
            </a:br>
            <a:r>
              <a:rPr lang="en-GB" dirty="0"/>
              <a:t>But behind the speed we see on track, engineers face a huge challenge — </a:t>
            </a:r>
            <a:r>
              <a:rPr lang="en-GB" b="1" dirty="0"/>
              <a:t>too much data, too little time</a:t>
            </a:r>
            <a:r>
              <a:rPr lang="en-GB" dirty="0"/>
              <a:t>.</a:t>
            </a:r>
            <a:br>
              <a:rPr lang="en-GB" dirty="0"/>
            </a:br>
            <a:r>
              <a:rPr lang="en-GB" dirty="0"/>
              <a:t>During a race, they have to decide instantly when to pit, how to manage tires, and whether a car is pushing too hard — all from thousands of telemetry points per second.</a:t>
            </a:r>
          </a:p>
          <a:p>
            <a:r>
              <a:rPr lang="en-GB" dirty="0"/>
              <a:t>That’s where our project comes in.</a:t>
            </a:r>
            <a:br>
              <a:rPr lang="en-GB" dirty="0"/>
            </a:br>
            <a:r>
              <a:rPr lang="en-GB" dirty="0"/>
              <a:t>We built the </a:t>
            </a:r>
            <a:r>
              <a:rPr lang="en-GB" i="1" dirty="0"/>
              <a:t>F1 Smart Race Strategy Platform</a:t>
            </a:r>
            <a:r>
              <a:rPr lang="en-GB" dirty="0"/>
              <a:t> — an IoT system that turns raw telemetry into </a:t>
            </a:r>
            <a:r>
              <a:rPr lang="en-GB" b="1" dirty="0"/>
              <a:t>real-time insights</a:t>
            </a:r>
            <a:r>
              <a:rPr lang="en-GB" dirty="0"/>
              <a:t>.</a:t>
            </a:r>
            <a:br>
              <a:rPr lang="en-GB" dirty="0"/>
            </a:br>
            <a:r>
              <a:rPr lang="en-GB" dirty="0"/>
              <a:t>It detects anomalies, predicts performance drops, and even recommends the perfect pit-stop window.</a:t>
            </a:r>
          </a:p>
          <a:p>
            <a:r>
              <a:rPr lang="en-GB" dirty="0"/>
              <a:t>Everything is automated — from data ingestion to analytics and monitoring — using </a:t>
            </a:r>
            <a:r>
              <a:rPr lang="en-GB" b="1" dirty="0"/>
              <a:t>Airflow</a:t>
            </a:r>
            <a:r>
              <a:rPr lang="en-GB" dirty="0"/>
              <a:t>, </a:t>
            </a:r>
            <a:r>
              <a:rPr lang="en-GB" b="1" dirty="0"/>
              <a:t>Prometheus</a:t>
            </a:r>
            <a:r>
              <a:rPr lang="en-GB" dirty="0"/>
              <a:t>, and </a:t>
            </a:r>
            <a:r>
              <a:rPr lang="en-GB" b="1" dirty="0"/>
              <a:t>Grafana</a:t>
            </a:r>
            <a:r>
              <a:rPr lang="en-GB" dirty="0"/>
              <a:t>, all running in a scalable Docker/Kubernetes setup.</a:t>
            </a:r>
          </a:p>
          <a:p>
            <a:r>
              <a:rPr lang="en-GB" dirty="0"/>
              <a:t>In short, we help F1 engineers go from </a:t>
            </a:r>
            <a:r>
              <a:rPr lang="en-GB" i="1" dirty="0"/>
              <a:t>data overload</a:t>
            </a:r>
            <a:r>
              <a:rPr lang="en-GB" dirty="0"/>
              <a:t> to </a:t>
            </a:r>
            <a:r>
              <a:rPr lang="en-GB" i="1" dirty="0"/>
              <a:t>decision clarity</a:t>
            </a:r>
            <a:r>
              <a:rPr lang="en-GB" dirty="0"/>
              <a:t> — faster than ever.</a:t>
            </a:r>
          </a:p>
          <a:p>
            <a:endParaRPr lang="en-US" dirty="0"/>
          </a:p>
        </p:txBody>
      </p:sp>
      <p:sp>
        <p:nvSpPr>
          <p:cNvPr id="4" name="Slide Number Placeholder 3"/>
          <p:cNvSpPr>
            <a:spLocks noGrp="1"/>
          </p:cNvSpPr>
          <p:nvPr>
            <p:ph type="sldNum" sz="quarter" idx="10"/>
          </p:nvPr>
        </p:nvSpPr>
        <p:spPr/>
        <p:txBody>
          <a:bodyPr/>
          <a:lstStyle/>
          <a:p>
            <a:r>
              <a:rPr lang="en-US" dirty="0">
                <a:solidFill>
                  <a:srgbClr val="6E6F73"/>
                </a:solidFill>
              </a:rPr>
              <a:t>Notes view: </a:t>
            </a:r>
            <a:fld id="{128CEAFE-FA94-43E5-B0FF-D47E1CCDD1B4}" type="slidenum">
              <a:rPr lang="en-US" smtClean="0">
                <a:solidFill>
                  <a:srgbClr val="6E6F73"/>
                </a:solidFill>
              </a:rPr>
              <a:pPr/>
              <a:t>1</a:t>
            </a:fld>
            <a:endParaRPr lang="en-US" dirty="0">
              <a:solidFill>
                <a:srgbClr val="6E6F73"/>
              </a:solidFill>
            </a:endParaRPr>
          </a:p>
        </p:txBody>
      </p:sp>
    </p:spTree>
    <p:extLst>
      <p:ext uri="{BB962C8B-B14F-4D97-AF65-F5344CB8AC3E}">
        <p14:creationId xmlns:p14="http://schemas.microsoft.com/office/powerpoint/2010/main" val="3858454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r>
              <a:rPr lang="en-GB" dirty="0"/>
              <a:t>“This slide gives a complete overview of our system’s architecture.</a:t>
            </a:r>
          </a:p>
          <a:p>
            <a:r>
              <a:rPr lang="en-GB" dirty="0"/>
              <a:t>We structured the platform around four main layers:</a:t>
            </a:r>
            <a:br>
              <a:rPr lang="en-GB" dirty="0"/>
            </a:br>
            <a:r>
              <a:rPr lang="en-GB" b="1" dirty="0"/>
              <a:t>Data Ingestion</a:t>
            </a:r>
            <a:r>
              <a:rPr lang="en-GB" dirty="0"/>
              <a:t>, </a:t>
            </a:r>
            <a:r>
              <a:rPr lang="en-GB" b="1" dirty="0"/>
              <a:t>Processing</a:t>
            </a:r>
            <a:r>
              <a:rPr lang="en-GB" dirty="0"/>
              <a:t>, </a:t>
            </a:r>
            <a:r>
              <a:rPr lang="en-GB" b="1" dirty="0"/>
              <a:t>Storage</a:t>
            </a:r>
            <a:r>
              <a:rPr lang="en-GB" dirty="0"/>
              <a:t>, and </a:t>
            </a:r>
            <a:r>
              <a:rPr lang="en-GB" b="1" dirty="0"/>
              <a:t>Monitoring/Visualization</a:t>
            </a:r>
            <a:r>
              <a:rPr lang="en-GB" dirty="0"/>
              <a:t>.</a:t>
            </a:r>
          </a:p>
          <a:p>
            <a:endParaRPr lang="en-GB" dirty="0"/>
          </a:p>
          <a:p>
            <a:r>
              <a:rPr lang="en-GB" dirty="0"/>
              <a:t>On the left, the </a:t>
            </a:r>
            <a:r>
              <a:rPr lang="en-GB" b="1" dirty="0"/>
              <a:t>F1 car sensors </a:t>
            </a:r>
            <a:r>
              <a:rPr lang="en-GB" dirty="0"/>
              <a:t>generates realistic telemetry — car speed, RPM, tire wear, temperatures — which is sent in real-time to the </a:t>
            </a:r>
            <a:r>
              <a:rPr lang="en-GB" b="1" dirty="0"/>
              <a:t>Stream Processor</a:t>
            </a:r>
            <a:r>
              <a:rPr lang="en-GB" dirty="0"/>
              <a:t>.</a:t>
            </a:r>
          </a:p>
          <a:p>
            <a:endParaRPr lang="en-GB" dirty="0"/>
          </a:p>
          <a:p>
            <a:r>
              <a:rPr lang="en-GB" dirty="0"/>
              <a:t>The </a:t>
            </a:r>
            <a:r>
              <a:rPr lang="en-GB" b="1" dirty="0"/>
              <a:t>Stream Processor</a:t>
            </a:r>
            <a:r>
              <a:rPr lang="en-GB" dirty="0"/>
              <a:t> applies business logic: it calculates pit-stop scores, detects anomalies, and forwards results to </a:t>
            </a:r>
            <a:r>
              <a:rPr lang="en-GB" b="1" dirty="0"/>
              <a:t>PostgreSQL</a:t>
            </a:r>
            <a:r>
              <a:rPr lang="en-GB" dirty="0"/>
              <a:t> for persistence.</a:t>
            </a:r>
          </a:p>
          <a:p>
            <a:r>
              <a:rPr lang="en-GB" dirty="0"/>
              <a:t>Both the </a:t>
            </a:r>
            <a:r>
              <a:rPr lang="en-GB" b="0" dirty="0"/>
              <a:t>F1 car sensors </a:t>
            </a:r>
            <a:r>
              <a:rPr lang="en-GB" dirty="0"/>
              <a:t>and the Stream Processor expose </a:t>
            </a:r>
            <a:r>
              <a:rPr lang="en-GB" b="1" dirty="0"/>
              <a:t>Prometheus metrics</a:t>
            </a:r>
            <a:r>
              <a:rPr lang="en-GB" dirty="0"/>
              <a:t> so that system health and performance can be continuously monitored.</a:t>
            </a:r>
          </a:p>
          <a:p>
            <a:endParaRPr lang="en-GB" dirty="0"/>
          </a:p>
          <a:p>
            <a:r>
              <a:rPr lang="en-GB" dirty="0"/>
              <a:t>Above that, </a:t>
            </a:r>
            <a:r>
              <a:rPr lang="en-GB" b="1" dirty="0"/>
              <a:t>Apache Airflow</a:t>
            </a:r>
            <a:r>
              <a:rPr lang="en-GB" dirty="0"/>
              <a:t> orchestrates batch analytics workflows — it aggregates historical data and generates performance summaries.</a:t>
            </a:r>
          </a:p>
          <a:p>
            <a:endParaRPr lang="en-GB" dirty="0"/>
          </a:p>
          <a:p>
            <a:r>
              <a:rPr lang="en-GB" dirty="0"/>
              <a:t>Finally, </a:t>
            </a:r>
            <a:r>
              <a:rPr lang="en-GB" b="1" dirty="0"/>
              <a:t>Grafana</a:t>
            </a:r>
            <a:r>
              <a:rPr lang="en-GB" dirty="0"/>
              <a:t> provides dashboards for real-time and post-race insights, allowing the team to monitor both system-level and race-level metrics.</a:t>
            </a:r>
          </a:p>
          <a:p>
            <a:endParaRPr lang="en-GB" dirty="0"/>
          </a:p>
          <a:p>
            <a:r>
              <a:rPr lang="en-GB" dirty="0"/>
              <a:t>All services are containerized and managed with </a:t>
            </a:r>
            <a:r>
              <a:rPr lang="en-GB" b="1" dirty="0"/>
              <a:t>Docker</a:t>
            </a:r>
            <a:r>
              <a:rPr lang="en-GB" dirty="0"/>
              <a:t>, making the system fully portable and ready for deployment in </a:t>
            </a:r>
            <a:r>
              <a:rPr lang="en-GB" b="1" dirty="0"/>
              <a:t>Kubernetes</a:t>
            </a:r>
            <a:r>
              <a:rPr lang="en-GB" dirty="0"/>
              <a:t>.</a:t>
            </a:r>
          </a:p>
          <a:p>
            <a:br>
              <a:rPr lang="en-US" dirty="0"/>
            </a:br>
            <a:r>
              <a:rPr lang="en-US" dirty="0"/>
              <a:t>-&gt;</a:t>
            </a:r>
            <a:r>
              <a:rPr lang="en-GB" dirty="0"/>
              <a:t>Now that we’ve seen the global architecture, let’s zoom into the core data flow — how telemetry is processed and </a:t>
            </a:r>
            <a:r>
              <a:rPr lang="en-GB" dirty="0" err="1"/>
              <a:t>analyzed</a:t>
            </a:r>
            <a:r>
              <a:rPr lang="en-GB" dirty="0"/>
              <a:t> inside the system.</a:t>
            </a:r>
            <a:endParaRPr lang="en-US" dirty="0"/>
          </a:p>
        </p:txBody>
      </p:sp>
      <p:sp>
        <p:nvSpPr>
          <p:cNvPr id="4" name="Slide Number Placeholder 3"/>
          <p:cNvSpPr>
            <a:spLocks noGrp="1"/>
          </p:cNvSpPr>
          <p:nvPr>
            <p:ph type="sldNum" sz="quarter" idx="10"/>
          </p:nvPr>
        </p:nvSpPr>
        <p:spPr/>
        <p:txBody>
          <a:bodyPr/>
          <a:lstStyle/>
          <a:p>
            <a:r>
              <a:rPr lang="en-US" dirty="0">
                <a:solidFill>
                  <a:srgbClr val="6E6F73"/>
                </a:solidFill>
              </a:rPr>
              <a:t>Notes view: </a:t>
            </a:r>
            <a:fld id="{128CEAFE-FA94-43E5-B0FF-D47E1CCDD1B4}" type="slidenum">
              <a:rPr lang="en-US" smtClean="0">
                <a:solidFill>
                  <a:srgbClr val="6E6F73"/>
                </a:solidFill>
              </a:rPr>
              <a:pPr/>
              <a:t>2</a:t>
            </a:fld>
            <a:endParaRPr lang="en-US" dirty="0">
              <a:solidFill>
                <a:srgbClr val="6E6F73"/>
              </a:solidFill>
            </a:endParaRPr>
          </a:p>
        </p:txBody>
      </p:sp>
    </p:spTree>
    <p:extLst>
      <p:ext uri="{BB962C8B-B14F-4D97-AF65-F5344CB8AC3E}">
        <p14:creationId xmlns:p14="http://schemas.microsoft.com/office/powerpoint/2010/main" val="3716503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r>
              <a:rPr lang="en-GB" dirty="0"/>
              <a:t>Here’s how our data flows through the system in real time.</a:t>
            </a:r>
          </a:p>
          <a:p>
            <a:r>
              <a:rPr lang="en-GB" dirty="0"/>
              <a:t>It starts with the </a:t>
            </a:r>
            <a:r>
              <a:rPr lang="en-GB" b="1" dirty="0"/>
              <a:t>F1 car sensors</a:t>
            </a:r>
            <a:r>
              <a:rPr lang="en-GB" dirty="0"/>
              <a:t>, which continuously send telemetry — things like speed, tire wear, brake temperature, or engine health — through HTTP requests.</a:t>
            </a:r>
          </a:p>
          <a:p>
            <a:endParaRPr lang="en-GB" dirty="0"/>
          </a:p>
          <a:p>
            <a:r>
              <a:rPr lang="en-GB" dirty="0"/>
              <a:t>This data first goes into </a:t>
            </a:r>
            <a:r>
              <a:rPr lang="en-GB" b="1" dirty="0"/>
              <a:t>Redis</a:t>
            </a:r>
            <a:r>
              <a:rPr lang="en-GB" dirty="0"/>
              <a:t>, which acts as a </a:t>
            </a:r>
            <a:r>
              <a:rPr lang="en-GB" b="1" dirty="0"/>
              <a:t>buffer and broker</a:t>
            </a:r>
            <a:r>
              <a:rPr lang="en-GB" dirty="0"/>
              <a:t>.</a:t>
            </a:r>
            <a:br>
              <a:rPr lang="en-GB" dirty="0"/>
            </a:br>
            <a:r>
              <a:rPr lang="en-GB" dirty="0"/>
              <a:t>Redis smooths out bursts and decouples ingestion from computation, ensuring we never lose messages even under heavy load.</a:t>
            </a:r>
          </a:p>
          <a:p>
            <a:endParaRPr lang="en-GB" dirty="0"/>
          </a:p>
          <a:p>
            <a:r>
              <a:rPr lang="en-GB" dirty="0"/>
              <a:t>Next, the data moves to our </a:t>
            </a:r>
            <a:r>
              <a:rPr lang="en-GB" b="1" dirty="0"/>
              <a:t>Stream Processor</a:t>
            </a:r>
            <a:r>
              <a:rPr lang="en-GB" dirty="0"/>
              <a:t>, built in Python.</a:t>
            </a:r>
            <a:br>
              <a:rPr lang="en-GB" dirty="0"/>
            </a:br>
            <a:r>
              <a:rPr lang="en-GB" dirty="0"/>
              <a:t>This component performs the heavy lifting — it analyses telemetry in real time, detects anomalies, and computes pit-stop recommendations using rolling windows.</a:t>
            </a:r>
          </a:p>
          <a:p>
            <a:r>
              <a:rPr lang="en-GB" dirty="0"/>
              <a:t>During this process, the Stream Processor also exposes </a:t>
            </a:r>
            <a:r>
              <a:rPr lang="en-GB" b="1" dirty="0"/>
              <a:t>Prometheus metrics</a:t>
            </a:r>
            <a:r>
              <a:rPr lang="en-GB" dirty="0"/>
              <a:t> — so every service performance indicator, like message throughput or latency, is continuously collected.</a:t>
            </a:r>
          </a:p>
          <a:p>
            <a:br>
              <a:rPr lang="en-GB" dirty="0"/>
            </a:br>
            <a:r>
              <a:rPr lang="en-GB" dirty="0"/>
              <a:t>This gives the operations team live visibility through </a:t>
            </a:r>
            <a:r>
              <a:rPr lang="en-GB" b="1" dirty="0"/>
              <a:t>Grafana dashboards</a:t>
            </a:r>
            <a:r>
              <a:rPr lang="en-GB" dirty="0"/>
              <a:t>.</a:t>
            </a:r>
          </a:p>
          <a:p>
            <a:r>
              <a:rPr lang="en-GB" dirty="0"/>
              <a:t>Finally, the processed telemetry is stored in </a:t>
            </a:r>
            <a:r>
              <a:rPr lang="en-GB" b="1" dirty="0"/>
              <a:t>PostgreSQL</a:t>
            </a:r>
            <a:r>
              <a:rPr lang="en-GB" dirty="0"/>
              <a:t>, where it’s ready for batch analytics and reporting.</a:t>
            </a:r>
          </a:p>
          <a:p>
            <a:endParaRPr lang="en-GB" dirty="0"/>
          </a:p>
          <a:p>
            <a:r>
              <a:rPr lang="en-GB" dirty="0"/>
              <a:t>And at that point — </a:t>
            </a:r>
            <a:r>
              <a:rPr lang="en-GB" b="1" dirty="0"/>
              <a:t>Airflow takes over</a:t>
            </a:r>
            <a:r>
              <a:rPr lang="en-GB" dirty="0"/>
              <a:t>, orchestrating post-race data aggregation and performance summaries.</a:t>
            </a:r>
          </a:p>
          <a:p>
            <a:endParaRPr lang="en-US" dirty="0"/>
          </a:p>
        </p:txBody>
      </p:sp>
      <p:sp>
        <p:nvSpPr>
          <p:cNvPr id="4" name="Slide Number Placeholder 3"/>
          <p:cNvSpPr>
            <a:spLocks noGrp="1"/>
          </p:cNvSpPr>
          <p:nvPr>
            <p:ph type="sldNum" sz="quarter" idx="10"/>
          </p:nvPr>
        </p:nvSpPr>
        <p:spPr/>
        <p:txBody>
          <a:bodyPr/>
          <a:lstStyle/>
          <a:p>
            <a:r>
              <a:rPr lang="en-US" dirty="0">
                <a:solidFill>
                  <a:srgbClr val="6E6F73"/>
                </a:solidFill>
              </a:rPr>
              <a:t>Notes view: </a:t>
            </a:r>
            <a:fld id="{128CEAFE-FA94-43E5-B0FF-D47E1CCDD1B4}" type="slidenum">
              <a:rPr lang="en-US" smtClean="0">
                <a:solidFill>
                  <a:srgbClr val="6E6F73"/>
                </a:solidFill>
              </a:rPr>
              <a:pPr/>
              <a:t>3</a:t>
            </a:fld>
            <a:endParaRPr lang="en-US" dirty="0">
              <a:solidFill>
                <a:srgbClr val="6E6F73"/>
              </a:solidFill>
            </a:endParaRPr>
          </a:p>
        </p:txBody>
      </p:sp>
    </p:spTree>
    <p:extLst>
      <p:ext uri="{BB962C8B-B14F-4D97-AF65-F5344CB8AC3E}">
        <p14:creationId xmlns:p14="http://schemas.microsoft.com/office/powerpoint/2010/main" val="1011032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r>
              <a:rPr lang="en-GB" sz="2400" dirty="0"/>
              <a:t>Once the telemetry data is securely stored, </a:t>
            </a:r>
            <a:r>
              <a:rPr lang="en-GB" sz="2400" b="1" dirty="0"/>
              <a:t>Apache Airflow</a:t>
            </a:r>
            <a:r>
              <a:rPr lang="en-GB" sz="2400" dirty="0"/>
              <a:t> takes over to orchestrate all the post-race analytics.</a:t>
            </a:r>
          </a:p>
          <a:p>
            <a:endParaRPr lang="en-GB" sz="2400" dirty="0"/>
          </a:p>
          <a:p>
            <a:r>
              <a:rPr lang="en-GB" sz="2400" dirty="0"/>
              <a:t>After each simulated race, a </a:t>
            </a:r>
            <a:r>
              <a:rPr lang="en-GB" sz="2400" b="1" dirty="0"/>
              <a:t>DAG</a:t>
            </a:r>
            <a:r>
              <a:rPr lang="en-GB" sz="2400" dirty="0"/>
              <a:t> — or </a:t>
            </a:r>
            <a:r>
              <a:rPr lang="en-GB" sz="2400" i="1" dirty="0"/>
              <a:t>Directed Acyclic Graph</a:t>
            </a:r>
            <a:r>
              <a:rPr lang="en-GB" sz="2400" dirty="0"/>
              <a:t> — is automatically triggered. It begins by </a:t>
            </a:r>
            <a:r>
              <a:rPr lang="en-GB" sz="2400" b="1" dirty="0"/>
              <a:t>ingesting raw telemetry from PostgreSQL</a:t>
            </a:r>
            <a:r>
              <a:rPr lang="en-GB" sz="2400" dirty="0"/>
              <a:t>, then performs </a:t>
            </a:r>
            <a:r>
              <a:rPr lang="en-GB" sz="2400" b="1" dirty="0"/>
              <a:t>data cleaning and transformation</a:t>
            </a:r>
            <a:r>
              <a:rPr lang="en-GB" sz="2400" dirty="0"/>
              <a:t> to make the metrics consistent across cars and teams.</a:t>
            </a:r>
          </a:p>
          <a:p>
            <a:endParaRPr lang="en-GB" sz="2400" dirty="0"/>
          </a:p>
          <a:p>
            <a:r>
              <a:rPr lang="en-GB" sz="2400" dirty="0"/>
              <a:t>Next, Airflow runs the </a:t>
            </a:r>
            <a:r>
              <a:rPr lang="en-GB" sz="2400" b="1" dirty="0"/>
              <a:t>aggregation and reporting</a:t>
            </a:r>
            <a:r>
              <a:rPr lang="en-GB" sz="2400" dirty="0"/>
              <a:t> stages — computing key performance metrics, detecting trends, and generating </a:t>
            </a:r>
            <a:r>
              <a:rPr lang="en-GB" sz="2400" b="1" dirty="0"/>
              <a:t>pit-stop strategy recommendations</a:t>
            </a:r>
            <a:r>
              <a:rPr lang="en-GB" sz="2400" dirty="0"/>
              <a:t>.</a:t>
            </a:r>
          </a:p>
          <a:p>
            <a:endParaRPr lang="en-GB" sz="2400" dirty="0"/>
          </a:p>
          <a:p>
            <a:r>
              <a:rPr lang="en-GB" sz="2400" dirty="0"/>
              <a:t>Finally, all results are </a:t>
            </a:r>
            <a:r>
              <a:rPr lang="en-GB" sz="2400" b="1" dirty="0"/>
              <a:t>written back into PostgreSQL</a:t>
            </a:r>
            <a:r>
              <a:rPr lang="en-GB" sz="2400" dirty="0"/>
              <a:t> and become instantly </a:t>
            </a:r>
            <a:r>
              <a:rPr lang="en-GB" sz="2400" b="1" dirty="0"/>
              <a:t>available in Grafana dashboards</a:t>
            </a:r>
            <a:r>
              <a:rPr lang="en-GB" sz="2400" dirty="0"/>
              <a:t> for visualization.</a:t>
            </a:r>
          </a:p>
          <a:p>
            <a:endParaRPr lang="en-GB" sz="2400" dirty="0"/>
          </a:p>
          <a:p>
            <a:r>
              <a:rPr lang="en-GB" sz="2400" dirty="0"/>
              <a:t>Behind the scenes, Airflow manages everything: </a:t>
            </a:r>
            <a:r>
              <a:rPr lang="en-GB" sz="2400" b="1" dirty="0"/>
              <a:t>task scheduling, retries, and monitoring</a:t>
            </a:r>
            <a:r>
              <a:rPr lang="en-GB" sz="2400" dirty="0"/>
              <a:t> — turning what used to be a manual post-race analysis into a </a:t>
            </a:r>
            <a:r>
              <a:rPr lang="en-GB" sz="2400" b="1" dirty="0"/>
              <a:t>fully automated, reliable, and repeatable process</a:t>
            </a:r>
            <a:r>
              <a:rPr lang="en-GB" sz="2400" dirty="0"/>
              <a:t>.</a:t>
            </a:r>
          </a:p>
        </p:txBody>
      </p:sp>
      <p:sp>
        <p:nvSpPr>
          <p:cNvPr id="4" name="Slide Number Placeholder 3"/>
          <p:cNvSpPr>
            <a:spLocks noGrp="1"/>
          </p:cNvSpPr>
          <p:nvPr>
            <p:ph type="sldNum" sz="quarter" idx="10"/>
          </p:nvPr>
        </p:nvSpPr>
        <p:spPr/>
        <p:txBody>
          <a:bodyPr/>
          <a:lstStyle/>
          <a:p>
            <a:r>
              <a:rPr lang="en-US" dirty="0">
                <a:solidFill>
                  <a:srgbClr val="6E6F73"/>
                </a:solidFill>
              </a:rPr>
              <a:t>Notes view: </a:t>
            </a:r>
            <a:fld id="{128CEAFE-FA94-43E5-B0FF-D47E1CCDD1B4}" type="slidenum">
              <a:rPr lang="en-US" smtClean="0">
                <a:solidFill>
                  <a:srgbClr val="6E6F73"/>
                </a:solidFill>
              </a:rPr>
              <a:pPr/>
              <a:t>4</a:t>
            </a:fld>
            <a:endParaRPr lang="en-US" dirty="0">
              <a:solidFill>
                <a:srgbClr val="6E6F73"/>
              </a:solidFill>
            </a:endParaRPr>
          </a:p>
        </p:txBody>
      </p:sp>
    </p:spTree>
    <p:extLst>
      <p:ext uri="{BB962C8B-B14F-4D97-AF65-F5344CB8AC3E}">
        <p14:creationId xmlns:p14="http://schemas.microsoft.com/office/powerpoint/2010/main" val="1102573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r>
              <a:rPr lang="en-GB" dirty="0"/>
              <a:t>This is the data foundation of the Ferrari F1 platform.</a:t>
            </a:r>
            <a:br>
              <a:rPr lang="en-GB" dirty="0"/>
            </a:br>
            <a:br>
              <a:rPr lang="en-GB" dirty="0"/>
            </a:br>
            <a:r>
              <a:rPr lang="en-GB" dirty="0"/>
              <a:t>Our platform relies on </a:t>
            </a:r>
            <a:r>
              <a:rPr lang="en-GB" b="1" dirty="0"/>
              <a:t>two complementary data flows</a:t>
            </a:r>
            <a:r>
              <a:rPr lang="en-GB" dirty="0"/>
              <a:t> working in parallel:</a:t>
            </a:r>
          </a:p>
          <a:p>
            <a:r>
              <a:rPr lang="en-GB" b="1" dirty="0"/>
              <a:t>Telemetry &amp; Analytics Flow</a:t>
            </a:r>
            <a:r>
              <a:rPr lang="en-GB" dirty="0"/>
              <a:t> – captures race telemetry, processes it through PostgreSQL, and powers strategic insights.</a:t>
            </a:r>
          </a:p>
          <a:p>
            <a:r>
              <a:rPr lang="en-GB" b="1" dirty="0"/>
              <a:t>Observability Flow</a:t>
            </a:r>
            <a:r>
              <a:rPr lang="en-GB" dirty="0"/>
              <a:t> – collects system and service metrics via Prometheus for real-time monitoring and reliability.</a:t>
            </a:r>
          </a:p>
          <a:p>
            <a:endParaRPr lang="en-GB" dirty="0"/>
          </a:p>
          <a:p>
            <a:endParaRPr lang="en-GB" dirty="0"/>
          </a:p>
          <a:p>
            <a:r>
              <a:rPr lang="en-GB" dirty="0"/>
              <a:t>At the logical level, everything starts with </a:t>
            </a:r>
            <a:r>
              <a:rPr lang="en-GB" b="1" dirty="0"/>
              <a:t>Telemetry Data</a:t>
            </a:r>
            <a:r>
              <a:rPr lang="en-GB" dirty="0"/>
              <a:t> — the raw stream of car parameters like speed, temperature, and tire wear. Each telemetry record can generate one or several </a:t>
            </a:r>
            <a:r>
              <a:rPr lang="en-GB" b="1" dirty="0"/>
              <a:t>Anomaly Events</a:t>
            </a:r>
            <a:r>
              <a:rPr lang="en-GB" dirty="0"/>
              <a:t>, whenever a threshold is exceeded — for example, overheating brakes or abnormal fuel consumption.</a:t>
            </a:r>
          </a:p>
          <a:p>
            <a:endParaRPr lang="en-GB" dirty="0"/>
          </a:p>
          <a:p>
            <a:r>
              <a:rPr lang="en-GB" dirty="0"/>
              <a:t>From these, the system produces a single </a:t>
            </a:r>
            <a:r>
              <a:rPr lang="en-GB" b="1" dirty="0"/>
              <a:t>Performance Strategy Insight</a:t>
            </a:r>
            <a:r>
              <a:rPr lang="en-GB" dirty="0"/>
              <a:t>, which combines all active anomalies and metrics to compute the pit-stop score or performance recommendation.</a:t>
            </a:r>
          </a:p>
          <a:p>
            <a:r>
              <a:rPr lang="en-GB" dirty="0"/>
              <a:t>Physically, all this data is stored in </a:t>
            </a:r>
            <a:r>
              <a:rPr lang="en-GB" b="1" dirty="0"/>
              <a:t>PostgreSQL</a:t>
            </a:r>
            <a:r>
              <a:rPr lang="en-GB" dirty="0"/>
              <a:t> tables — including </a:t>
            </a:r>
            <a:r>
              <a:rPr lang="en-GB" dirty="0" err="1"/>
              <a:t>telemetry_data</a:t>
            </a:r>
            <a:r>
              <a:rPr lang="en-GB" dirty="0"/>
              <a:t>, </a:t>
            </a:r>
            <a:r>
              <a:rPr lang="en-GB" dirty="0" err="1"/>
              <a:t>telemetry_statistics</a:t>
            </a:r>
            <a:r>
              <a:rPr lang="en-GB" dirty="0"/>
              <a:t>, and </a:t>
            </a:r>
            <a:r>
              <a:rPr lang="en-GB" dirty="0" err="1"/>
              <a:t>pitstop_recommendations</a:t>
            </a:r>
            <a:r>
              <a:rPr lang="en-GB" dirty="0"/>
              <a:t>.</a:t>
            </a:r>
          </a:p>
          <a:p>
            <a:br>
              <a:rPr lang="en-GB" dirty="0"/>
            </a:br>
            <a:r>
              <a:rPr lang="en-GB" dirty="0"/>
              <a:t>Both the </a:t>
            </a:r>
            <a:r>
              <a:rPr lang="en-GB" b="1" dirty="0"/>
              <a:t>Stream Processor</a:t>
            </a:r>
            <a:r>
              <a:rPr lang="en-GB" dirty="0"/>
              <a:t> and </a:t>
            </a:r>
            <a:r>
              <a:rPr lang="en-GB" b="1" dirty="0"/>
              <a:t>Airflow</a:t>
            </a:r>
            <a:r>
              <a:rPr lang="en-GB" dirty="0"/>
              <a:t> write to these tables: the Stream Processor feeds real-time telemetry, while Airflow aggregates results post-race for analytics and dashboards.”</a:t>
            </a:r>
          </a:p>
          <a:p>
            <a:endParaRPr lang="en-US" dirty="0"/>
          </a:p>
        </p:txBody>
      </p:sp>
      <p:sp>
        <p:nvSpPr>
          <p:cNvPr id="4" name="Slide Number Placeholder 3"/>
          <p:cNvSpPr>
            <a:spLocks noGrp="1"/>
          </p:cNvSpPr>
          <p:nvPr>
            <p:ph type="sldNum" sz="quarter" idx="10"/>
          </p:nvPr>
        </p:nvSpPr>
        <p:spPr/>
        <p:txBody>
          <a:bodyPr/>
          <a:lstStyle/>
          <a:p>
            <a:r>
              <a:rPr lang="en-US" dirty="0">
                <a:solidFill>
                  <a:srgbClr val="6E6F73"/>
                </a:solidFill>
              </a:rPr>
              <a:t>Notes view: </a:t>
            </a:r>
            <a:fld id="{128CEAFE-FA94-43E5-B0FF-D47E1CCDD1B4}" type="slidenum">
              <a:rPr lang="en-US" smtClean="0">
                <a:solidFill>
                  <a:srgbClr val="6E6F73"/>
                </a:solidFill>
              </a:rPr>
              <a:pPr/>
              <a:t>5</a:t>
            </a:fld>
            <a:endParaRPr lang="en-US" dirty="0">
              <a:solidFill>
                <a:srgbClr val="6E6F73"/>
              </a:solidFill>
            </a:endParaRPr>
          </a:p>
        </p:txBody>
      </p:sp>
    </p:spTree>
    <p:extLst>
      <p:ext uri="{BB962C8B-B14F-4D97-AF65-F5344CB8AC3E}">
        <p14:creationId xmlns:p14="http://schemas.microsoft.com/office/powerpoint/2010/main" val="3749012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r>
              <a:rPr lang="en-GB" dirty="0"/>
              <a:t>Now that the analytics pipelines are running, we need a way to make sure everything stays healthy during a race.</a:t>
            </a:r>
            <a:br>
              <a:rPr lang="en-GB" dirty="0"/>
            </a:br>
            <a:r>
              <a:rPr lang="en-GB" dirty="0"/>
              <a:t>That’s where our </a:t>
            </a:r>
            <a:r>
              <a:rPr lang="en-GB" b="1" dirty="0"/>
              <a:t>observability layer</a:t>
            </a:r>
            <a:r>
              <a:rPr lang="en-GB" dirty="0"/>
              <a:t> comes in.</a:t>
            </a:r>
          </a:p>
          <a:p>
            <a:r>
              <a:rPr lang="en-GB" dirty="0"/>
              <a:t>Each container — the simulator, stream processor, and Airflow — exposes performance metrics through a simple /metrics endpoint.</a:t>
            </a:r>
            <a:br>
              <a:rPr lang="en-GB" dirty="0"/>
            </a:br>
            <a:r>
              <a:rPr lang="en-GB" dirty="0"/>
              <a:t>Prometheus continuously scrapes those metrics — things like throughput, latency, or temperature trends — and stores them in its time-series database.</a:t>
            </a:r>
          </a:p>
          <a:p>
            <a:r>
              <a:rPr lang="en-GB" dirty="0"/>
              <a:t>Grafana then visualizes all of this in real time, letting engineers monitor system health, spot bottlenecks, and even trigger alerts if thresholds are crossed.</a:t>
            </a:r>
          </a:p>
          <a:p>
            <a:r>
              <a:rPr lang="en-GB" dirty="0"/>
              <a:t>In short: </a:t>
            </a:r>
            <a:r>
              <a:rPr lang="en-GB" b="1" dirty="0"/>
              <a:t>Prometheus collects, Grafana tells the story</a:t>
            </a:r>
            <a:r>
              <a:rPr lang="en-GB" dirty="0"/>
              <a:t> — ensuring our system performs as fast and reliably as the race cars themselves.”</a:t>
            </a:r>
          </a:p>
          <a:p>
            <a:endParaRPr lang="en-US" dirty="0"/>
          </a:p>
        </p:txBody>
      </p:sp>
      <p:sp>
        <p:nvSpPr>
          <p:cNvPr id="4" name="Slide Number Placeholder 3"/>
          <p:cNvSpPr>
            <a:spLocks noGrp="1"/>
          </p:cNvSpPr>
          <p:nvPr>
            <p:ph type="sldNum" sz="quarter" idx="10"/>
          </p:nvPr>
        </p:nvSpPr>
        <p:spPr/>
        <p:txBody>
          <a:bodyPr/>
          <a:lstStyle/>
          <a:p>
            <a:r>
              <a:rPr lang="en-US" dirty="0">
                <a:solidFill>
                  <a:srgbClr val="6E6F73"/>
                </a:solidFill>
              </a:rPr>
              <a:t>Notes view: </a:t>
            </a:r>
            <a:fld id="{128CEAFE-FA94-43E5-B0FF-D47E1CCDD1B4}" type="slidenum">
              <a:rPr lang="en-US" smtClean="0">
                <a:solidFill>
                  <a:srgbClr val="6E6F73"/>
                </a:solidFill>
              </a:rPr>
              <a:pPr/>
              <a:t>6</a:t>
            </a:fld>
            <a:endParaRPr lang="en-US" dirty="0">
              <a:solidFill>
                <a:srgbClr val="6E6F73"/>
              </a:solidFill>
            </a:endParaRPr>
          </a:p>
        </p:txBody>
      </p:sp>
    </p:spTree>
    <p:extLst>
      <p:ext uri="{BB962C8B-B14F-4D97-AF65-F5344CB8AC3E}">
        <p14:creationId xmlns:p14="http://schemas.microsoft.com/office/powerpoint/2010/main" val="2393961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solidFill>
                  <a:srgbClr val="6E6F73"/>
                </a:solidFill>
              </a:rPr>
              <a:t>Notes view: </a:t>
            </a:r>
            <a:fld id="{128CEAFE-FA94-43E5-B0FF-D47E1CCDD1B4}" type="slidenum">
              <a:rPr lang="en-US" smtClean="0">
                <a:solidFill>
                  <a:srgbClr val="6E6F73"/>
                </a:solidFill>
              </a:rPr>
              <a:pPr/>
              <a:t>7</a:t>
            </a:fld>
            <a:endParaRPr lang="en-US" dirty="0">
              <a:solidFill>
                <a:srgbClr val="6E6F73"/>
              </a:solidFill>
            </a:endParaRPr>
          </a:p>
        </p:txBody>
      </p:sp>
    </p:spTree>
    <p:extLst>
      <p:ext uri="{BB962C8B-B14F-4D97-AF65-F5344CB8AC3E}">
        <p14:creationId xmlns:p14="http://schemas.microsoft.com/office/powerpoint/2010/main" val="2774887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r>
              <a:rPr lang="en-GB" dirty="0"/>
              <a:t>This is the </a:t>
            </a:r>
            <a:r>
              <a:rPr lang="en-GB" b="1" dirty="0"/>
              <a:t>Grafana dashboard</a:t>
            </a:r>
            <a:r>
              <a:rPr lang="en-GB" dirty="0"/>
              <a:t>, where all our telemetry and analytics come to life in real time.</a:t>
            </a:r>
          </a:p>
          <a:p>
            <a:r>
              <a:rPr lang="en-GB" dirty="0"/>
              <a:t>Each panel represents a key performance indicator collected throughout the race.</a:t>
            </a:r>
          </a:p>
          <a:p>
            <a:r>
              <a:rPr lang="en-GB" dirty="0"/>
              <a:t>At the top, we can see </a:t>
            </a:r>
            <a:r>
              <a:rPr lang="en-GB" b="1" dirty="0"/>
              <a:t>efficiency indexes</a:t>
            </a:r>
            <a:r>
              <a:rPr lang="en-GB" dirty="0"/>
              <a:t>, </a:t>
            </a:r>
            <a:r>
              <a:rPr lang="en-GB" b="1" dirty="0"/>
              <a:t>lap times</a:t>
            </a:r>
            <a:r>
              <a:rPr lang="en-GB" dirty="0"/>
              <a:t>, and </a:t>
            </a:r>
            <a:r>
              <a:rPr lang="en-GB" b="1" dirty="0"/>
              <a:t>pit window probabilities</a:t>
            </a:r>
            <a:r>
              <a:rPr lang="en-GB" dirty="0"/>
              <a:t> — metrics that directly help the strategy team make tactical calls during the race.</a:t>
            </a:r>
          </a:p>
          <a:p>
            <a:r>
              <a:rPr lang="en-GB" dirty="0"/>
              <a:t>The graphs below track </a:t>
            </a:r>
            <a:r>
              <a:rPr lang="en-GB" b="1" dirty="0"/>
              <a:t>pit-stop scores</a:t>
            </a:r>
            <a:r>
              <a:rPr lang="en-GB" dirty="0"/>
              <a:t>, </a:t>
            </a:r>
            <a:r>
              <a:rPr lang="en-GB" b="1" dirty="0"/>
              <a:t>stint health</a:t>
            </a:r>
            <a:r>
              <a:rPr lang="en-GB" dirty="0"/>
              <a:t>, and </a:t>
            </a:r>
            <a:r>
              <a:rPr lang="en-GB" b="1" dirty="0"/>
              <a:t>tire wear trends</a:t>
            </a:r>
            <a:r>
              <a:rPr lang="en-GB" dirty="0"/>
              <a:t>, allowing engineers to instantly identify when a car’s performance starts to degrade or when a pit-stop becomes necessary.</a:t>
            </a:r>
          </a:p>
          <a:p>
            <a:r>
              <a:rPr lang="en-GB" dirty="0"/>
              <a:t>All of these metrics are continuously updated by Prometheus and visualized in Grafana, giving teams </a:t>
            </a:r>
            <a:r>
              <a:rPr lang="en-GB" b="1" dirty="0"/>
              <a:t>a live, data-driven overview</a:t>
            </a:r>
            <a:r>
              <a:rPr lang="en-GB" dirty="0"/>
              <a:t> of the race’s evolution.</a:t>
            </a:r>
          </a:p>
          <a:p>
            <a:r>
              <a:rPr lang="en-GB" dirty="0"/>
              <a:t>This is where our entire pipeline — from sensors to analytics — converges into </a:t>
            </a:r>
            <a:r>
              <a:rPr lang="en-GB" b="1" dirty="0"/>
              <a:t>actionable insight</a:t>
            </a:r>
            <a:r>
              <a:rPr lang="en-GB" dirty="0"/>
              <a:t>.</a:t>
            </a:r>
          </a:p>
        </p:txBody>
      </p:sp>
      <p:sp>
        <p:nvSpPr>
          <p:cNvPr id="4" name="Slide Number Placeholder 3"/>
          <p:cNvSpPr>
            <a:spLocks noGrp="1"/>
          </p:cNvSpPr>
          <p:nvPr>
            <p:ph type="sldNum" sz="quarter" idx="10"/>
          </p:nvPr>
        </p:nvSpPr>
        <p:spPr/>
        <p:txBody>
          <a:bodyPr/>
          <a:lstStyle/>
          <a:p>
            <a:r>
              <a:rPr lang="en-US" dirty="0">
                <a:solidFill>
                  <a:srgbClr val="6E6F73"/>
                </a:solidFill>
              </a:rPr>
              <a:t>Notes view: </a:t>
            </a:r>
            <a:fld id="{128CEAFE-FA94-43E5-B0FF-D47E1CCDD1B4}" type="slidenum">
              <a:rPr lang="en-US" smtClean="0">
                <a:solidFill>
                  <a:srgbClr val="6E6F73"/>
                </a:solidFill>
              </a:rPr>
              <a:pPr/>
              <a:t>8</a:t>
            </a:fld>
            <a:endParaRPr lang="en-US" dirty="0">
              <a:solidFill>
                <a:srgbClr val="6E6F73"/>
              </a:solidFill>
            </a:endParaRPr>
          </a:p>
        </p:txBody>
      </p:sp>
    </p:spTree>
    <p:extLst>
      <p:ext uri="{BB962C8B-B14F-4D97-AF65-F5344CB8AC3E}">
        <p14:creationId xmlns:p14="http://schemas.microsoft.com/office/powerpoint/2010/main" val="318888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r>
              <a:rPr lang="en-GB" dirty="0"/>
              <a:t>To make our platform easy to develop and scale, we designed a two-stage deployment strategy.</a:t>
            </a:r>
          </a:p>
          <a:p>
            <a:r>
              <a:rPr lang="en-GB" dirty="0"/>
              <a:t>In </a:t>
            </a:r>
            <a:r>
              <a:rPr lang="en-GB" b="1" dirty="0"/>
              <a:t>development</a:t>
            </a:r>
            <a:r>
              <a:rPr lang="en-GB" dirty="0"/>
              <a:t>, everything runs locally with Docker Compose. It’s a single-node setup that mirrors the full production stack — simulator, stream processor, Airflow, Prometheus, and PostgreSQL</a:t>
            </a:r>
          </a:p>
          <a:p>
            <a:endParaRPr lang="en-GB" dirty="0"/>
          </a:p>
          <a:p>
            <a:r>
              <a:rPr lang="en-GB" dirty="0"/>
              <a:t>In </a:t>
            </a:r>
            <a:r>
              <a:rPr lang="en-GB" b="1" dirty="0"/>
              <a:t>production</a:t>
            </a:r>
            <a:r>
              <a:rPr lang="en-GB" dirty="0"/>
              <a:t>, the stack transitions to </a:t>
            </a:r>
            <a:r>
              <a:rPr lang="en-GB" b="1" dirty="0"/>
              <a:t>Kubernetes</a:t>
            </a:r>
            <a:r>
              <a:rPr lang="en-GB" dirty="0"/>
              <a:t> for orchestration. Each layer — data processing, orchestration, and monitoring — runs in its own namespace. Deployments scale automatically with HPA, while .</a:t>
            </a:r>
            <a:r>
              <a:rPr lang="en-GB" dirty="0" err="1"/>
              <a:t>yaml</a:t>
            </a:r>
            <a:r>
              <a:rPr lang="en-GB" dirty="0"/>
              <a:t> </a:t>
            </a:r>
            <a:r>
              <a:rPr lang="en-GB" dirty="0" err="1"/>
              <a:t>filesmanage</a:t>
            </a:r>
            <a:r>
              <a:rPr lang="en-GB" dirty="0"/>
              <a:t> configuration and credentials securely.</a:t>
            </a:r>
          </a:p>
          <a:p>
            <a:r>
              <a:rPr lang="en-GB" dirty="0"/>
              <a:t>This setup gives us reliability, scalability, and isolation — so our real-time analytics pipeline can handle a race’s data bursts just as well in the cloud as on a laptop.</a:t>
            </a:r>
          </a:p>
        </p:txBody>
      </p:sp>
      <p:sp>
        <p:nvSpPr>
          <p:cNvPr id="4" name="Slide Number Placeholder 3"/>
          <p:cNvSpPr>
            <a:spLocks noGrp="1"/>
          </p:cNvSpPr>
          <p:nvPr>
            <p:ph type="sldNum" sz="quarter" idx="10"/>
          </p:nvPr>
        </p:nvSpPr>
        <p:spPr/>
        <p:txBody>
          <a:bodyPr/>
          <a:lstStyle/>
          <a:p>
            <a:r>
              <a:rPr lang="en-US" dirty="0">
                <a:solidFill>
                  <a:srgbClr val="6E6F73"/>
                </a:solidFill>
              </a:rPr>
              <a:t>Notes view: </a:t>
            </a:r>
            <a:fld id="{128CEAFE-FA94-43E5-B0FF-D47E1CCDD1B4}" type="slidenum">
              <a:rPr lang="en-US" smtClean="0">
                <a:solidFill>
                  <a:srgbClr val="6E6F73"/>
                </a:solidFill>
              </a:rPr>
              <a:pPr/>
              <a:t>9</a:t>
            </a:fld>
            <a:endParaRPr lang="en-US" dirty="0">
              <a:solidFill>
                <a:srgbClr val="6E6F73"/>
              </a:solidFill>
            </a:endParaRPr>
          </a:p>
        </p:txBody>
      </p:sp>
    </p:spTree>
    <p:extLst>
      <p:ext uri="{BB962C8B-B14F-4D97-AF65-F5344CB8AC3E}">
        <p14:creationId xmlns:p14="http://schemas.microsoft.com/office/powerpoint/2010/main" val="42038877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r>
              <a:rPr lang="en-GB" dirty="0"/>
              <a:t>Now that we’ve seen how the system operates, let’s look at how it performs under real race conditions.</a:t>
            </a:r>
          </a:p>
          <a:p>
            <a:r>
              <a:rPr lang="en-GB" dirty="0"/>
              <a:t>On the performance side, the pipeline handles </a:t>
            </a:r>
            <a:r>
              <a:rPr lang="en-GB" b="1" dirty="0"/>
              <a:t>around 300,000 telemetry events per second</a:t>
            </a:r>
            <a:r>
              <a:rPr lang="en-GB" dirty="0"/>
              <a:t> — and still maintains </a:t>
            </a:r>
            <a:r>
              <a:rPr lang="en-GB" b="1" dirty="0"/>
              <a:t>under one millisecond of end-to-end latency</a:t>
            </a:r>
            <a:r>
              <a:rPr lang="en-GB" dirty="0"/>
              <a:t> from the sensors all the way to storage.</a:t>
            </a:r>
          </a:p>
          <a:p>
            <a:r>
              <a:rPr lang="en-GB" dirty="0"/>
              <a:t>We’ve kept availability at </a:t>
            </a:r>
            <a:r>
              <a:rPr lang="en-GB" b="1" dirty="0"/>
              <a:t>99.9% uptime</a:t>
            </a:r>
            <a:r>
              <a:rPr lang="en-GB" dirty="0"/>
              <a:t>, with </a:t>
            </a:r>
            <a:r>
              <a:rPr lang="en-GB" b="1" dirty="0"/>
              <a:t>CPU usage stabilizing around 58%</a:t>
            </a:r>
            <a:r>
              <a:rPr lang="en-GB" dirty="0"/>
              <a:t>, meaning we still have plenty of headroom during peak loads.</a:t>
            </a:r>
          </a:p>
          <a:p>
            <a:r>
              <a:rPr lang="en-GB" dirty="0"/>
              <a:t>In terms of scalability, the platform adapts automatically. The </a:t>
            </a:r>
            <a:r>
              <a:rPr lang="en-GB" b="1" dirty="0"/>
              <a:t>Horizontal Pod </a:t>
            </a:r>
            <a:r>
              <a:rPr lang="en-GB" b="1" dirty="0" err="1"/>
              <a:t>Autoscaler</a:t>
            </a:r>
            <a:r>
              <a:rPr lang="en-GB" dirty="0"/>
              <a:t> in Kubernetes adds new Stream Processor pods when CPU usage goes above 60%, and scales down once the load drops.</a:t>
            </a:r>
          </a:p>
          <a:p>
            <a:r>
              <a:rPr lang="en-GB" dirty="0"/>
              <a:t>On top of that, we can vertically scale each service’s CPU and memory, and rely on </a:t>
            </a:r>
            <a:r>
              <a:rPr lang="en-GB" b="1" dirty="0"/>
              <a:t>Redis</a:t>
            </a:r>
            <a:r>
              <a:rPr lang="en-GB" dirty="0"/>
              <a:t> to smooth data ingestion bursts, while </a:t>
            </a:r>
            <a:r>
              <a:rPr lang="en-GB" b="1" dirty="0"/>
              <a:t>PostgreSQL</a:t>
            </a:r>
            <a:r>
              <a:rPr lang="en-GB" dirty="0"/>
              <a:t> ensures reliable long-term storage.</a:t>
            </a:r>
          </a:p>
          <a:p>
            <a:r>
              <a:rPr lang="en-GB" dirty="0"/>
              <a:t>Overall, the architecture remains stable, efficient, and cost-effective — even when pushed to racing extremes.”</a:t>
            </a:r>
          </a:p>
          <a:p>
            <a:endParaRPr lang="en-US" dirty="0"/>
          </a:p>
        </p:txBody>
      </p:sp>
      <p:sp>
        <p:nvSpPr>
          <p:cNvPr id="4" name="Slide Number Placeholder 3"/>
          <p:cNvSpPr>
            <a:spLocks noGrp="1"/>
          </p:cNvSpPr>
          <p:nvPr>
            <p:ph type="sldNum" sz="quarter" idx="10"/>
          </p:nvPr>
        </p:nvSpPr>
        <p:spPr/>
        <p:txBody>
          <a:bodyPr/>
          <a:lstStyle/>
          <a:p>
            <a:r>
              <a:rPr lang="en-US" dirty="0">
                <a:solidFill>
                  <a:srgbClr val="6E6F73"/>
                </a:solidFill>
              </a:rPr>
              <a:t>Notes view: </a:t>
            </a:r>
            <a:fld id="{128CEAFE-FA94-43E5-B0FF-D47E1CCDD1B4}" type="slidenum">
              <a:rPr lang="en-US" smtClean="0">
                <a:solidFill>
                  <a:srgbClr val="6E6F73"/>
                </a:solidFill>
              </a:rPr>
              <a:pPr/>
              <a:t>10</a:t>
            </a:fld>
            <a:endParaRPr lang="en-US" dirty="0">
              <a:solidFill>
                <a:srgbClr val="6E6F73"/>
              </a:solidFill>
            </a:endParaRPr>
          </a:p>
        </p:txBody>
      </p:sp>
    </p:spTree>
    <p:extLst>
      <p:ext uri="{BB962C8B-B14F-4D97-AF65-F5344CB8AC3E}">
        <p14:creationId xmlns:p14="http://schemas.microsoft.com/office/powerpoint/2010/main" val="446515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r>
              <a:rPr lang="en-GB" dirty="0"/>
              <a:t>Before we wrap up, let’s take a quick look back at what we’ve achieved.</a:t>
            </a:r>
            <a:br>
              <a:rPr lang="en-GB" dirty="0"/>
            </a:br>
            <a:r>
              <a:rPr lang="en-GB" dirty="0"/>
              <a:t>Over the course of this project, we built a fully containerized and automated F1 analytics platform — capable of processing live telemetry, detecting anomalies in real time, and generating actionable performance insights.</a:t>
            </a:r>
          </a:p>
          <a:p>
            <a:r>
              <a:rPr lang="en-GB" dirty="0"/>
              <a:t>We also ensured full observability with Prometheus and Grafana, so every component can be monitored and optimized during a race.</a:t>
            </a:r>
            <a:br>
              <a:rPr lang="en-GB" dirty="0"/>
            </a:br>
            <a:r>
              <a:rPr lang="en-GB" dirty="0"/>
              <a:t>The architecture we designed is scalable, reproducible, and ready for both real-time and post-race analytics.</a:t>
            </a:r>
          </a:p>
          <a:p>
            <a:r>
              <a:rPr lang="en-GB" dirty="0"/>
              <a:t>As for next steps — we plan to integrate predictive models that forecast tire degradation and optimize pit-stop strategy decisions. We’ll also scale the platform to support multiple races and eventually deploy it to the cloud for true production-level performance.</a:t>
            </a:r>
          </a:p>
          <a:p>
            <a:r>
              <a:rPr lang="en-GB" dirty="0"/>
              <a:t>In short, we’ve gone from raw telemetry to race intelligence — in real time.</a:t>
            </a:r>
            <a:br>
              <a:rPr lang="en-GB" dirty="0"/>
            </a:br>
            <a:r>
              <a:rPr lang="en-GB" dirty="0"/>
              <a:t>Thank you — and we’re happy to take your questions.</a:t>
            </a:r>
          </a:p>
          <a:p>
            <a:endParaRPr lang="en-US" dirty="0"/>
          </a:p>
        </p:txBody>
      </p:sp>
      <p:sp>
        <p:nvSpPr>
          <p:cNvPr id="4" name="Slide Number Placeholder 3"/>
          <p:cNvSpPr>
            <a:spLocks noGrp="1"/>
          </p:cNvSpPr>
          <p:nvPr>
            <p:ph type="sldNum" sz="quarter" idx="10"/>
          </p:nvPr>
        </p:nvSpPr>
        <p:spPr/>
        <p:txBody>
          <a:bodyPr/>
          <a:lstStyle/>
          <a:p>
            <a:r>
              <a:rPr lang="en-US" dirty="0">
                <a:solidFill>
                  <a:srgbClr val="6E6F73"/>
                </a:solidFill>
              </a:rPr>
              <a:t>Notes view: </a:t>
            </a:r>
            <a:fld id="{128CEAFE-FA94-43E5-B0FF-D47E1CCDD1B4}" type="slidenum">
              <a:rPr lang="en-US" smtClean="0">
                <a:solidFill>
                  <a:srgbClr val="6E6F73"/>
                </a:solidFill>
              </a:rPr>
              <a:pPr/>
              <a:t>11</a:t>
            </a:fld>
            <a:endParaRPr lang="en-US" dirty="0">
              <a:solidFill>
                <a:srgbClr val="6E6F73"/>
              </a:solidFill>
            </a:endParaRPr>
          </a:p>
        </p:txBody>
      </p:sp>
    </p:spTree>
    <p:extLst>
      <p:ext uri="{BB962C8B-B14F-4D97-AF65-F5344CB8AC3E}">
        <p14:creationId xmlns:p14="http://schemas.microsoft.com/office/powerpoint/2010/main" val="3050374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4.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8.png"/><Relationship Id="rId4" Type="http://schemas.openxmlformats.org/officeDocument/2006/relationships/image" Target="../media/image7.emf"/></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0.jp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2.xml"/><Relationship Id="rId7" Type="http://schemas.openxmlformats.org/officeDocument/2006/relationships/image" Target="../media/image2.emf"/><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image" Target="../media/image10.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5.png"/><Relationship Id="rId4" Type="http://schemas.openxmlformats.org/officeDocument/2006/relationships/image" Target="../media/image7.emf"/></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10.jp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8.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9.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730489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2" name="Picture 1" descr="A race car in a tunnel&#10;&#10;AI-generated content may be incorrect.">
            <a:extLst>
              <a:ext uri="{FF2B5EF4-FFF2-40B4-BE49-F238E27FC236}">
                <a16:creationId xmlns:a16="http://schemas.microsoft.com/office/drawing/2014/main" id="{5BB8E4FA-5040-6B53-B4F8-22FE622A5E74}"/>
              </a:ext>
            </a:extLst>
          </p:cNvPr>
          <p:cNvPicPr>
            <a:picLocks noChangeAspect="1"/>
          </p:cNvPicPr>
          <p:nvPr userDrawn="1"/>
        </p:nvPicPr>
        <p:blipFill>
          <a:blip r:embed="rId6"/>
          <a:srcRect t="31891" r="10348" b="795"/>
          <a:stretch>
            <a:fillRect/>
          </a:stretch>
        </p:blipFill>
        <p:spPr>
          <a:xfrm>
            <a:off x="-1" y="0"/>
            <a:ext cx="12192001" cy="5230917"/>
          </a:xfrm>
          <a:prstGeom prst="rect">
            <a:avLst/>
          </a:prstGeom>
        </p:spPr>
      </p:pic>
      <p:sp>
        <p:nvSpPr>
          <p:cNvPr id="5" name="Rectangle 4">
            <a:extLst>
              <a:ext uri="{FF2B5EF4-FFF2-40B4-BE49-F238E27FC236}">
                <a16:creationId xmlns:a16="http://schemas.microsoft.com/office/drawing/2014/main" id="{AEA89FA2-644C-661B-58BC-70008AE67C68}"/>
              </a:ext>
            </a:extLst>
          </p:cNvPr>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6" name="Picture 5">
            <a:extLst>
              <a:ext uri="{FF2B5EF4-FFF2-40B4-BE49-F238E27FC236}">
                <a16:creationId xmlns:a16="http://schemas.microsoft.com/office/drawing/2014/main" id="{17416635-F903-A530-8624-70C888DCA6BC}"/>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sp>
        <p:nvSpPr>
          <p:cNvPr id="7" name="Picture Placeholder 8">
            <a:extLst>
              <a:ext uri="{FF2B5EF4-FFF2-40B4-BE49-F238E27FC236}">
                <a16:creationId xmlns:a16="http://schemas.microsoft.com/office/drawing/2014/main" id="{28A2942E-B023-1ABA-CB8D-9637B97D3EF2}"/>
              </a:ext>
            </a:extLst>
          </p:cNvPr>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8" name="Rectangle 7">
            <a:extLst>
              <a:ext uri="{FF2B5EF4-FFF2-40B4-BE49-F238E27FC236}">
                <a16:creationId xmlns:a16="http://schemas.microsoft.com/office/drawing/2014/main" id="{16AD5E64-BA34-4FC2-6B0B-A7C11157BAEF}"/>
              </a:ext>
            </a:extLst>
          </p:cNvPr>
          <p:cNvSpPr/>
          <p:nvPr userDrawn="1"/>
        </p:nvSpPr>
        <p:spPr bwMode="black">
          <a:xfrm>
            <a:off x="630936" y="626200"/>
            <a:ext cx="8125200" cy="5529600"/>
          </a:xfrm>
          <a:prstGeom prst="rect">
            <a:avLst/>
          </a:prstGeom>
          <a:gradFill flip="none" rotWithShape="1">
            <a:gsLst>
              <a:gs pos="0">
                <a:srgbClr val="480B22">
                  <a:alpha val="80000"/>
                </a:srgbClr>
              </a:gs>
              <a:gs pos="100000">
                <a:srgbClr val="D0164B">
                  <a:lumMod val="70000"/>
                  <a:alpha val="80000"/>
                </a:srgb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9" name="Text Placeholder 6">
            <a:extLst>
              <a:ext uri="{FF2B5EF4-FFF2-40B4-BE49-F238E27FC236}">
                <a16:creationId xmlns:a16="http://schemas.microsoft.com/office/drawing/2014/main" id="{9F4495A3-5AB7-8513-9371-11B6CD1C4B76}"/>
              </a:ext>
            </a:extLst>
          </p:cNvPr>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10" name="Subtitle 2">
            <a:extLst>
              <a:ext uri="{FF2B5EF4-FFF2-40B4-BE49-F238E27FC236}">
                <a16:creationId xmlns:a16="http://schemas.microsoft.com/office/drawing/2014/main" id="{6B9F98FC-CFBA-A824-6F89-4572C86F1FDC}"/>
              </a:ext>
            </a:extLst>
          </p:cNvPr>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Leveraging innovation to drive measurable race-day impact.</a:t>
            </a:r>
          </a:p>
        </p:txBody>
      </p:sp>
      <p:sp>
        <p:nvSpPr>
          <p:cNvPr id="11" name="Title 1">
            <a:extLst>
              <a:ext uri="{FF2B5EF4-FFF2-40B4-BE49-F238E27FC236}">
                <a16:creationId xmlns:a16="http://schemas.microsoft.com/office/drawing/2014/main" id="{7F2F135D-9AD0-495A-B068-A88F650FC7A2}"/>
              </a:ext>
            </a:extLst>
          </p:cNvPr>
          <p:cNvSpPr>
            <a:spLocks noGrp="1"/>
          </p:cNvSpPr>
          <p:nvPr>
            <p:ph type="ctrTitle" hasCustomPrompt="1"/>
          </p:nvPr>
        </p:nvSpPr>
        <p:spPr bwMode="ltGray">
          <a:xfrm>
            <a:off x="1117415" y="1886242"/>
            <a:ext cx="6868800" cy="3138423"/>
          </a:xfrm>
          <a:prstGeom prst="rect">
            <a:avLst/>
          </a:prstGeom>
        </p:spPr>
        <p:txBody>
          <a:bodyPr vert="horz"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Accelerating Scuderia Ferrari HP towards victory</a:t>
            </a:r>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2" name="TextBox 1">
            <a:extLst>
              <a:ext uri="{FF2B5EF4-FFF2-40B4-BE49-F238E27FC236}">
                <a16:creationId xmlns:a16="http://schemas.microsoft.com/office/drawing/2014/main" id="{2BAA4432-2568-F8E1-284B-893103D75D24}"/>
              </a:ext>
            </a:extLst>
          </p:cNvPr>
          <p:cNvSpPr txBox="1"/>
          <p:nvPr userDrawn="1"/>
        </p:nvSpPr>
        <p:spPr>
          <a:xfrm>
            <a:off x="971550" y="1457325"/>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0700033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rgbClr val="7D0D2D"/>
              </a:gs>
              <a:gs pos="100000">
                <a:srgbClr val="480B2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2018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2018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2018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2018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2018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2018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2018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0"/>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1" imgW="270" imgH="270" progId="TCLayout.ActiveDocument.1">
                  <p:embed/>
                </p:oleObj>
              </mc:Choice>
              <mc:Fallback>
                <p:oleObj name="think-cell Slide" r:id="rId71" imgW="270" imgH="270" progId="TCLayout.ActiveDocument.1">
                  <p:embed/>
                  <p:pic>
                    <p:nvPicPr>
                      <p:cNvPr id="0" name=""/>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185" r:id="rId10"/>
    <p:sldLayoutId id="2147485087" r:id="rId11"/>
    <p:sldLayoutId id="2147485112" r:id="rId12"/>
    <p:sldLayoutId id="2147485155" r:id="rId13"/>
    <p:sldLayoutId id="2147485164" r:id="rId14"/>
    <p:sldLayoutId id="2147485109" r:id="rId15"/>
    <p:sldLayoutId id="2147485165" r:id="rId16"/>
    <p:sldLayoutId id="2147485110" r:id="rId17"/>
    <p:sldLayoutId id="2147485166" r:id="rId18"/>
    <p:sldLayoutId id="2147485156" r:id="rId19"/>
    <p:sldLayoutId id="2147485167" r:id="rId20"/>
    <p:sldLayoutId id="2147485108" r:id="rId21"/>
    <p:sldLayoutId id="2147485107" r:id="rId22"/>
    <p:sldLayoutId id="2147485106" r:id="rId23"/>
    <p:sldLayoutId id="2147485090" r:id="rId24"/>
    <p:sldLayoutId id="2147485091" r:id="rId25"/>
    <p:sldLayoutId id="2147485092" r:id="rId26"/>
    <p:sldLayoutId id="2147485093" r:id="rId27"/>
    <p:sldLayoutId id="2147485116" r:id="rId28"/>
    <p:sldLayoutId id="2147485161" r:id="rId29"/>
    <p:sldLayoutId id="2147485159" r:id="rId30"/>
    <p:sldLayoutId id="2147485119" r:id="rId31"/>
    <p:sldLayoutId id="2147485184" r:id="rId32"/>
    <p:sldLayoutId id="2147485137" r:id="rId33"/>
    <p:sldLayoutId id="2147485120" r:id="rId34"/>
    <p:sldLayoutId id="2147485121" r:id="rId35"/>
    <p:sldLayoutId id="2147485141" r:id="rId36"/>
    <p:sldLayoutId id="2147485163" r:id="rId37"/>
    <p:sldLayoutId id="2147485139" r:id="rId38"/>
    <p:sldLayoutId id="2147485140" r:id="rId39"/>
    <p:sldLayoutId id="2147485122" r:id="rId40"/>
    <p:sldLayoutId id="2147485123" r:id="rId41"/>
    <p:sldLayoutId id="2147485151" r:id="rId42"/>
    <p:sldLayoutId id="2147485168" r:id="rId43"/>
    <p:sldLayoutId id="2147485127" r:id="rId44"/>
    <p:sldLayoutId id="2147485169" r:id="rId45"/>
    <p:sldLayoutId id="2147485126" r:id="rId46"/>
    <p:sldLayoutId id="2147485170" r:id="rId47"/>
    <p:sldLayoutId id="2147485153" r:id="rId48"/>
    <p:sldLayoutId id="2147485171" r:id="rId49"/>
    <p:sldLayoutId id="2147485128" r:id="rId50"/>
    <p:sldLayoutId id="2147485129" r:id="rId51"/>
    <p:sldLayoutId id="2147485130" r:id="rId52"/>
    <p:sldLayoutId id="2147485131" r:id="rId53"/>
    <p:sldLayoutId id="2147485145" r:id="rId54"/>
    <p:sldLayoutId id="2147485133" r:id="rId55"/>
    <p:sldLayoutId id="2147485144" r:id="rId56"/>
    <p:sldLayoutId id="2147485134" r:id="rId57"/>
    <p:sldLayoutId id="2147485146" r:id="rId58"/>
    <p:sldLayoutId id="2147485160" r:id="rId59"/>
    <p:sldLayoutId id="2147485172" r:id="rId60"/>
    <p:sldLayoutId id="2147485173" r:id="rId61"/>
    <p:sldLayoutId id="2147485174" r:id="rId62"/>
    <p:sldLayoutId id="2147485175" r:id="rId63"/>
    <p:sldLayoutId id="2147485176" r:id="rId64"/>
    <p:sldLayoutId id="2147485177" r:id="rId65"/>
    <p:sldLayoutId id="2147485178" r:id="rId66"/>
    <p:sldLayoutId id="2147485179" r:id="rId67"/>
    <p:sldLayoutId id="2147485180" r:id="rId68"/>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slideLayout" Target="../slideLayouts/slideLayout2.xml"/><Relationship Id="rId7" Type="http://schemas.openxmlformats.org/officeDocument/2006/relationships/hyperlink" Target="https://sora.chatgpt.com/g/gen_01k7vmty3dfwpb6bw6zwvejx95" TargetMode="Externa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1.emf"/><Relationship Id="rId11" Type="http://schemas.openxmlformats.org/officeDocument/2006/relationships/image" Target="../media/image14.png"/><Relationship Id="rId5" Type="http://schemas.openxmlformats.org/officeDocument/2006/relationships/oleObject" Target="../embeddings/oleObject16.bin"/><Relationship Id="rId10" Type="http://schemas.openxmlformats.org/officeDocument/2006/relationships/image" Target="../media/image13.png"/><Relationship Id="rId4" Type="http://schemas.openxmlformats.org/officeDocument/2006/relationships/notesSlide" Target="../notesSlides/notesSlide2.xml"/><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microsoft.com/office/2007/relationships/hdphoto" Target="../media/hdphoto1.wdp"/><Relationship Id="rId3" Type="http://schemas.openxmlformats.org/officeDocument/2006/relationships/slideLayout" Target="../slideLayouts/slideLayout2.xml"/><Relationship Id="rId7" Type="http://schemas.openxmlformats.org/officeDocument/2006/relationships/image" Target="../media/image15.png"/><Relationship Id="rId12" Type="http://schemas.openxmlformats.org/officeDocument/2006/relationships/image" Target="../media/image19.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emf"/><Relationship Id="rId11" Type="http://schemas.openxmlformats.org/officeDocument/2006/relationships/hyperlink" Target="https://sora.chatgpt.com/g/gen_01k7vmty3dfwpb6bw6zwvejx95" TargetMode="External"/><Relationship Id="rId5" Type="http://schemas.openxmlformats.org/officeDocument/2006/relationships/oleObject" Target="../embeddings/oleObject17.bin"/><Relationship Id="rId15" Type="http://schemas.openxmlformats.org/officeDocument/2006/relationships/image" Target="../media/image21.png"/><Relationship Id="rId10" Type="http://schemas.openxmlformats.org/officeDocument/2006/relationships/image" Target="../media/image18.png"/><Relationship Id="rId4" Type="http://schemas.openxmlformats.org/officeDocument/2006/relationships/notesSlide" Target="../notesSlides/notesSlide3.xml"/><Relationship Id="rId9" Type="http://schemas.openxmlformats.org/officeDocument/2006/relationships/image" Target="../media/image17.png"/><Relationship Id="rId14"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2.xml"/><Relationship Id="rId7" Type="http://schemas.openxmlformats.org/officeDocument/2006/relationships/image" Target="../media/image15.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emf"/><Relationship Id="rId11" Type="http://schemas.microsoft.com/office/2007/relationships/hdphoto" Target="../media/hdphoto2.wdp"/><Relationship Id="rId5" Type="http://schemas.openxmlformats.org/officeDocument/2006/relationships/oleObject" Target="../embeddings/oleObject18.bin"/><Relationship Id="rId10" Type="http://schemas.openxmlformats.org/officeDocument/2006/relationships/image" Target="../media/image19.png"/><Relationship Id="rId4" Type="http://schemas.openxmlformats.org/officeDocument/2006/relationships/notesSlide" Target="../notesSlides/notesSlide4.xml"/><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slideLayout" Target="../slideLayouts/slideLayout2.xml"/><Relationship Id="rId7" Type="http://schemas.openxmlformats.org/officeDocument/2006/relationships/image" Target="../media/image17.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1.emf"/><Relationship Id="rId5" Type="http://schemas.openxmlformats.org/officeDocument/2006/relationships/oleObject" Target="../embeddings/oleObject19.bin"/><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slideLayout" Target="../slideLayouts/slideLayout2.xml"/><Relationship Id="rId7" Type="http://schemas.openxmlformats.org/officeDocument/2006/relationships/hyperlink" Target="https://sora.chatgpt.com/g/gen_01k7vmty3dfwpb6bw6zwvejx95" TargetMode="Externa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1.emf"/><Relationship Id="rId5" Type="http://schemas.openxmlformats.org/officeDocument/2006/relationships/oleObject" Target="../embeddings/oleObject20.bin"/><Relationship Id="rId10" Type="http://schemas.openxmlformats.org/officeDocument/2006/relationships/image" Target="../media/image24.png"/><Relationship Id="rId4" Type="http://schemas.openxmlformats.org/officeDocument/2006/relationships/notesSlide" Target="../notesSlides/notesSlide6.xml"/><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1.png"/><Relationship Id="rId3" Type="http://schemas.openxmlformats.org/officeDocument/2006/relationships/slideLayout" Target="../slideLayouts/slideLayout2.xml"/><Relationship Id="rId7" Type="http://schemas.openxmlformats.org/officeDocument/2006/relationships/hyperlink" Target="https://sora.chatgpt.com/g/gen_01k7vmty3dfwpb6bw6zwvejx95" TargetMode="External"/><Relationship Id="rId12" Type="http://schemas.openxmlformats.org/officeDocument/2006/relationships/image" Target="../media/image20.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1.emf"/><Relationship Id="rId11" Type="http://schemas.microsoft.com/office/2007/relationships/hdphoto" Target="../media/hdphoto3.wdp"/><Relationship Id="rId5" Type="http://schemas.openxmlformats.org/officeDocument/2006/relationships/oleObject" Target="../embeddings/oleObject21.bin"/><Relationship Id="rId10" Type="http://schemas.openxmlformats.org/officeDocument/2006/relationships/image" Target="../media/image19.png"/><Relationship Id="rId4" Type="http://schemas.openxmlformats.org/officeDocument/2006/relationships/notesSlide" Target="../notesSlides/notesSlide7.xml"/><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hyperlink" Target="https://sora.chatgpt.com/g/gen_01k7vmty3dfwpb6bw6zwvejx95" TargetMode="Externa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1.emf"/><Relationship Id="rId5" Type="http://schemas.openxmlformats.org/officeDocument/2006/relationships/oleObject" Target="../embeddings/oleObject22.bin"/><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slideLayout" Target="../slideLayouts/slideLayout2.xml"/><Relationship Id="rId7" Type="http://schemas.openxmlformats.org/officeDocument/2006/relationships/hyperlink" Target="https://sora.chatgpt.com/g/gen_01k7vmty3dfwpb6bw6zwvejx95" TargetMode="Externa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1.emf"/><Relationship Id="rId5" Type="http://schemas.openxmlformats.org/officeDocument/2006/relationships/oleObject" Target="../embeddings/oleObject23.bin"/><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0.png"/><Relationship Id="rId3" Type="http://schemas.openxmlformats.org/officeDocument/2006/relationships/slideLayout" Target="../slideLayouts/slideLayout2.xml"/><Relationship Id="rId7" Type="http://schemas.openxmlformats.org/officeDocument/2006/relationships/hyperlink" Target="https://sora.chatgpt.com/g/gen_01k7vmty3dfwpb6bw6zwvejx95" TargetMode="External"/><Relationship Id="rId12" Type="http://schemas.microsoft.com/office/2007/relationships/hdphoto" Target="../media/hdphoto3.wdp"/><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1.emf"/><Relationship Id="rId11" Type="http://schemas.openxmlformats.org/officeDocument/2006/relationships/image" Target="../media/image19.png"/><Relationship Id="rId5" Type="http://schemas.openxmlformats.org/officeDocument/2006/relationships/oleObject" Target="../embeddings/oleObject24.bin"/><Relationship Id="rId10" Type="http://schemas.openxmlformats.org/officeDocument/2006/relationships/image" Target="../media/image21.png"/><Relationship Id="rId4" Type="http://schemas.openxmlformats.org/officeDocument/2006/relationships/notesSlide" Target="../notesSlides/notesSlide10.xml"/><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slideLayout" Target="../slideLayouts/slideLayout2.xml"/><Relationship Id="rId7" Type="http://schemas.openxmlformats.org/officeDocument/2006/relationships/hyperlink" Target="https://sora.chatgpt.com/g/gen_01k7vmty3dfwpb6bw6zwvejx95" TargetMode="External"/><Relationship Id="rId12" Type="http://schemas.openxmlformats.org/officeDocument/2006/relationships/image" Target="../media/image30.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1.emf"/><Relationship Id="rId11" Type="http://schemas.openxmlformats.org/officeDocument/2006/relationships/image" Target="../media/image29.png"/><Relationship Id="rId5" Type="http://schemas.openxmlformats.org/officeDocument/2006/relationships/oleObject" Target="../embeddings/oleObject25.bin"/><Relationship Id="rId10" Type="http://schemas.openxmlformats.org/officeDocument/2006/relationships/image" Target="../media/image28.png"/><Relationship Id="rId4" Type="http://schemas.openxmlformats.org/officeDocument/2006/relationships/notesSlide" Target="../notesSlides/notesSlide11.xml"/><Relationship Id="rId9"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slideLayout" Target="../slideLayouts/slideLayout2.xml"/><Relationship Id="rId7" Type="http://schemas.openxmlformats.org/officeDocument/2006/relationships/hyperlink" Target="https://sora.chatgpt.com/g/gen_01k7vmty3dfwpb6bw6zwvejx95" TargetMode="Externa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1.emf"/><Relationship Id="rId11" Type="http://schemas.openxmlformats.org/officeDocument/2006/relationships/image" Target="../media/image34.png"/><Relationship Id="rId5" Type="http://schemas.openxmlformats.org/officeDocument/2006/relationships/oleObject" Target="../embeddings/oleObject26.bin"/><Relationship Id="rId10" Type="http://schemas.openxmlformats.org/officeDocument/2006/relationships/image" Target="../media/image33.png"/><Relationship Id="rId4" Type="http://schemas.openxmlformats.org/officeDocument/2006/relationships/notesSlide" Target="../notesSlides/notesSlide12.xml"/><Relationship Id="rId9"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4294967295"/>
          </p:nvPr>
        </p:nvSpPr>
        <p:spPr>
          <a:xfrm>
            <a:off x="1117415" y="6207842"/>
            <a:ext cx="6868800" cy="327148"/>
          </a:xfrm>
        </p:spPr>
        <p:txBody>
          <a:bodyPr/>
          <a:lstStyle/>
          <a:p>
            <a:r>
              <a:rPr lang="en-US" dirty="0"/>
              <a:t>Enzo BERREUR, Leo WEISS, Elea NIZAM</a:t>
            </a:r>
          </a:p>
        </p:txBody>
      </p:sp>
      <p:sp>
        <p:nvSpPr>
          <p:cNvPr id="2" name="Title 1"/>
          <p:cNvSpPr>
            <a:spLocks noGrp="1"/>
          </p:cNvSpPr>
          <p:nvPr>
            <p:ph type="ctrTitle"/>
          </p:nvPr>
        </p:nvSpPr>
        <p:spPr>
          <a:xfrm>
            <a:off x="987426" y="1886242"/>
            <a:ext cx="7484634" cy="3138423"/>
          </a:xfrm>
        </p:spPr>
        <p:txBody>
          <a:bodyPr>
            <a:normAutofit/>
          </a:bodyPr>
          <a:lstStyle/>
          <a:p>
            <a:br>
              <a:rPr lang="en-US" dirty="0"/>
            </a:br>
            <a:r>
              <a:rPr lang="en-GB" dirty="0"/>
              <a:t>F1 Race Strategy Platform </a:t>
            </a:r>
            <a:endParaRPr lang="en-US" dirty="0"/>
          </a:p>
        </p:txBody>
      </p:sp>
      <p:sp>
        <p:nvSpPr>
          <p:cNvPr id="4" name="TextBox 3">
            <a:extLst>
              <a:ext uri="{FF2B5EF4-FFF2-40B4-BE49-F238E27FC236}">
                <a16:creationId xmlns:a16="http://schemas.microsoft.com/office/drawing/2014/main" id="{35989E96-B2F4-4D89-EDD5-BAF349031039}"/>
              </a:ext>
            </a:extLst>
          </p:cNvPr>
          <p:cNvSpPr txBox="1"/>
          <p:nvPr/>
        </p:nvSpPr>
        <p:spPr>
          <a:xfrm>
            <a:off x="2820692" y="991892"/>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6" name="TextBox 5">
            <a:extLst>
              <a:ext uri="{FF2B5EF4-FFF2-40B4-BE49-F238E27FC236}">
                <a16:creationId xmlns:a16="http://schemas.microsoft.com/office/drawing/2014/main" id="{98157101-CA62-ED1F-C8AE-A66014B21EAB}"/>
              </a:ext>
            </a:extLst>
          </p:cNvPr>
          <p:cNvSpPr txBox="1"/>
          <p:nvPr/>
        </p:nvSpPr>
        <p:spPr>
          <a:xfrm>
            <a:off x="1441342" y="573437"/>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7" name="TextBox 6">
            <a:extLst>
              <a:ext uri="{FF2B5EF4-FFF2-40B4-BE49-F238E27FC236}">
                <a16:creationId xmlns:a16="http://schemas.microsoft.com/office/drawing/2014/main" id="{F902BE47-D945-F72D-9D6F-0CCD77F96CD0}"/>
              </a:ext>
            </a:extLst>
          </p:cNvPr>
          <p:cNvSpPr txBox="1"/>
          <p:nvPr/>
        </p:nvSpPr>
        <p:spPr>
          <a:xfrm>
            <a:off x="898902" y="6075336"/>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9" name="TextBox 8">
            <a:extLst>
              <a:ext uri="{FF2B5EF4-FFF2-40B4-BE49-F238E27FC236}">
                <a16:creationId xmlns:a16="http://schemas.microsoft.com/office/drawing/2014/main" id="{66921B33-0155-4230-4F78-D8C2A1449506}"/>
              </a:ext>
            </a:extLst>
          </p:cNvPr>
          <p:cNvSpPr txBox="1"/>
          <p:nvPr/>
        </p:nvSpPr>
        <p:spPr>
          <a:xfrm>
            <a:off x="6761747" y="5526505"/>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10" name="TextBox 9">
            <a:extLst>
              <a:ext uri="{FF2B5EF4-FFF2-40B4-BE49-F238E27FC236}">
                <a16:creationId xmlns:a16="http://schemas.microsoft.com/office/drawing/2014/main" id="{A4851BA8-900A-3E0E-B052-5AD602AF5D99}"/>
              </a:ext>
            </a:extLst>
          </p:cNvPr>
          <p:cNvSpPr txBox="1"/>
          <p:nvPr/>
        </p:nvSpPr>
        <p:spPr>
          <a:xfrm>
            <a:off x="8229600" y="4211053"/>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11" name="TextBox 10">
            <a:extLst>
              <a:ext uri="{FF2B5EF4-FFF2-40B4-BE49-F238E27FC236}">
                <a16:creationId xmlns:a16="http://schemas.microsoft.com/office/drawing/2014/main" id="{56E412E5-2668-2722-1627-325931517EEE}"/>
              </a:ext>
            </a:extLst>
          </p:cNvPr>
          <p:cNvSpPr txBox="1"/>
          <p:nvPr/>
        </p:nvSpPr>
        <p:spPr>
          <a:xfrm>
            <a:off x="7740316" y="2935705"/>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3" name="Subtitle 3">
            <a:extLst>
              <a:ext uri="{FF2B5EF4-FFF2-40B4-BE49-F238E27FC236}">
                <a16:creationId xmlns:a16="http://schemas.microsoft.com/office/drawing/2014/main" id="{B6A511BC-5E09-85B3-7541-754722C0C417}"/>
              </a:ext>
            </a:extLst>
          </p:cNvPr>
          <p:cNvSpPr>
            <a:spLocks noGrp="1"/>
          </p:cNvSpPr>
          <p:nvPr>
            <p:ph type="subTitle" idx="1"/>
          </p:nvPr>
        </p:nvSpPr>
        <p:spPr>
          <a:xfrm>
            <a:off x="1117414" y="5495706"/>
            <a:ext cx="7354645" cy="436195"/>
          </a:xfrm>
        </p:spPr>
        <p:txBody>
          <a:bodyPr/>
          <a:lstStyle/>
          <a:p>
            <a:r>
              <a:rPr lang="en-GB" dirty="0"/>
              <a:t>From telemetry to race strategy, data-driven automation for F1 performance</a:t>
            </a:r>
          </a:p>
        </p:txBody>
      </p:sp>
    </p:spTree>
    <p:extLst>
      <p:ext uri="{BB962C8B-B14F-4D97-AF65-F5344CB8AC3E}">
        <p14:creationId xmlns:p14="http://schemas.microsoft.com/office/powerpoint/2010/main" val="3783145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10" name="Object 9"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hidden="1"/>
          <p:cNvSpPr/>
          <p:nvPr>
            <p:custDataLst>
              <p:tags r:id="rId2"/>
            </p:custDataLst>
          </p:nvPr>
        </p:nvSpPr>
        <p:spPr bwMode="gray">
          <a:xfrm>
            <a:off x="0" y="0"/>
            <a:ext cx="158750" cy="158750"/>
          </a:xfrm>
          <a:prstGeom prst="rect">
            <a:avLst/>
          </a:prstGeom>
          <a:solidFill>
            <a:scrgbClr r="0" g="0" b="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spcCol="0" rtlCol="0" anchor="ctr" anchorCtr="0">
            <a:noAutofit/>
          </a:bodyPr>
          <a:lstStyle/>
          <a:p>
            <a:pPr algn="ctr">
              <a:spcBef>
                <a:spcPct val="0"/>
              </a:spcBef>
              <a:spcAft>
                <a:spcPct val="0"/>
              </a:spcAft>
              <a:buClr>
                <a:srgbClr val="86163D"/>
              </a:buClr>
              <a:buSzPct val="120000"/>
            </a:pPr>
            <a:endParaRPr lang="en-US" sz="1600" dirty="0">
              <a:solidFill>
                <a:srgbClr val="6E6F73"/>
              </a:solidFill>
              <a:latin typeface="Trebuchet MS" panose="020B0603020202020204" pitchFamily="34" charset="0"/>
              <a:sym typeface="Trebuchet MS" panose="020B0603020202020204" pitchFamily="34" charset="0"/>
            </a:endParaRPr>
          </a:p>
        </p:txBody>
      </p:sp>
      <p:sp>
        <p:nvSpPr>
          <p:cNvPr id="3" name="Title 2"/>
          <p:cNvSpPr>
            <a:spLocks noGrp="1"/>
          </p:cNvSpPr>
          <p:nvPr>
            <p:ph type="title"/>
          </p:nvPr>
        </p:nvSpPr>
        <p:spPr>
          <a:xfrm>
            <a:off x="4828768" y="542441"/>
            <a:ext cx="6734581" cy="470898"/>
          </a:xfrm>
          <a:noFill/>
        </p:spPr>
        <p:txBody>
          <a:bodyPr wrap="square">
            <a:spAutoFit/>
          </a:bodyPr>
          <a:lstStyle/>
          <a:p>
            <a:r>
              <a:rPr lang="en-GB" dirty="0">
                <a:solidFill>
                  <a:srgbClr val="B71C1C"/>
                </a:solidFill>
              </a:rPr>
              <a:t>F1 Smart race strategy platform</a:t>
            </a:r>
            <a:endParaRPr lang="en-US" dirty="0">
              <a:solidFill>
                <a:srgbClr val="B71C1C"/>
              </a:solidFill>
            </a:endParaRPr>
          </a:p>
        </p:txBody>
      </p:sp>
      <p:sp>
        <p:nvSpPr>
          <p:cNvPr id="51" name="TextBox 50">
            <a:extLst>
              <a:ext uri="{FF2B5EF4-FFF2-40B4-BE49-F238E27FC236}">
                <a16:creationId xmlns:a16="http://schemas.microsoft.com/office/drawing/2014/main" id="{9D57C27F-0886-C29E-DCAB-2D22FD23D5A2}"/>
              </a:ext>
            </a:extLst>
          </p:cNvPr>
          <p:cNvSpPr txBox="1"/>
          <p:nvPr/>
        </p:nvSpPr>
        <p:spPr>
          <a:xfrm>
            <a:off x="10464839" y="9870667"/>
            <a:ext cx="81774" cy="45719"/>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300" dirty="0">
                <a:solidFill>
                  <a:srgbClr val="2C2C2C"/>
                </a:solidFill>
              </a:rPr>
              <a:t>Storage Layer</a:t>
            </a:r>
          </a:p>
        </p:txBody>
      </p:sp>
      <p:sp>
        <p:nvSpPr>
          <p:cNvPr id="54" name="Rectangle 8">
            <a:extLst>
              <a:ext uri="{FF2B5EF4-FFF2-40B4-BE49-F238E27FC236}">
                <a16:creationId xmlns:a16="http://schemas.microsoft.com/office/drawing/2014/main" id="{E2008EEF-022D-C171-BB60-3E2BBC779ED8}"/>
              </a:ext>
            </a:extLst>
          </p:cNvPr>
          <p:cNvSpPr>
            <a:spLocks noChangeArrowheads="1"/>
          </p:cNvSpPr>
          <p:nvPr/>
        </p:nvSpPr>
        <p:spPr bwMode="auto">
          <a:xfrm>
            <a:off x="1595438" y="-7954406"/>
            <a:ext cx="812459" cy="53860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FFFFFF"/>
                </a:solidFill>
                <a:effectLst/>
                <a:latin typeface="ui-sans-serif"/>
                <a:hlinkClick r:id="rId7"/>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54">
            <a:extLst>
              <a:ext uri="{FF2B5EF4-FFF2-40B4-BE49-F238E27FC236}">
                <a16:creationId xmlns:a16="http://schemas.microsoft.com/office/drawing/2014/main" id="{7364E2FE-D374-BAA4-67BB-49533DD0EAE8}"/>
              </a:ext>
            </a:extLst>
          </p:cNvPr>
          <p:cNvSpPr/>
          <p:nvPr/>
        </p:nvSpPr>
        <p:spPr>
          <a:xfrm>
            <a:off x="11928764" y="3628028"/>
            <a:ext cx="263236" cy="3229972"/>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077" name="TextBox 2076">
            <a:extLst>
              <a:ext uri="{FF2B5EF4-FFF2-40B4-BE49-F238E27FC236}">
                <a16:creationId xmlns:a16="http://schemas.microsoft.com/office/drawing/2014/main" id="{FE017684-8C68-A16A-8CE0-C84D37D697B5}"/>
              </a:ext>
            </a:extLst>
          </p:cNvPr>
          <p:cNvSpPr txBox="1"/>
          <p:nvPr/>
        </p:nvSpPr>
        <p:spPr>
          <a:xfrm>
            <a:off x="3526971" y="365760"/>
            <a:ext cx="0" cy="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pic>
        <p:nvPicPr>
          <p:cNvPr id="1026" name="Picture 2" descr="Story Pin image">
            <a:extLst>
              <a:ext uri="{FF2B5EF4-FFF2-40B4-BE49-F238E27FC236}">
                <a16:creationId xmlns:a16="http://schemas.microsoft.com/office/drawing/2014/main" id="{672A1312-79F2-052B-74C7-7000EF9F8C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433705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2F1D3848-FFE4-F6DA-CC64-7D5FD0DFDA8A}"/>
              </a:ext>
            </a:extLst>
          </p:cNvPr>
          <p:cNvSpPr/>
          <p:nvPr/>
        </p:nvSpPr>
        <p:spPr bwMode="black">
          <a:xfrm rot="16200000">
            <a:off x="-1252222" y="1253148"/>
            <a:ext cx="6858000" cy="4353556"/>
          </a:xfrm>
          <a:prstGeom prst="rect">
            <a:avLst/>
          </a:prstGeom>
          <a:gradFill flip="none" rotWithShape="1">
            <a:gsLst>
              <a:gs pos="0">
                <a:srgbClr val="480B22">
                  <a:alpha val="80000"/>
                </a:srgbClr>
              </a:gs>
              <a:gs pos="100000">
                <a:srgbClr val="D0164B">
                  <a:lumMod val="70000"/>
                  <a:alpha val="80000"/>
                </a:srgb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4" name="Rectangle 3">
            <a:extLst>
              <a:ext uri="{FF2B5EF4-FFF2-40B4-BE49-F238E27FC236}">
                <a16:creationId xmlns:a16="http://schemas.microsoft.com/office/drawing/2014/main" id="{FF89FFB6-71CA-851A-8CA5-90C082E3BF00}"/>
              </a:ext>
            </a:extLst>
          </p:cNvPr>
          <p:cNvSpPr/>
          <p:nvPr/>
        </p:nvSpPr>
        <p:spPr>
          <a:xfrm>
            <a:off x="11928764" y="3425260"/>
            <a:ext cx="263236" cy="3229972"/>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6" name="TextBox 5">
            <a:extLst>
              <a:ext uri="{FF2B5EF4-FFF2-40B4-BE49-F238E27FC236}">
                <a16:creationId xmlns:a16="http://schemas.microsoft.com/office/drawing/2014/main" id="{7D52A98C-450B-3867-6759-338897542DED}"/>
              </a:ext>
            </a:extLst>
          </p:cNvPr>
          <p:cNvSpPr txBox="1"/>
          <p:nvPr/>
        </p:nvSpPr>
        <p:spPr>
          <a:xfrm>
            <a:off x="4828768" y="1211344"/>
            <a:ext cx="6734580" cy="369332"/>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dirty="0">
                <a:solidFill>
                  <a:sysClr val="windowText" lastClr="000000"/>
                </a:solidFill>
              </a:rPr>
              <a:t>From data overload to decision clarity — in real time</a:t>
            </a:r>
          </a:p>
        </p:txBody>
      </p:sp>
      <p:pic>
        <p:nvPicPr>
          <p:cNvPr id="9" name="Picture 8">
            <a:extLst>
              <a:ext uri="{FF2B5EF4-FFF2-40B4-BE49-F238E27FC236}">
                <a16:creationId xmlns:a16="http://schemas.microsoft.com/office/drawing/2014/main" id="{0F64A84D-9DD0-8A6A-FDDD-B881105CAA35}"/>
              </a:ext>
            </a:extLst>
          </p:cNvPr>
          <p:cNvPicPr>
            <a:picLocks noChangeAspect="1"/>
          </p:cNvPicPr>
          <p:nvPr/>
        </p:nvPicPr>
        <p:blipFill>
          <a:blip r:embed="rId9"/>
          <a:stretch>
            <a:fillRect/>
          </a:stretch>
        </p:blipFill>
        <p:spPr>
          <a:xfrm>
            <a:off x="5745148" y="2756704"/>
            <a:ext cx="707261" cy="707261"/>
          </a:xfrm>
          <a:prstGeom prst="rect">
            <a:avLst/>
          </a:prstGeom>
        </p:spPr>
      </p:pic>
      <p:pic>
        <p:nvPicPr>
          <p:cNvPr id="14" name="Picture 13">
            <a:extLst>
              <a:ext uri="{FF2B5EF4-FFF2-40B4-BE49-F238E27FC236}">
                <a16:creationId xmlns:a16="http://schemas.microsoft.com/office/drawing/2014/main" id="{0811A768-9D83-3694-5559-0A7E0D6C4DC0}"/>
              </a:ext>
            </a:extLst>
          </p:cNvPr>
          <p:cNvPicPr>
            <a:picLocks noChangeAspect="1"/>
          </p:cNvPicPr>
          <p:nvPr/>
        </p:nvPicPr>
        <p:blipFill>
          <a:blip r:embed="rId10"/>
          <a:stretch>
            <a:fillRect/>
          </a:stretch>
        </p:blipFill>
        <p:spPr>
          <a:xfrm>
            <a:off x="7891958" y="2756704"/>
            <a:ext cx="707261" cy="707261"/>
          </a:xfrm>
          <a:prstGeom prst="rect">
            <a:avLst/>
          </a:prstGeom>
        </p:spPr>
      </p:pic>
      <p:pic>
        <p:nvPicPr>
          <p:cNvPr id="18" name="Picture 17">
            <a:extLst>
              <a:ext uri="{FF2B5EF4-FFF2-40B4-BE49-F238E27FC236}">
                <a16:creationId xmlns:a16="http://schemas.microsoft.com/office/drawing/2014/main" id="{1A888B1E-1241-ECF2-BF0B-FB9FE9B04372}"/>
              </a:ext>
            </a:extLst>
          </p:cNvPr>
          <p:cNvPicPr>
            <a:picLocks noChangeAspect="1"/>
          </p:cNvPicPr>
          <p:nvPr/>
        </p:nvPicPr>
        <p:blipFill rotWithShape="1">
          <a:blip r:embed="rId11"/>
          <a:srcRect t="7680" b="4873"/>
          <a:stretch/>
        </p:blipFill>
        <p:spPr>
          <a:xfrm>
            <a:off x="10038767" y="2796305"/>
            <a:ext cx="806877" cy="705600"/>
          </a:xfrm>
          <a:prstGeom prst="rect">
            <a:avLst/>
          </a:prstGeom>
        </p:spPr>
      </p:pic>
      <p:sp>
        <p:nvSpPr>
          <p:cNvPr id="19" name="ee4pHeader1">
            <a:extLst>
              <a:ext uri="{FF2B5EF4-FFF2-40B4-BE49-F238E27FC236}">
                <a16:creationId xmlns:a16="http://schemas.microsoft.com/office/drawing/2014/main" id="{3189D9A1-952B-8894-2B85-9B0B359C19FD}"/>
              </a:ext>
            </a:extLst>
          </p:cNvPr>
          <p:cNvSpPr txBox="1"/>
          <p:nvPr/>
        </p:nvSpPr>
        <p:spPr>
          <a:xfrm>
            <a:off x="5105975" y="3766009"/>
            <a:ext cx="1929384" cy="492443"/>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Real-Time </a:t>
            </a:r>
          </a:p>
          <a:p>
            <a:pPr algn="ctr">
              <a:buSzPct val="100000"/>
              <a:buFont typeface="Trebuchet MS" panose="020B0603020202020204" pitchFamily="34" charset="0"/>
              <a:buChar char="​"/>
            </a:pPr>
            <a:r>
              <a:rPr lang="en-GB" sz="1600" dirty="0">
                <a:solidFill>
                  <a:srgbClr val="B71C1C"/>
                </a:solidFill>
                <a:latin typeface="Trebuchet MS" panose="020B0603020202020204" pitchFamily="34" charset="0"/>
              </a:rPr>
              <a:t>Insight</a:t>
            </a:r>
            <a:endParaRPr lang="en-US" sz="1600" dirty="0">
              <a:solidFill>
                <a:srgbClr val="B71C1C"/>
              </a:solidFill>
              <a:latin typeface="Trebuchet MS" panose="020B0603020202020204" pitchFamily="34" charset="0"/>
            </a:endParaRPr>
          </a:p>
        </p:txBody>
      </p:sp>
      <p:sp>
        <p:nvSpPr>
          <p:cNvPr id="20" name="ee4pHeader1">
            <a:extLst>
              <a:ext uri="{FF2B5EF4-FFF2-40B4-BE49-F238E27FC236}">
                <a16:creationId xmlns:a16="http://schemas.microsoft.com/office/drawing/2014/main" id="{88CEFF0A-83A5-4B8E-5E65-A35BC2B057E9}"/>
              </a:ext>
            </a:extLst>
          </p:cNvPr>
          <p:cNvSpPr txBox="1"/>
          <p:nvPr/>
        </p:nvSpPr>
        <p:spPr>
          <a:xfrm>
            <a:off x="7284030" y="3777715"/>
            <a:ext cx="1929384" cy="246221"/>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Automation</a:t>
            </a:r>
            <a:endParaRPr lang="en-US" sz="1600" dirty="0">
              <a:solidFill>
                <a:srgbClr val="B71C1C"/>
              </a:solidFill>
              <a:latin typeface="Trebuchet MS" panose="020B0603020202020204" pitchFamily="34" charset="0"/>
            </a:endParaRPr>
          </a:p>
        </p:txBody>
      </p:sp>
      <p:sp>
        <p:nvSpPr>
          <p:cNvPr id="21" name="ee4pHeader1">
            <a:extLst>
              <a:ext uri="{FF2B5EF4-FFF2-40B4-BE49-F238E27FC236}">
                <a16:creationId xmlns:a16="http://schemas.microsoft.com/office/drawing/2014/main" id="{962CE34C-8527-61F8-CA18-47F003AB02B1}"/>
              </a:ext>
            </a:extLst>
          </p:cNvPr>
          <p:cNvSpPr txBox="1"/>
          <p:nvPr/>
        </p:nvSpPr>
        <p:spPr>
          <a:xfrm>
            <a:off x="9462085" y="3777715"/>
            <a:ext cx="1929384" cy="246221"/>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Observability</a:t>
            </a:r>
            <a:endParaRPr lang="en-US" sz="1600" dirty="0">
              <a:solidFill>
                <a:srgbClr val="B71C1C"/>
              </a:solidFill>
              <a:latin typeface="Trebuchet MS" panose="020B0603020202020204" pitchFamily="34" charset="0"/>
            </a:endParaRPr>
          </a:p>
        </p:txBody>
      </p:sp>
      <p:sp>
        <p:nvSpPr>
          <p:cNvPr id="23" name="TextBox 22">
            <a:extLst>
              <a:ext uri="{FF2B5EF4-FFF2-40B4-BE49-F238E27FC236}">
                <a16:creationId xmlns:a16="http://schemas.microsoft.com/office/drawing/2014/main" id="{B2F81939-5234-33A4-B9F9-016E4AB8D8FB}"/>
              </a:ext>
            </a:extLst>
          </p:cNvPr>
          <p:cNvSpPr txBox="1"/>
          <p:nvPr/>
        </p:nvSpPr>
        <p:spPr>
          <a:xfrm>
            <a:off x="5228826" y="4538749"/>
            <a:ext cx="1698795" cy="69249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300" dirty="0">
                <a:solidFill>
                  <a:srgbClr val="2C2C2C"/>
                </a:solidFill>
              </a:rPr>
              <a:t>Live anomaly detection &amp; pit-stop scoring</a:t>
            </a:r>
          </a:p>
        </p:txBody>
      </p:sp>
      <p:sp>
        <p:nvSpPr>
          <p:cNvPr id="24" name="TextBox 23">
            <a:extLst>
              <a:ext uri="{FF2B5EF4-FFF2-40B4-BE49-F238E27FC236}">
                <a16:creationId xmlns:a16="http://schemas.microsoft.com/office/drawing/2014/main" id="{73DD4A47-12FB-9A32-B3DF-93D3EFEB9AAC}"/>
              </a:ext>
            </a:extLst>
          </p:cNvPr>
          <p:cNvSpPr txBox="1"/>
          <p:nvPr/>
        </p:nvSpPr>
        <p:spPr>
          <a:xfrm>
            <a:off x="7406881" y="4521518"/>
            <a:ext cx="1698795" cy="49244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300" dirty="0">
                <a:solidFill>
                  <a:srgbClr val="2C2C2C"/>
                </a:solidFill>
              </a:rPr>
              <a:t>Airflow DAGs handle analytics workflows</a:t>
            </a:r>
          </a:p>
        </p:txBody>
      </p:sp>
      <p:sp>
        <p:nvSpPr>
          <p:cNvPr id="25" name="TextBox 24">
            <a:extLst>
              <a:ext uri="{FF2B5EF4-FFF2-40B4-BE49-F238E27FC236}">
                <a16:creationId xmlns:a16="http://schemas.microsoft.com/office/drawing/2014/main" id="{27BE1DEC-CADE-5ACA-D5B1-F194553ABF9B}"/>
              </a:ext>
            </a:extLst>
          </p:cNvPr>
          <p:cNvSpPr txBox="1"/>
          <p:nvPr/>
        </p:nvSpPr>
        <p:spPr>
          <a:xfrm>
            <a:off x="9580888" y="4499148"/>
            <a:ext cx="1698795" cy="69249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300" dirty="0">
                <a:solidFill>
                  <a:srgbClr val="2C2C2C"/>
                </a:solidFill>
              </a:rPr>
              <a:t>Prometheus &amp; Grafana monitor every system metric</a:t>
            </a:r>
          </a:p>
        </p:txBody>
      </p:sp>
      <p:sp>
        <p:nvSpPr>
          <p:cNvPr id="27" name="TextBox 26">
            <a:extLst>
              <a:ext uri="{FF2B5EF4-FFF2-40B4-BE49-F238E27FC236}">
                <a16:creationId xmlns:a16="http://schemas.microsoft.com/office/drawing/2014/main" id="{95D9208A-BD9D-4EAF-D6C6-F31EF2E260A5}"/>
              </a:ext>
            </a:extLst>
          </p:cNvPr>
          <p:cNvSpPr txBox="1"/>
          <p:nvPr/>
        </p:nvSpPr>
        <p:spPr>
          <a:xfrm>
            <a:off x="7426036" y="1844960"/>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Tree>
    <p:extLst>
      <p:ext uri="{BB962C8B-B14F-4D97-AF65-F5344CB8AC3E}">
        <p14:creationId xmlns:p14="http://schemas.microsoft.com/office/powerpoint/2010/main" val="27680049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 name="Rounded Rectangle 47">
            <a:extLst>
              <a:ext uri="{FF2B5EF4-FFF2-40B4-BE49-F238E27FC236}">
                <a16:creationId xmlns:a16="http://schemas.microsoft.com/office/drawing/2014/main" id="{7241701D-D655-9BC9-4B7E-2D8F70B2B720}"/>
              </a:ext>
            </a:extLst>
          </p:cNvPr>
          <p:cNvSpPr/>
          <p:nvPr/>
        </p:nvSpPr>
        <p:spPr>
          <a:xfrm>
            <a:off x="8491723" y="2865563"/>
            <a:ext cx="1716261" cy="1776981"/>
          </a:xfrm>
          <a:prstGeom prst="roundRect">
            <a:avLst/>
          </a:prstGeom>
          <a:noFill/>
          <a:ln w="9525" cap="rnd" cmpd="sng" algn="ctr">
            <a:solidFill>
              <a:srgbClr val="7D0D2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19" name="Rounded Rectangle 18">
            <a:extLst>
              <a:ext uri="{FF2B5EF4-FFF2-40B4-BE49-F238E27FC236}">
                <a16:creationId xmlns:a16="http://schemas.microsoft.com/office/drawing/2014/main" id="{399B3EE3-2C4B-A12A-3654-18E79CBCAD3D}"/>
              </a:ext>
            </a:extLst>
          </p:cNvPr>
          <p:cNvSpPr/>
          <p:nvPr/>
        </p:nvSpPr>
        <p:spPr>
          <a:xfrm>
            <a:off x="1688318" y="2865563"/>
            <a:ext cx="1711740" cy="1776980"/>
          </a:xfrm>
          <a:prstGeom prst="roundRect">
            <a:avLst/>
          </a:prstGeom>
          <a:noFill/>
          <a:ln w="12700" cap="rnd" cmpd="sng" algn="ctr">
            <a:solidFill>
              <a:srgbClr val="7D0D2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graphicFrame>
        <p:nvGraphicFramePr>
          <p:cNvPr id="10" name="Object 9"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10" name="Object 9"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hidden="1"/>
          <p:cNvSpPr/>
          <p:nvPr>
            <p:custDataLst>
              <p:tags r:id="rId2"/>
            </p:custDataLst>
          </p:nvPr>
        </p:nvSpPr>
        <p:spPr bwMode="gray">
          <a:xfrm>
            <a:off x="0" y="0"/>
            <a:ext cx="158750" cy="158750"/>
          </a:xfrm>
          <a:prstGeom prst="rect">
            <a:avLst/>
          </a:prstGeom>
          <a:solidFill>
            <a:scrgbClr r="0" g="0" b="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spcCol="0" rtlCol="0" anchor="ctr" anchorCtr="0">
            <a:noAutofit/>
          </a:bodyPr>
          <a:lstStyle/>
          <a:p>
            <a:pPr algn="ctr">
              <a:spcBef>
                <a:spcPct val="0"/>
              </a:spcBef>
              <a:spcAft>
                <a:spcPct val="0"/>
              </a:spcAft>
              <a:buClr>
                <a:srgbClr val="86163D"/>
              </a:buClr>
              <a:buSzPct val="120000"/>
            </a:pPr>
            <a:endParaRPr lang="en-US" sz="1600" dirty="0">
              <a:solidFill>
                <a:srgbClr val="6E6F73"/>
              </a:solidFill>
              <a:latin typeface="Trebuchet MS" panose="020B0603020202020204" pitchFamily="34" charset="0"/>
              <a:sym typeface="Trebuchet MS" panose="020B0603020202020204" pitchFamily="34" charset="0"/>
            </a:endParaRPr>
          </a:p>
        </p:txBody>
      </p:sp>
      <p:sp>
        <p:nvSpPr>
          <p:cNvPr id="3" name="Title 2"/>
          <p:cNvSpPr>
            <a:spLocks noGrp="1"/>
          </p:cNvSpPr>
          <p:nvPr>
            <p:ph type="title"/>
          </p:nvPr>
        </p:nvSpPr>
        <p:spPr>
          <a:xfrm>
            <a:off x="630000" y="622300"/>
            <a:ext cx="7506610" cy="470898"/>
          </a:xfrm>
          <a:noFill/>
        </p:spPr>
        <p:txBody>
          <a:bodyPr wrap="square">
            <a:spAutoFit/>
          </a:bodyPr>
          <a:lstStyle/>
          <a:p>
            <a:r>
              <a:rPr lang="en-GB" dirty="0">
                <a:solidFill>
                  <a:srgbClr val="B71C1C"/>
                </a:solidFill>
              </a:rPr>
              <a:t>Architecture overview</a:t>
            </a:r>
            <a:endParaRPr lang="en-US" dirty="0">
              <a:solidFill>
                <a:srgbClr val="B71C1C"/>
              </a:solidFill>
            </a:endParaRPr>
          </a:p>
        </p:txBody>
      </p:sp>
      <p:pic>
        <p:nvPicPr>
          <p:cNvPr id="13" name="Picture 12">
            <a:extLst>
              <a:ext uri="{FF2B5EF4-FFF2-40B4-BE49-F238E27FC236}">
                <a16:creationId xmlns:a16="http://schemas.microsoft.com/office/drawing/2014/main" id="{5E9F124F-7E01-5312-0036-434E38F79B6C}"/>
              </a:ext>
            </a:extLst>
          </p:cNvPr>
          <p:cNvPicPr>
            <a:picLocks noChangeAspect="1"/>
          </p:cNvPicPr>
          <p:nvPr/>
        </p:nvPicPr>
        <p:blipFill rotWithShape="1">
          <a:blip r:embed="rId7"/>
          <a:srcRect b="34128"/>
          <a:stretch/>
        </p:blipFill>
        <p:spPr>
          <a:xfrm>
            <a:off x="2306992" y="3061920"/>
            <a:ext cx="474392" cy="312490"/>
          </a:xfrm>
          <a:prstGeom prst="rect">
            <a:avLst/>
          </a:prstGeom>
          <a:noFill/>
        </p:spPr>
      </p:pic>
      <p:sp>
        <p:nvSpPr>
          <p:cNvPr id="16" name="TextBox 15">
            <a:extLst>
              <a:ext uri="{FF2B5EF4-FFF2-40B4-BE49-F238E27FC236}">
                <a16:creationId xmlns:a16="http://schemas.microsoft.com/office/drawing/2014/main" id="{5B71060C-DA4D-7E54-322B-2CC632A6160E}"/>
              </a:ext>
            </a:extLst>
          </p:cNvPr>
          <p:cNvSpPr txBox="1"/>
          <p:nvPr/>
        </p:nvSpPr>
        <p:spPr>
          <a:xfrm>
            <a:off x="1688317" y="3419477"/>
            <a:ext cx="1711740"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b="1" dirty="0">
                <a:solidFill>
                  <a:srgbClr val="000000"/>
                </a:solidFill>
              </a:rPr>
              <a:t>F1 Car Sensors</a:t>
            </a:r>
          </a:p>
        </p:txBody>
      </p:sp>
      <p:cxnSp>
        <p:nvCxnSpPr>
          <p:cNvPr id="18" name="Straight Arrow Connector 17">
            <a:extLst>
              <a:ext uri="{FF2B5EF4-FFF2-40B4-BE49-F238E27FC236}">
                <a16:creationId xmlns:a16="http://schemas.microsoft.com/office/drawing/2014/main" id="{A816113D-1AE5-37FF-3C66-3C525EA73F72}"/>
              </a:ext>
            </a:extLst>
          </p:cNvPr>
          <p:cNvCxnSpPr>
            <a:cxnSpLocks/>
            <a:stCxn id="19" idx="3"/>
            <a:endCxn id="29" idx="1"/>
          </p:cNvCxnSpPr>
          <p:nvPr/>
        </p:nvCxnSpPr>
        <p:spPr>
          <a:xfrm>
            <a:off x="3400058" y="3754053"/>
            <a:ext cx="1589034" cy="8986"/>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A9A7E3A9-0B4B-CBDB-83F3-E97D4A9AA011}"/>
              </a:ext>
            </a:extLst>
          </p:cNvPr>
          <p:cNvPicPr>
            <a:picLocks noChangeAspect="1"/>
          </p:cNvPicPr>
          <p:nvPr/>
        </p:nvPicPr>
        <p:blipFill>
          <a:blip r:embed="rId8"/>
          <a:stretch>
            <a:fillRect/>
          </a:stretch>
        </p:blipFill>
        <p:spPr>
          <a:xfrm>
            <a:off x="3110470" y="2957504"/>
            <a:ext cx="180000" cy="180000"/>
          </a:xfrm>
          <a:prstGeom prst="rect">
            <a:avLst/>
          </a:prstGeom>
          <a:noFill/>
        </p:spPr>
      </p:pic>
      <p:pic>
        <p:nvPicPr>
          <p:cNvPr id="25" name="Picture 24">
            <a:extLst>
              <a:ext uri="{FF2B5EF4-FFF2-40B4-BE49-F238E27FC236}">
                <a16:creationId xmlns:a16="http://schemas.microsoft.com/office/drawing/2014/main" id="{3E180494-AB5F-988A-27AD-F6812E9AC4E9}"/>
              </a:ext>
            </a:extLst>
          </p:cNvPr>
          <p:cNvPicPr>
            <a:picLocks noChangeAspect="1"/>
          </p:cNvPicPr>
          <p:nvPr/>
        </p:nvPicPr>
        <p:blipFill>
          <a:blip r:embed="rId9"/>
          <a:stretch>
            <a:fillRect/>
          </a:stretch>
        </p:blipFill>
        <p:spPr>
          <a:xfrm>
            <a:off x="9184878" y="3059749"/>
            <a:ext cx="308518" cy="309600"/>
          </a:xfrm>
          <a:prstGeom prst="rect">
            <a:avLst/>
          </a:prstGeom>
          <a:noFill/>
        </p:spPr>
      </p:pic>
      <p:sp>
        <p:nvSpPr>
          <p:cNvPr id="28" name="TextBox 27">
            <a:extLst>
              <a:ext uri="{FF2B5EF4-FFF2-40B4-BE49-F238E27FC236}">
                <a16:creationId xmlns:a16="http://schemas.microsoft.com/office/drawing/2014/main" id="{AAFB0F5B-2A34-0A6F-8D6E-8884351843D1}"/>
              </a:ext>
            </a:extLst>
          </p:cNvPr>
          <p:cNvSpPr txBox="1"/>
          <p:nvPr/>
        </p:nvSpPr>
        <p:spPr>
          <a:xfrm>
            <a:off x="1884889" y="3937263"/>
            <a:ext cx="1318598"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000000"/>
                </a:solidFill>
              </a:rPr>
              <a:t>Real–time Data generator</a:t>
            </a:r>
          </a:p>
        </p:txBody>
      </p:sp>
      <p:sp>
        <p:nvSpPr>
          <p:cNvPr id="29" name="Rounded Rectangle 28">
            <a:extLst>
              <a:ext uri="{FF2B5EF4-FFF2-40B4-BE49-F238E27FC236}">
                <a16:creationId xmlns:a16="http://schemas.microsoft.com/office/drawing/2014/main" id="{ED3BBE63-F99B-2747-B170-A0275B744E42}"/>
              </a:ext>
            </a:extLst>
          </p:cNvPr>
          <p:cNvSpPr/>
          <p:nvPr/>
        </p:nvSpPr>
        <p:spPr>
          <a:xfrm>
            <a:off x="4989092" y="2869194"/>
            <a:ext cx="1716261" cy="1787690"/>
          </a:xfrm>
          <a:prstGeom prst="roundRect">
            <a:avLst/>
          </a:prstGeom>
          <a:noFill/>
          <a:ln w="12700" cap="rnd" cmpd="sng" algn="ctr">
            <a:solidFill>
              <a:srgbClr val="7D0D2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000000"/>
              </a:solidFill>
            </a:endParaRPr>
          </a:p>
        </p:txBody>
      </p:sp>
      <p:pic>
        <p:nvPicPr>
          <p:cNvPr id="30" name="Picture 29">
            <a:extLst>
              <a:ext uri="{FF2B5EF4-FFF2-40B4-BE49-F238E27FC236}">
                <a16:creationId xmlns:a16="http://schemas.microsoft.com/office/drawing/2014/main" id="{E4C57025-4CCB-3118-7E32-14A6B7EE0235}"/>
              </a:ext>
            </a:extLst>
          </p:cNvPr>
          <p:cNvPicPr>
            <a:picLocks noChangeAspect="1"/>
          </p:cNvPicPr>
          <p:nvPr/>
        </p:nvPicPr>
        <p:blipFill>
          <a:blip r:embed="rId10"/>
          <a:stretch>
            <a:fillRect/>
          </a:stretch>
        </p:blipFill>
        <p:spPr>
          <a:xfrm>
            <a:off x="5707679" y="3059749"/>
            <a:ext cx="277914" cy="309600"/>
          </a:xfrm>
          <a:prstGeom prst="rect">
            <a:avLst/>
          </a:prstGeom>
          <a:noFill/>
        </p:spPr>
      </p:pic>
      <p:sp>
        <p:nvSpPr>
          <p:cNvPr id="31" name="TextBox 30">
            <a:extLst>
              <a:ext uri="{FF2B5EF4-FFF2-40B4-BE49-F238E27FC236}">
                <a16:creationId xmlns:a16="http://schemas.microsoft.com/office/drawing/2014/main" id="{21DC2362-C6A1-D356-DC94-255114F0CA41}"/>
              </a:ext>
            </a:extLst>
          </p:cNvPr>
          <p:cNvSpPr txBox="1"/>
          <p:nvPr/>
        </p:nvSpPr>
        <p:spPr>
          <a:xfrm>
            <a:off x="4989091" y="3438399"/>
            <a:ext cx="1716261" cy="44132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b="1" dirty="0">
                <a:solidFill>
                  <a:srgbClr val="2C2C2C"/>
                </a:solidFill>
              </a:rPr>
              <a:t>Stream Processor</a:t>
            </a:r>
          </a:p>
          <a:p>
            <a:pPr algn="ctr"/>
            <a:r>
              <a:rPr lang="en-GB" sz="1200" b="1" dirty="0">
                <a:solidFill>
                  <a:srgbClr val="2C2C2C"/>
                </a:solidFill>
              </a:rPr>
              <a:t>(Python)</a:t>
            </a:r>
          </a:p>
        </p:txBody>
      </p:sp>
      <p:sp>
        <p:nvSpPr>
          <p:cNvPr id="51" name="TextBox 50">
            <a:extLst>
              <a:ext uri="{FF2B5EF4-FFF2-40B4-BE49-F238E27FC236}">
                <a16:creationId xmlns:a16="http://schemas.microsoft.com/office/drawing/2014/main" id="{9D57C27F-0886-C29E-DCAB-2D22FD23D5A2}"/>
              </a:ext>
            </a:extLst>
          </p:cNvPr>
          <p:cNvSpPr txBox="1"/>
          <p:nvPr/>
        </p:nvSpPr>
        <p:spPr>
          <a:xfrm>
            <a:off x="10464839" y="9870667"/>
            <a:ext cx="81774" cy="45719"/>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300" dirty="0">
                <a:solidFill>
                  <a:srgbClr val="2C2C2C"/>
                </a:solidFill>
              </a:rPr>
              <a:t>Storage Layer</a:t>
            </a:r>
          </a:p>
        </p:txBody>
      </p:sp>
      <p:sp>
        <p:nvSpPr>
          <p:cNvPr id="54" name="Rectangle 8">
            <a:extLst>
              <a:ext uri="{FF2B5EF4-FFF2-40B4-BE49-F238E27FC236}">
                <a16:creationId xmlns:a16="http://schemas.microsoft.com/office/drawing/2014/main" id="{E2008EEF-022D-C171-BB60-3E2BBC779ED8}"/>
              </a:ext>
            </a:extLst>
          </p:cNvPr>
          <p:cNvSpPr>
            <a:spLocks noChangeArrowheads="1"/>
          </p:cNvSpPr>
          <p:nvPr/>
        </p:nvSpPr>
        <p:spPr bwMode="auto">
          <a:xfrm>
            <a:off x="1595438" y="-7954406"/>
            <a:ext cx="812459" cy="53860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FFFFFF"/>
                </a:solidFill>
                <a:effectLst/>
                <a:latin typeface="ui-sans-serif"/>
                <a:hlinkClick r:id="rId11"/>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54">
            <a:extLst>
              <a:ext uri="{FF2B5EF4-FFF2-40B4-BE49-F238E27FC236}">
                <a16:creationId xmlns:a16="http://schemas.microsoft.com/office/drawing/2014/main" id="{7364E2FE-D374-BAA4-67BB-49533DD0EAE8}"/>
              </a:ext>
            </a:extLst>
          </p:cNvPr>
          <p:cNvSpPr/>
          <p:nvPr/>
        </p:nvSpPr>
        <p:spPr>
          <a:xfrm>
            <a:off x="11928764" y="3628028"/>
            <a:ext cx="263236" cy="3229972"/>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57" name="Rounded Rectangle 56">
            <a:extLst>
              <a:ext uri="{FF2B5EF4-FFF2-40B4-BE49-F238E27FC236}">
                <a16:creationId xmlns:a16="http://schemas.microsoft.com/office/drawing/2014/main" id="{08435639-A58E-6139-2826-FCC87117BA74}"/>
              </a:ext>
            </a:extLst>
          </p:cNvPr>
          <p:cNvSpPr/>
          <p:nvPr/>
        </p:nvSpPr>
        <p:spPr>
          <a:xfrm>
            <a:off x="4732867" y="1897407"/>
            <a:ext cx="2226365" cy="483525"/>
          </a:xfrm>
          <a:prstGeom prst="roundRect">
            <a:avLst/>
          </a:prstGeom>
          <a:noFill/>
          <a:ln w="12700" cap="rnd" cmpd="sng" algn="ctr">
            <a:solidFill>
              <a:srgbClr val="7D0D2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58" name="Rounded Rectangle 57">
            <a:extLst>
              <a:ext uri="{FF2B5EF4-FFF2-40B4-BE49-F238E27FC236}">
                <a16:creationId xmlns:a16="http://schemas.microsoft.com/office/drawing/2014/main" id="{ECB8F7E5-C406-A7DE-CDB1-63CE488BF0EB}"/>
              </a:ext>
            </a:extLst>
          </p:cNvPr>
          <p:cNvSpPr/>
          <p:nvPr/>
        </p:nvSpPr>
        <p:spPr>
          <a:xfrm>
            <a:off x="4660006" y="5180135"/>
            <a:ext cx="2359722" cy="918051"/>
          </a:xfrm>
          <a:prstGeom prst="roundRect">
            <a:avLst/>
          </a:prstGeom>
          <a:noFill/>
          <a:ln w="12700" cap="rnd" cmpd="sng" algn="ctr">
            <a:solidFill>
              <a:srgbClr val="7D0D2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pic>
        <p:nvPicPr>
          <p:cNvPr id="56" name="Picture 55">
            <a:extLst>
              <a:ext uri="{FF2B5EF4-FFF2-40B4-BE49-F238E27FC236}">
                <a16:creationId xmlns:a16="http://schemas.microsoft.com/office/drawing/2014/main" id="{072DD8FE-0CD8-2E37-E25A-8381755206AC}"/>
              </a:ext>
            </a:extLst>
          </p:cNvPr>
          <p:cNvPicPr>
            <a:picLocks noChangeAspect="1"/>
          </p:cNvPicPr>
          <p:nvPr/>
        </p:nvPicPr>
        <p:blipFill>
          <a:blip r:embed="rId12">
            <a:extLst>
              <a:ext uri="{BEBA8EAE-BF5A-486C-A8C5-ECC9F3942E4B}">
                <a14:imgProps xmlns:a14="http://schemas.microsoft.com/office/drawing/2010/main">
                  <a14:imgLayer r:embed="rId13">
                    <a14:imgEffect>
                      <a14:artisticMarker/>
                    </a14:imgEffect>
                    <a14:imgEffect>
                      <a14:sharpenSoften amount="-25000"/>
                    </a14:imgEffect>
                    <a14:imgEffect>
                      <a14:colorTemperature colorTemp="5900"/>
                    </a14:imgEffect>
                    <a14:imgEffect>
                      <a14:saturation sat="300000"/>
                    </a14:imgEffect>
                    <a14:imgEffect>
                      <a14:brightnessContrast bright="-20000"/>
                    </a14:imgEffect>
                  </a14:imgLayer>
                </a14:imgProps>
              </a:ext>
            </a:extLst>
          </a:blip>
          <a:stretch>
            <a:fillRect/>
          </a:stretch>
        </p:blipFill>
        <p:spPr>
          <a:xfrm>
            <a:off x="4796375" y="5257854"/>
            <a:ext cx="309600" cy="309600"/>
          </a:xfrm>
          <a:prstGeom prst="rect">
            <a:avLst/>
          </a:prstGeom>
          <a:noFill/>
        </p:spPr>
      </p:pic>
      <p:sp>
        <p:nvSpPr>
          <p:cNvPr id="67" name="TextBox 66">
            <a:extLst>
              <a:ext uri="{FF2B5EF4-FFF2-40B4-BE49-F238E27FC236}">
                <a16:creationId xmlns:a16="http://schemas.microsoft.com/office/drawing/2014/main" id="{4BD5CE94-1D44-347B-6AE1-02C50A5BEAC8}"/>
              </a:ext>
            </a:extLst>
          </p:cNvPr>
          <p:cNvSpPr txBox="1"/>
          <p:nvPr/>
        </p:nvSpPr>
        <p:spPr>
          <a:xfrm>
            <a:off x="5229261" y="4037059"/>
            <a:ext cx="1318598"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000000"/>
                </a:solidFill>
              </a:rPr>
              <a:t>Real–time Data analytics</a:t>
            </a:r>
          </a:p>
        </p:txBody>
      </p:sp>
      <p:sp>
        <p:nvSpPr>
          <p:cNvPr id="68" name="TextBox 67">
            <a:extLst>
              <a:ext uri="{FF2B5EF4-FFF2-40B4-BE49-F238E27FC236}">
                <a16:creationId xmlns:a16="http://schemas.microsoft.com/office/drawing/2014/main" id="{68112CA7-F8D4-1D80-9C5A-DA4FB80FFFFA}"/>
              </a:ext>
            </a:extLst>
          </p:cNvPr>
          <p:cNvSpPr txBox="1"/>
          <p:nvPr/>
        </p:nvSpPr>
        <p:spPr>
          <a:xfrm>
            <a:off x="8518458" y="4037059"/>
            <a:ext cx="1716261"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000000"/>
                </a:solidFill>
              </a:rPr>
              <a:t>PostgreSQL database for telemetry and  analytics results</a:t>
            </a:r>
          </a:p>
        </p:txBody>
      </p:sp>
      <p:cxnSp>
        <p:nvCxnSpPr>
          <p:cNvPr id="69" name="Straight Arrow Connector 68">
            <a:extLst>
              <a:ext uri="{FF2B5EF4-FFF2-40B4-BE49-F238E27FC236}">
                <a16:creationId xmlns:a16="http://schemas.microsoft.com/office/drawing/2014/main" id="{132BCBDC-9E06-0D6C-D8AC-573008C79625}"/>
              </a:ext>
            </a:extLst>
          </p:cNvPr>
          <p:cNvCxnSpPr>
            <a:cxnSpLocks/>
            <a:stCxn id="29" idx="3"/>
            <a:endCxn id="48" idx="1"/>
          </p:cNvCxnSpPr>
          <p:nvPr/>
        </p:nvCxnSpPr>
        <p:spPr>
          <a:xfrm flipV="1">
            <a:off x="6705353" y="3754054"/>
            <a:ext cx="1786370" cy="8985"/>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B818F187-171D-9A0B-7868-8A5FB1D58162}"/>
              </a:ext>
            </a:extLst>
          </p:cNvPr>
          <p:cNvCxnSpPr>
            <a:cxnSpLocks/>
            <a:stCxn id="57" idx="2"/>
            <a:endCxn id="29" idx="0"/>
          </p:cNvCxnSpPr>
          <p:nvPr/>
        </p:nvCxnSpPr>
        <p:spPr>
          <a:xfrm>
            <a:off x="5846050" y="2380932"/>
            <a:ext cx="1173" cy="488262"/>
          </a:xfrm>
          <a:prstGeom prst="straightConnector1">
            <a:avLst/>
          </a:prstGeom>
          <a:ln w="9525" cap="rnd">
            <a:solidFill>
              <a:schemeClr val="tx1">
                <a:lumMod val="75000"/>
              </a:schemeClr>
            </a:solidFill>
            <a:prstDash val="solid"/>
            <a:roun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1" name="Elbow Connector 100">
            <a:extLst>
              <a:ext uri="{FF2B5EF4-FFF2-40B4-BE49-F238E27FC236}">
                <a16:creationId xmlns:a16="http://schemas.microsoft.com/office/drawing/2014/main" id="{A2C59CD9-4584-C87A-C073-046EDDEFCCD5}"/>
              </a:ext>
            </a:extLst>
          </p:cNvPr>
          <p:cNvCxnSpPr>
            <a:cxnSpLocks/>
            <a:stCxn id="19" idx="0"/>
            <a:endCxn id="57" idx="1"/>
          </p:cNvCxnSpPr>
          <p:nvPr/>
        </p:nvCxnSpPr>
        <p:spPr>
          <a:xfrm rot="5400000" flipH="1" flipV="1">
            <a:off x="3275331" y="1408028"/>
            <a:ext cx="726393" cy="2188679"/>
          </a:xfrm>
          <a:prstGeom prst="bentConnector2">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pic>
        <p:nvPicPr>
          <p:cNvPr id="2058" name="Picture 10">
            <a:extLst>
              <a:ext uri="{FF2B5EF4-FFF2-40B4-BE49-F238E27FC236}">
                <a16:creationId xmlns:a16="http://schemas.microsoft.com/office/drawing/2014/main" id="{FA5C1B60-7D70-A448-5DE2-05F3D4117E2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320864" y="5253813"/>
            <a:ext cx="309600" cy="309600"/>
          </a:xfrm>
          <a:prstGeom prst="rect">
            <a:avLst/>
          </a:prstGeom>
          <a:noFill/>
        </p:spPr>
      </p:pic>
      <p:sp>
        <p:nvSpPr>
          <p:cNvPr id="117" name="TextBox 116">
            <a:extLst>
              <a:ext uri="{FF2B5EF4-FFF2-40B4-BE49-F238E27FC236}">
                <a16:creationId xmlns:a16="http://schemas.microsoft.com/office/drawing/2014/main" id="{7CC2798B-5AE7-F22B-6246-394FF3A1851A}"/>
              </a:ext>
            </a:extLst>
          </p:cNvPr>
          <p:cNvSpPr txBox="1"/>
          <p:nvPr/>
        </p:nvSpPr>
        <p:spPr>
          <a:xfrm>
            <a:off x="5359552" y="1913974"/>
            <a:ext cx="1483102" cy="44132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b="1" dirty="0">
                <a:solidFill>
                  <a:srgbClr val="2C2C2C"/>
                </a:solidFill>
              </a:rPr>
              <a:t>Apache (Airflow)</a:t>
            </a:r>
          </a:p>
        </p:txBody>
      </p:sp>
      <p:sp>
        <p:nvSpPr>
          <p:cNvPr id="124" name="TextBox 123">
            <a:extLst>
              <a:ext uri="{FF2B5EF4-FFF2-40B4-BE49-F238E27FC236}">
                <a16:creationId xmlns:a16="http://schemas.microsoft.com/office/drawing/2014/main" id="{3B6343ED-747F-A544-215F-47A08891D54E}"/>
              </a:ext>
            </a:extLst>
          </p:cNvPr>
          <p:cNvSpPr txBox="1"/>
          <p:nvPr/>
        </p:nvSpPr>
        <p:spPr>
          <a:xfrm>
            <a:off x="4673252" y="5180135"/>
            <a:ext cx="2345385" cy="44132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b="1" dirty="0">
                <a:solidFill>
                  <a:srgbClr val="2C2C2C"/>
                </a:solidFill>
              </a:rPr>
              <a:t>Prometheus</a:t>
            </a:r>
          </a:p>
        </p:txBody>
      </p:sp>
      <p:sp>
        <p:nvSpPr>
          <p:cNvPr id="125" name="TextBox 124">
            <a:extLst>
              <a:ext uri="{FF2B5EF4-FFF2-40B4-BE49-F238E27FC236}">
                <a16:creationId xmlns:a16="http://schemas.microsoft.com/office/drawing/2014/main" id="{8AD16486-A998-187B-D30B-982CC2D0A51A}"/>
              </a:ext>
            </a:extLst>
          </p:cNvPr>
          <p:cNvSpPr txBox="1"/>
          <p:nvPr/>
        </p:nvSpPr>
        <p:spPr>
          <a:xfrm>
            <a:off x="4848328" y="5597472"/>
            <a:ext cx="2080464"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000000"/>
                </a:solidFill>
              </a:rPr>
              <a:t>System and Application Monitoring</a:t>
            </a:r>
          </a:p>
        </p:txBody>
      </p:sp>
      <p:sp>
        <p:nvSpPr>
          <p:cNvPr id="2068" name="TextBox 2067">
            <a:extLst>
              <a:ext uri="{FF2B5EF4-FFF2-40B4-BE49-F238E27FC236}">
                <a16:creationId xmlns:a16="http://schemas.microsoft.com/office/drawing/2014/main" id="{90FE1EAB-661A-1427-554B-FE4C6615B1E0}"/>
              </a:ext>
            </a:extLst>
          </p:cNvPr>
          <p:cNvSpPr txBox="1"/>
          <p:nvPr/>
        </p:nvSpPr>
        <p:spPr>
          <a:xfrm>
            <a:off x="3439633" y="3422981"/>
            <a:ext cx="1499782" cy="251846"/>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00" dirty="0">
                <a:solidFill>
                  <a:schemeClr val="tx1">
                    <a:lumMod val="75000"/>
                  </a:schemeClr>
                </a:solidFill>
              </a:rPr>
              <a:t>Real-time dataflow</a:t>
            </a:r>
          </a:p>
          <a:p>
            <a:pPr algn="ctr"/>
            <a:r>
              <a:rPr lang="en-GB" sz="1000" dirty="0">
                <a:solidFill>
                  <a:schemeClr val="tx1">
                    <a:lumMod val="75000"/>
                  </a:schemeClr>
                </a:solidFill>
              </a:rPr>
              <a:t>(HTTP JSON)</a:t>
            </a:r>
          </a:p>
        </p:txBody>
      </p:sp>
      <p:sp>
        <p:nvSpPr>
          <p:cNvPr id="2070" name="TextBox 2069">
            <a:extLst>
              <a:ext uri="{FF2B5EF4-FFF2-40B4-BE49-F238E27FC236}">
                <a16:creationId xmlns:a16="http://schemas.microsoft.com/office/drawing/2014/main" id="{49236677-85A4-AB7B-663B-BDC3768CA37F}"/>
              </a:ext>
            </a:extLst>
          </p:cNvPr>
          <p:cNvSpPr txBox="1"/>
          <p:nvPr/>
        </p:nvSpPr>
        <p:spPr>
          <a:xfrm>
            <a:off x="6974255" y="3438337"/>
            <a:ext cx="1199389" cy="251846"/>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00" dirty="0">
                <a:solidFill>
                  <a:schemeClr val="tx1">
                    <a:lumMod val="75000"/>
                  </a:schemeClr>
                </a:solidFill>
              </a:rPr>
              <a:t>Analytics Results (SQL Writes)</a:t>
            </a:r>
          </a:p>
        </p:txBody>
      </p:sp>
      <p:sp>
        <p:nvSpPr>
          <p:cNvPr id="2071" name="TextBox 2070">
            <a:extLst>
              <a:ext uri="{FF2B5EF4-FFF2-40B4-BE49-F238E27FC236}">
                <a16:creationId xmlns:a16="http://schemas.microsoft.com/office/drawing/2014/main" id="{BA7A2D31-1500-E529-C747-6011CEE8E0FD}"/>
              </a:ext>
            </a:extLst>
          </p:cNvPr>
          <p:cNvSpPr txBox="1"/>
          <p:nvPr/>
        </p:nvSpPr>
        <p:spPr>
          <a:xfrm>
            <a:off x="7231533" y="1877366"/>
            <a:ext cx="2036816" cy="251846"/>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00" dirty="0">
                <a:solidFill>
                  <a:schemeClr val="tx1">
                    <a:lumMod val="75000"/>
                  </a:schemeClr>
                </a:solidFill>
              </a:rPr>
              <a:t>Analytics Results (SQL Writes)</a:t>
            </a:r>
          </a:p>
        </p:txBody>
      </p:sp>
      <p:sp>
        <p:nvSpPr>
          <p:cNvPr id="2072" name="TextBox 2071">
            <a:extLst>
              <a:ext uri="{FF2B5EF4-FFF2-40B4-BE49-F238E27FC236}">
                <a16:creationId xmlns:a16="http://schemas.microsoft.com/office/drawing/2014/main" id="{998E1609-A3B5-2197-116B-707A3D5191CB}"/>
              </a:ext>
            </a:extLst>
          </p:cNvPr>
          <p:cNvSpPr txBox="1"/>
          <p:nvPr/>
        </p:nvSpPr>
        <p:spPr>
          <a:xfrm>
            <a:off x="5772332" y="2491977"/>
            <a:ext cx="535750" cy="251846"/>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00" dirty="0">
                <a:solidFill>
                  <a:schemeClr val="tx1">
                    <a:lumMod val="75000"/>
                  </a:schemeClr>
                </a:solidFill>
              </a:rPr>
              <a:t>Redis</a:t>
            </a:r>
          </a:p>
        </p:txBody>
      </p:sp>
      <p:sp>
        <p:nvSpPr>
          <p:cNvPr id="2073" name="TextBox 2072">
            <a:extLst>
              <a:ext uri="{FF2B5EF4-FFF2-40B4-BE49-F238E27FC236}">
                <a16:creationId xmlns:a16="http://schemas.microsoft.com/office/drawing/2014/main" id="{6BE619DF-4F5F-C905-4A6C-C692DB58E8FC}"/>
              </a:ext>
            </a:extLst>
          </p:cNvPr>
          <p:cNvSpPr txBox="1"/>
          <p:nvPr/>
        </p:nvSpPr>
        <p:spPr>
          <a:xfrm>
            <a:off x="2743617" y="1879962"/>
            <a:ext cx="1457285" cy="251846"/>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00" dirty="0">
                <a:solidFill>
                  <a:schemeClr val="tx1">
                    <a:lumMod val="75000"/>
                  </a:schemeClr>
                </a:solidFill>
              </a:rPr>
              <a:t>Task Queue / Broker</a:t>
            </a:r>
          </a:p>
        </p:txBody>
      </p:sp>
      <p:sp>
        <p:nvSpPr>
          <p:cNvPr id="2074" name="TextBox 2073">
            <a:extLst>
              <a:ext uri="{FF2B5EF4-FFF2-40B4-BE49-F238E27FC236}">
                <a16:creationId xmlns:a16="http://schemas.microsoft.com/office/drawing/2014/main" id="{D0602DD6-E269-ADBC-83CC-3C286D46515C}"/>
              </a:ext>
            </a:extLst>
          </p:cNvPr>
          <p:cNvSpPr txBox="1"/>
          <p:nvPr/>
        </p:nvSpPr>
        <p:spPr>
          <a:xfrm>
            <a:off x="5100043" y="1659893"/>
            <a:ext cx="1457285" cy="251846"/>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00" dirty="0">
                <a:solidFill>
                  <a:schemeClr val="tx1">
                    <a:lumMod val="75000"/>
                  </a:schemeClr>
                </a:solidFill>
              </a:rPr>
              <a:t>Workflow Automation</a:t>
            </a:r>
          </a:p>
        </p:txBody>
      </p:sp>
      <p:sp>
        <p:nvSpPr>
          <p:cNvPr id="2075" name="TextBox 2074">
            <a:extLst>
              <a:ext uri="{FF2B5EF4-FFF2-40B4-BE49-F238E27FC236}">
                <a16:creationId xmlns:a16="http://schemas.microsoft.com/office/drawing/2014/main" id="{98F0AD68-4A56-38D8-C9A8-591EC94467A4}"/>
              </a:ext>
            </a:extLst>
          </p:cNvPr>
          <p:cNvSpPr txBox="1"/>
          <p:nvPr/>
        </p:nvSpPr>
        <p:spPr>
          <a:xfrm>
            <a:off x="8491723" y="3442236"/>
            <a:ext cx="1716261" cy="44132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b="1" dirty="0">
                <a:solidFill>
                  <a:srgbClr val="2C2C2C"/>
                </a:solidFill>
              </a:rPr>
              <a:t>Storage Layer</a:t>
            </a:r>
          </a:p>
        </p:txBody>
      </p:sp>
      <p:pic>
        <p:nvPicPr>
          <p:cNvPr id="2076" name="Picture 2">
            <a:extLst>
              <a:ext uri="{FF2B5EF4-FFF2-40B4-BE49-F238E27FC236}">
                <a16:creationId xmlns:a16="http://schemas.microsoft.com/office/drawing/2014/main" id="{00982842-CE4F-4A43-8172-11A789360EB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15178" y="1970971"/>
            <a:ext cx="309600" cy="309600"/>
          </a:xfrm>
          <a:prstGeom prst="rect">
            <a:avLst/>
          </a:prstGeom>
          <a:noFill/>
        </p:spPr>
      </p:pic>
      <p:sp>
        <p:nvSpPr>
          <p:cNvPr id="2077" name="TextBox 2076">
            <a:extLst>
              <a:ext uri="{FF2B5EF4-FFF2-40B4-BE49-F238E27FC236}">
                <a16:creationId xmlns:a16="http://schemas.microsoft.com/office/drawing/2014/main" id="{FE017684-8C68-A16A-8CE0-C84D37D697B5}"/>
              </a:ext>
            </a:extLst>
          </p:cNvPr>
          <p:cNvSpPr txBox="1"/>
          <p:nvPr/>
        </p:nvSpPr>
        <p:spPr>
          <a:xfrm>
            <a:off x="3526971" y="365760"/>
            <a:ext cx="0" cy="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cxnSp>
        <p:nvCxnSpPr>
          <p:cNvPr id="2078" name="Straight Arrow Connector 2077">
            <a:extLst>
              <a:ext uri="{FF2B5EF4-FFF2-40B4-BE49-F238E27FC236}">
                <a16:creationId xmlns:a16="http://schemas.microsoft.com/office/drawing/2014/main" id="{16315A55-5163-DB79-FA53-67E8ADA9E5D5}"/>
              </a:ext>
            </a:extLst>
          </p:cNvPr>
          <p:cNvCxnSpPr>
            <a:cxnSpLocks/>
            <a:stCxn id="29" idx="2"/>
          </p:cNvCxnSpPr>
          <p:nvPr/>
        </p:nvCxnSpPr>
        <p:spPr>
          <a:xfrm>
            <a:off x="5847223" y="4656884"/>
            <a:ext cx="0" cy="515805"/>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083" name="Elbow Connector 2082">
            <a:extLst>
              <a:ext uri="{FF2B5EF4-FFF2-40B4-BE49-F238E27FC236}">
                <a16:creationId xmlns:a16="http://schemas.microsoft.com/office/drawing/2014/main" id="{2E8B223D-C686-E93F-4788-D9FB354F19CB}"/>
              </a:ext>
            </a:extLst>
          </p:cNvPr>
          <p:cNvCxnSpPr>
            <a:stCxn id="57" idx="3"/>
            <a:endCxn id="48" idx="0"/>
          </p:cNvCxnSpPr>
          <p:nvPr/>
        </p:nvCxnSpPr>
        <p:spPr>
          <a:xfrm>
            <a:off x="6959232" y="2139170"/>
            <a:ext cx="2390622" cy="726393"/>
          </a:xfrm>
          <a:prstGeom prst="bentConnector2">
            <a:avLst/>
          </a:prstGeom>
          <a:ln w="9525" cap="rnd">
            <a:solidFill>
              <a:schemeClr val="tx1">
                <a:lumMod val="75000"/>
              </a:schemeClr>
            </a:solidFill>
            <a:prstDash val="solid"/>
            <a:roun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88" name="Elbow Connector 2087">
            <a:extLst>
              <a:ext uri="{FF2B5EF4-FFF2-40B4-BE49-F238E27FC236}">
                <a16:creationId xmlns:a16="http://schemas.microsoft.com/office/drawing/2014/main" id="{8F90620E-CD39-A34C-279F-F12AACECBE94}"/>
              </a:ext>
            </a:extLst>
          </p:cNvPr>
          <p:cNvCxnSpPr>
            <a:cxnSpLocks/>
            <a:stCxn id="19" idx="2"/>
            <a:endCxn id="58" idx="1"/>
          </p:cNvCxnSpPr>
          <p:nvPr/>
        </p:nvCxnSpPr>
        <p:spPr>
          <a:xfrm rot="16200000" flipH="1">
            <a:off x="3103788" y="4082943"/>
            <a:ext cx="996618" cy="2115818"/>
          </a:xfrm>
          <a:prstGeom prst="bentConnector2">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097" name="TextBox 2096">
            <a:extLst>
              <a:ext uri="{FF2B5EF4-FFF2-40B4-BE49-F238E27FC236}">
                <a16:creationId xmlns:a16="http://schemas.microsoft.com/office/drawing/2014/main" id="{9C1A12FC-441D-0A02-01B3-58A1217DACF5}"/>
              </a:ext>
            </a:extLst>
          </p:cNvPr>
          <p:cNvSpPr txBox="1"/>
          <p:nvPr/>
        </p:nvSpPr>
        <p:spPr>
          <a:xfrm>
            <a:off x="8186891" y="5538078"/>
            <a:ext cx="2352913"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000000"/>
                </a:solidFill>
              </a:rPr>
              <a:t>Metrics Collection and Visualisation </a:t>
            </a:r>
          </a:p>
        </p:txBody>
      </p:sp>
      <p:sp>
        <p:nvSpPr>
          <p:cNvPr id="2105" name="Rounded Rectangle 2104">
            <a:extLst>
              <a:ext uri="{FF2B5EF4-FFF2-40B4-BE49-F238E27FC236}">
                <a16:creationId xmlns:a16="http://schemas.microsoft.com/office/drawing/2014/main" id="{E1613D70-7988-2C45-83AB-A6FB3EC5CBC4}"/>
              </a:ext>
            </a:extLst>
          </p:cNvPr>
          <p:cNvSpPr/>
          <p:nvPr/>
        </p:nvSpPr>
        <p:spPr>
          <a:xfrm>
            <a:off x="8186891" y="5172689"/>
            <a:ext cx="2359722" cy="918051"/>
          </a:xfrm>
          <a:prstGeom prst="roundRect">
            <a:avLst/>
          </a:prstGeom>
          <a:noFill/>
          <a:ln w="12700" cap="rnd" cmpd="sng" algn="ctr">
            <a:solidFill>
              <a:srgbClr val="7D0D2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106" name="TextBox 2105">
            <a:extLst>
              <a:ext uri="{FF2B5EF4-FFF2-40B4-BE49-F238E27FC236}">
                <a16:creationId xmlns:a16="http://schemas.microsoft.com/office/drawing/2014/main" id="{F86A8F84-1F48-8ED8-7721-53C49AE74C6B}"/>
              </a:ext>
            </a:extLst>
          </p:cNvPr>
          <p:cNvSpPr txBox="1"/>
          <p:nvPr/>
        </p:nvSpPr>
        <p:spPr>
          <a:xfrm>
            <a:off x="8173644" y="5194462"/>
            <a:ext cx="2352914" cy="44132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b="1" dirty="0">
                <a:solidFill>
                  <a:srgbClr val="2C2C2C"/>
                </a:solidFill>
              </a:rPr>
              <a:t>Grafana</a:t>
            </a:r>
          </a:p>
        </p:txBody>
      </p:sp>
      <p:cxnSp>
        <p:nvCxnSpPr>
          <p:cNvPr id="2107" name="Straight Arrow Connector 2106">
            <a:extLst>
              <a:ext uri="{FF2B5EF4-FFF2-40B4-BE49-F238E27FC236}">
                <a16:creationId xmlns:a16="http://schemas.microsoft.com/office/drawing/2014/main" id="{B35CD2FD-E78C-96AC-DC3F-D1D420E5F49B}"/>
              </a:ext>
            </a:extLst>
          </p:cNvPr>
          <p:cNvCxnSpPr>
            <a:cxnSpLocks/>
            <a:stCxn id="58" idx="3"/>
            <a:endCxn id="2105" idx="1"/>
          </p:cNvCxnSpPr>
          <p:nvPr/>
        </p:nvCxnSpPr>
        <p:spPr>
          <a:xfrm flipV="1">
            <a:off x="7019728" y="5631715"/>
            <a:ext cx="1167163" cy="7446"/>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111" name="TextBox 2110">
            <a:extLst>
              <a:ext uri="{FF2B5EF4-FFF2-40B4-BE49-F238E27FC236}">
                <a16:creationId xmlns:a16="http://schemas.microsoft.com/office/drawing/2014/main" id="{45637D81-1841-96AD-1945-175B5871B5C0}"/>
              </a:ext>
            </a:extLst>
          </p:cNvPr>
          <p:cNvSpPr txBox="1"/>
          <p:nvPr/>
        </p:nvSpPr>
        <p:spPr>
          <a:xfrm>
            <a:off x="2883523" y="5741516"/>
            <a:ext cx="1499782" cy="251846"/>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00" dirty="0">
                <a:solidFill>
                  <a:schemeClr val="tx1">
                    <a:lumMod val="75000"/>
                  </a:schemeClr>
                </a:solidFill>
              </a:rPr>
              <a:t>Real-time dataflow</a:t>
            </a:r>
          </a:p>
          <a:p>
            <a:pPr algn="ctr"/>
            <a:r>
              <a:rPr lang="en-GB" sz="1000" dirty="0">
                <a:solidFill>
                  <a:schemeClr val="tx1">
                    <a:lumMod val="75000"/>
                  </a:schemeClr>
                </a:solidFill>
              </a:rPr>
              <a:t>(HTTP JSON)</a:t>
            </a:r>
          </a:p>
        </p:txBody>
      </p:sp>
      <p:sp>
        <p:nvSpPr>
          <p:cNvPr id="2112" name="TextBox 2111">
            <a:extLst>
              <a:ext uri="{FF2B5EF4-FFF2-40B4-BE49-F238E27FC236}">
                <a16:creationId xmlns:a16="http://schemas.microsoft.com/office/drawing/2014/main" id="{C61FF0A6-70A6-5681-3C11-4D5598ABC6C2}"/>
              </a:ext>
            </a:extLst>
          </p:cNvPr>
          <p:cNvSpPr txBox="1"/>
          <p:nvPr/>
        </p:nvSpPr>
        <p:spPr>
          <a:xfrm>
            <a:off x="7039474" y="5602377"/>
            <a:ext cx="1176136"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dirty="0">
                <a:solidFill>
                  <a:schemeClr val="tx1">
                    <a:lumMod val="75000"/>
                  </a:schemeClr>
                </a:solidFill>
              </a:rPr>
              <a:t>API /v1/query</a:t>
            </a:r>
          </a:p>
        </p:txBody>
      </p:sp>
      <p:pic>
        <p:nvPicPr>
          <p:cNvPr id="4" name="Picture 3">
            <a:extLst>
              <a:ext uri="{FF2B5EF4-FFF2-40B4-BE49-F238E27FC236}">
                <a16:creationId xmlns:a16="http://schemas.microsoft.com/office/drawing/2014/main" id="{346B53EB-C384-A2F5-D90B-37B005921EC8}"/>
              </a:ext>
            </a:extLst>
          </p:cNvPr>
          <p:cNvPicPr>
            <a:picLocks noChangeAspect="1"/>
          </p:cNvPicPr>
          <p:nvPr/>
        </p:nvPicPr>
        <p:blipFill>
          <a:blip r:embed="rId8"/>
          <a:stretch>
            <a:fillRect/>
          </a:stretch>
        </p:blipFill>
        <p:spPr>
          <a:xfrm>
            <a:off x="6407600" y="2954624"/>
            <a:ext cx="180000" cy="180000"/>
          </a:xfrm>
          <a:prstGeom prst="rect">
            <a:avLst/>
          </a:prstGeom>
          <a:noFill/>
        </p:spPr>
      </p:pic>
      <p:pic>
        <p:nvPicPr>
          <p:cNvPr id="5" name="Picture 4">
            <a:extLst>
              <a:ext uri="{FF2B5EF4-FFF2-40B4-BE49-F238E27FC236}">
                <a16:creationId xmlns:a16="http://schemas.microsoft.com/office/drawing/2014/main" id="{67077A47-2295-317C-4204-34713CBE0DB9}"/>
              </a:ext>
            </a:extLst>
          </p:cNvPr>
          <p:cNvPicPr>
            <a:picLocks noChangeAspect="1"/>
          </p:cNvPicPr>
          <p:nvPr/>
        </p:nvPicPr>
        <p:blipFill>
          <a:blip r:embed="rId8"/>
          <a:stretch>
            <a:fillRect/>
          </a:stretch>
        </p:blipFill>
        <p:spPr>
          <a:xfrm>
            <a:off x="9905861" y="2953788"/>
            <a:ext cx="180000" cy="180000"/>
          </a:xfrm>
          <a:prstGeom prst="rect">
            <a:avLst/>
          </a:prstGeom>
          <a:noFill/>
        </p:spPr>
      </p:pic>
      <p:pic>
        <p:nvPicPr>
          <p:cNvPr id="6" name="Picture 5">
            <a:extLst>
              <a:ext uri="{FF2B5EF4-FFF2-40B4-BE49-F238E27FC236}">
                <a16:creationId xmlns:a16="http://schemas.microsoft.com/office/drawing/2014/main" id="{8651950B-F7B7-1250-856C-33B8A2CC1749}"/>
              </a:ext>
            </a:extLst>
          </p:cNvPr>
          <p:cNvPicPr>
            <a:picLocks noChangeAspect="1"/>
          </p:cNvPicPr>
          <p:nvPr/>
        </p:nvPicPr>
        <p:blipFill>
          <a:blip r:embed="rId8"/>
          <a:stretch>
            <a:fillRect/>
          </a:stretch>
        </p:blipFill>
        <p:spPr>
          <a:xfrm>
            <a:off x="6769217" y="5267410"/>
            <a:ext cx="180000" cy="180000"/>
          </a:xfrm>
          <a:prstGeom prst="rect">
            <a:avLst/>
          </a:prstGeom>
          <a:noFill/>
        </p:spPr>
      </p:pic>
      <p:pic>
        <p:nvPicPr>
          <p:cNvPr id="7" name="Picture 6">
            <a:extLst>
              <a:ext uri="{FF2B5EF4-FFF2-40B4-BE49-F238E27FC236}">
                <a16:creationId xmlns:a16="http://schemas.microsoft.com/office/drawing/2014/main" id="{13FE968C-ED74-87CE-44F9-A19072EDFEAC}"/>
              </a:ext>
            </a:extLst>
          </p:cNvPr>
          <p:cNvPicPr>
            <a:picLocks noChangeAspect="1"/>
          </p:cNvPicPr>
          <p:nvPr/>
        </p:nvPicPr>
        <p:blipFill>
          <a:blip r:embed="rId8"/>
          <a:stretch>
            <a:fillRect/>
          </a:stretch>
        </p:blipFill>
        <p:spPr>
          <a:xfrm>
            <a:off x="10287190" y="5264530"/>
            <a:ext cx="180000" cy="180000"/>
          </a:xfrm>
          <a:prstGeom prst="rect">
            <a:avLst/>
          </a:prstGeom>
          <a:noFill/>
        </p:spPr>
      </p:pic>
      <p:sp>
        <p:nvSpPr>
          <p:cNvPr id="2" name="Rectangle 1">
            <a:extLst>
              <a:ext uri="{FF2B5EF4-FFF2-40B4-BE49-F238E27FC236}">
                <a16:creationId xmlns:a16="http://schemas.microsoft.com/office/drawing/2014/main" id="{ADEDC353-79B5-012C-51F9-2FF9C83E906A}"/>
              </a:ext>
            </a:extLst>
          </p:cNvPr>
          <p:cNvSpPr/>
          <p:nvPr/>
        </p:nvSpPr>
        <p:spPr>
          <a:xfrm>
            <a:off x="11928764" y="3425260"/>
            <a:ext cx="263236" cy="3229972"/>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Tree>
    <p:extLst>
      <p:ext uri="{BB962C8B-B14F-4D97-AF65-F5344CB8AC3E}">
        <p14:creationId xmlns:p14="http://schemas.microsoft.com/office/powerpoint/2010/main" val="1899361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0" name="Rectangle 159">
            <a:extLst>
              <a:ext uri="{FF2B5EF4-FFF2-40B4-BE49-F238E27FC236}">
                <a16:creationId xmlns:a16="http://schemas.microsoft.com/office/drawing/2014/main" id="{9FB42202-2075-A55E-EE08-3CE64B0E15C8}"/>
              </a:ext>
            </a:extLst>
          </p:cNvPr>
          <p:cNvSpPr/>
          <p:nvPr/>
        </p:nvSpPr>
        <p:spPr bwMode="ltGray">
          <a:xfrm rot="10800000">
            <a:off x="-46879" y="0"/>
            <a:ext cx="3993024" cy="6859309"/>
          </a:xfrm>
          <a:prstGeom prst="rect">
            <a:avLst/>
          </a:prstGeom>
          <a:gradFill flip="none" rotWithShape="1">
            <a:gsLst>
              <a:gs pos="0">
                <a:srgbClr val="480B22"/>
              </a:gs>
              <a:gs pos="100000">
                <a:srgbClr val="7D0D2D">
                  <a:alpha val="90196"/>
                </a:srgbClr>
              </a:gs>
            </a:gsLst>
            <a:lin ang="10800000" scaled="1"/>
            <a:tileRect/>
          </a:gradFill>
          <a:ln w="127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19" name="Rounded Rectangle 18">
            <a:extLst>
              <a:ext uri="{FF2B5EF4-FFF2-40B4-BE49-F238E27FC236}">
                <a16:creationId xmlns:a16="http://schemas.microsoft.com/office/drawing/2014/main" id="{399B3EE3-2C4B-A12A-3654-18E79CBCAD3D}"/>
              </a:ext>
            </a:extLst>
          </p:cNvPr>
          <p:cNvSpPr/>
          <p:nvPr/>
        </p:nvSpPr>
        <p:spPr>
          <a:xfrm>
            <a:off x="779234" y="594035"/>
            <a:ext cx="1703562" cy="621792"/>
          </a:xfrm>
          <a:prstGeom prst="roundRect">
            <a:avLst/>
          </a:prstGeom>
          <a:solidFill>
            <a:schemeClr val="bg1"/>
          </a:solidFill>
          <a:ln w="12700" cap="rnd" cmpd="sng" algn="ctr">
            <a:solidFill>
              <a:srgbClr val="670F31"/>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graphicFrame>
        <p:nvGraphicFramePr>
          <p:cNvPr id="10" name="Object 9"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10" name="Object 9"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hidden="1"/>
          <p:cNvSpPr/>
          <p:nvPr>
            <p:custDataLst>
              <p:tags r:id="rId2"/>
            </p:custDataLst>
          </p:nvPr>
        </p:nvSpPr>
        <p:spPr bwMode="gray">
          <a:xfrm>
            <a:off x="0" y="0"/>
            <a:ext cx="158750" cy="158750"/>
          </a:xfrm>
          <a:prstGeom prst="rect">
            <a:avLst/>
          </a:prstGeom>
          <a:solidFill>
            <a:scrgbClr r="0" g="0" b="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spcCol="0" rtlCol="0" anchor="ctr" anchorCtr="0">
            <a:noAutofit/>
          </a:bodyPr>
          <a:lstStyle/>
          <a:p>
            <a:pPr algn="ctr">
              <a:spcBef>
                <a:spcPct val="0"/>
              </a:spcBef>
              <a:spcAft>
                <a:spcPct val="0"/>
              </a:spcAft>
              <a:buClr>
                <a:srgbClr val="86163D"/>
              </a:buClr>
              <a:buSzPct val="120000"/>
            </a:pPr>
            <a:endParaRPr lang="en-US" sz="1600" dirty="0">
              <a:solidFill>
                <a:srgbClr val="6E6F73"/>
              </a:solidFill>
              <a:latin typeface="Trebuchet MS" panose="020B0603020202020204" pitchFamily="34" charset="0"/>
              <a:sym typeface="Trebuchet MS" panose="020B0603020202020204" pitchFamily="34" charset="0"/>
            </a:endParaRPr>
          </a:p>
        </p:txBody>
      </p:sp>
      <p:sp>
        <p:nvSpPr>
          <p:cNvPr id="3" name="Title 2"/>
          <p:cNvSpPr>
            <a:spLocks noGrp="1"/>
          </p:cNvSpPr>
          <p:nvPr>
            <p:ph type="title"/>
          </p:nvPr>
        </p:nvSpPr>
        <p:spPr>
          <a:xfrm>
            <a:off x="4243164" y="578238"/>
            <a:ext cx="7320186" cy="470898"/>
          </a:xfrm>
        </p:spPr>
        <p:txBody>
          <a:bodyPr wrap="square">
            <a:spAutoFit/>
          </a:bodyPr>
          <a:lstStyle/>
          <a:p>
            <a:r>
              <a:rPr lang="en-GB" dirty="0">
                <a:solidFill>
                  <a:srgbClr val="B71C1C"/>
                </a:solidFill>
              </a:rPr>
              <a:t>Data flow and processing logic</a:t>
            </a:r>
            <a:endParaRPr lang="en-US" dirty="0">
              <a:solidFill>
                <a:srgbClr val="7D0D2D"/>
              </a:solidFill>
            </a:endParaRPr>
          </a:p>
        </p:txBody>
      </p:sp>
      <p:pic>
        <p:nvPicPr>
          <p:cNvPr id="13" name="Picture 12">
            <a:extLst>
              <a:ext uri="{FF2B5EF4-FFF2-40B4-BE49-F238E27FC236}">
                <a16:creationId xmlns:a16="http://schemas.microsoft.com/office/drawing/2014/main" id="{5E9F124F-7E01-5312-0036-434E38F79B6C}"/>
              </a:ext>
            </a:extLst>
          </p:cNvPr>
          <p:cNvPicPr>
            <a:picLocks noChangeAspect="1"/>
          </p:cNvPicPr>
          <p:nvPr/>
        </p:nvPicPr>
        <p:blipFill rotWithShape="1">
          <a:blip r:embed="rId7"/>
          <a:srcRect b="34128"/>
          <a:stretch/>
        </p:blipFill>
        <p:spPr>
          <a:xfrm>
            <a:off x="953077" y="745558"/>
            <a:ext cx="470005" cy="309600"/>
          </a:xfrm>
          <a:prstGeom prst="rect">
            <a:avLst/>
          </a:prstGeom>
        </p:spPr>
      </p:pic>
      <p:sp>
        <p:nvSpPr>
          <p:cNvPr id="16" name="TextBox 15">
            <a:extLst>
              <a:ext uri="{FF2B5EF4-FFF2-40B4-BE49-F238E27FC236}">
                <a16:creationId xmlns:a16="http://schemas.microsoft.com/office/drawing/2014/main" id="{5B71060C-DA4D-7E54-322B-2CC632A6160E}"/>
              </a:ext>
            </a:extLst>
          </p:cNvPr>
          <p:cNvSpPr txBox="1"/>
          <p:nvPr/>
        </p:nvSpPr>
        <p:spPr>
          <a:xfrm>
            <a:off x="1520635" y="683951"/>
            <a:ext cx="686835" cy="4708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dirty="0">
                <a:solidFill>
                  <a:srgbClr val="2C2C2C"/>
                </a:solidFill>
              </a:rPr>
              <a:t>F1 Car Sensors</a:t>
            </a:r>
          </a:p>
        </p:txBody>
      </p:sp>
      <p:cxnSp>
        <p:nvCxnSpPr>
          <p:cNvPr id="18" name="Straight Arrow Connector 17">
            <a:extLst>
              <a:ext uri="{FF2B5EF4-FFF2-40B4-BE49-F238E27FC236}">
                <a16:creationId xmlns:a16="http://schemas.microsoft.com/office/drawing/2014/main" id="{A816113D-1AE5-37FF-3C66-3C525EA73F72}"/>
              </a:ext>
            </a:extLst>
          </p:cNvPr>
          <p:cNvCxnSpPr>
            <a:cxnSpLocks/>
            <a:stCxn id="19" idx="2"/>
            <a:endCxn id="21" idx="0"/>
          </p:cNvCxnSpPr>
          <p:nvPr/>
        </p:nvCxnSpPr>
        <p:spPr>
          <a:xfrm>
            <a:off x="1631015" y="1215827"/>
            <a:ext cx="0" cy="541944"/>
          </a:xfrm>
          <a:prstGeom prst="straightConnector1">
            <a:avLst/>
          </a:prstGeom>
          <a:ln w="9525" cap="rnd">
            <a:solidFill>
              <a:schemeClr val="bg1"/>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B48B13EC-EF1D-A158-3758-D02560AB1AE8}"/>
              </a:ext>
            </a:extLst>
          </p:cNvPr>
          <p:cNvSpPr/>
          <p:nvPr/>
        </p:nvSpPr>
        <p:spPr>
          <a:xfrm>
            <a:off x="779234" y="1757771"/>
            <a:ext cx="1703562" cy="1163876"/>
          </a:xfrm>
          <a:prstGeom prst="roundRect">
            <a:avLst/>
          </a:prstGeom>
          <a:solidFill>
            <a:schemeClr val="bg1"/>
          </a:solidFill>
          <a:ln w="12700" cap="rnd" cmpd="sng" algn="ctr">
            <a:solidFill>
              <a:srgbClr val="670F31"/>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11" name="Rectangle 10">
            <a:extLst>
              <a:ext uri="{FF2B5EF4-FFF2-40B4-BE49-F238E27FC236}">
                <a16:creationId xmlns:a16="http://schemas.microsoft.com/office/drawing/2014/main" id="{0BFFAE87-E62E-6EC0-9A27-A97A8CBA585E}"/>
              </a:ext>
            </a:extLst>
          </p:cNvPr>
          <p:cNvSpPr/>
          <p:nvPr/>
        </p:nvSpPr>
        <p:spPr>
          <a:xfrm>
            <a:off x="11928764" y="3628028"/>
            <a:ext cx="263236" cy="3229972"/>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cxnSp>
        <p:nvCxnSpPr>
          <p:cNvPr id="25" name="Elbow Connector 24">
            <a:extLst>
              <a:ext uri="{FF2B5EF4-FFF2-40B4-BE49-F238E27FC236}">
                <a16:creationId xmlns:a16="http://schemas.microsoft.com/office/drawing/2014/main" id="{87B4B69E-A4E2-261C-763C-D305F194C06B}"/>
              </a:ext>
            </a:extLst>
          </p:cNvPr>
          <p:cNvCxnSpPr>
            <a:cxnSpLocks/>
            <a:stCxn id="19" idx="3"/>
            <a:endCxn id="21" idx="3"/>
          </p:cNvCxnSpPr>
          <p:nvPr/>
        </p:nvCxnSpPr>
        <p:spPr>
          <a:xfrm>
            <a:off x="2482796" y="904931"/>
            <a:ext cx="12700" cy="1434778"/>
          </a:xfrm>
          <a:prstGeom prst="bentConnector3">
            <a:avLst>
              <a:gd name="adj1" fmla="val 1800000"/>
            </a:avLst>
          </a:prstGeom>
          <a:ln w="9525" cap="rnd">
            <a:solidFill>
              <a:schemeClr val="bg2"/>
            </a:solidFill>
            <a:prstDash val="solid"/>
            <a:round/>
            <a:tailEnd type="triangle"/>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7075CDEF-B33F-FC3A-21CE-16ACCCC7402B}"/>
              </a:ext>
            </a:extLst>
          </p:cNvPr>
          <p:cNvPicPr>
            <a:picLocks noChangeAspect="1"/>
          </p:cNvPicPr>
          <p:nvPr/>
        </p:nvPicPr>
        <p:blipFill>
          <a:blip r:embed="rId8"/>
          <a:stretch>
            <a:fillRect/>
          </a:stretch>
        </p:blipFill>
        <p:spPr>
          <a:xfrm>
            <a:off x="955078" y="1894223"/>
            <a:ext cx="309600" cy="309600"/>
          </a:xfrm>
          <a:prstGeom prst="rect">
            <a:avLst/>
          </a:prstGeom>
        </p:spPr>
      </p:pic>
      <p:sp>
        <p:nvSpPr>
          <p:cNvPr id="37" name="TextBox 36">
            <a:extLst>
              <a:ext uri="{FF2B5EF4-FFF2-40B4-BE49-F238E27FC236}">
                <a16:creationId xmlns:a16="http://schemas.microsoft.com/office/drawing/2014/main" id="{C90D2C4F-1878-038E-03FD-6C1A68363853}"/>
              </a:ext>
            </a:extLst>
          </p:cNvPr>
          <p:cNvSpPr txBox="1"/>
          <p:nvPr/>
        </p:nvSpPr>
        <p:spPr>
          <a:xfrm>
            <a:off x="1234162" y="1834053"/>
            <a:ext cx="1240902" cy="46801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Redis</a:t>
            </a:r>
          </a:p>
          <a:p>
            <a:pPr algn="ctr"/>
            <a:r>
              <a:rPr lang="en-GB" sz="1200" dirty="0">
                <a:solidFill>
                  <a:srgbClr val="2C2C2C"/>
                </a:solidFill>
              </a:rPr>
              <a:t>(Buffer/Broker)</a:t>
            </a:r>
          </a:p>
        </p:txBody>
      </p:sp>
      <p:sp>
        <p:nvSpPr>
          <p:cNvPr id="43" name="Rounded Rectangle 42">
            <a:extLst>
              <a:ext uri="{FF2B5EF4-FFF2-40B4-BE49-F238E27FC236}">
                <a16:creationId xmlns:a16="http://schemas.microsoft.com/office/drawing/2014/main" id="{1998CE89-0E51-651B-FFF2-F909F2208FE0}"/>
              </a:ext>
            </a:extLst>
          </p:cNvPr>
          <p:cNvSpPr/>
          <p:nvPr/>
        </p:nvSpPr>
        <p:spPr>
          <a:xfrm>
            <a:off x="779234" y="3389339"/>
            <a:ext cx="1716261" cy="1124864"/>
          </a:xfrm>
          <a:prstGeom prst="roundRect">
            <a:avLst/>
          </a:prstGeom>
          <a:solidFill>
            <a:schemeClr val="bg1"/>
          </a:solidFill>
          <a:ln w="12700"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46" name="Rounded Rectangle 45">
            <a:extLst>
              <a:ext uri="{FF2B5EF4-FFF2-40B4-BE49-F238E27FC236}">
                <a16:creationId xmlns:a16="http://schemas.microsoft.com/office/drawing/2014/main" id="{C90BB539-234E-7D8F-F160-2992ED643D9F}"/>
              </a:ext>
            </a:extLst>
          </p:cNvPr>
          <p:cNvSpPr/>
          <p:nvPr/>
        </p:nvSpPr>
        <p:spPr>
          <a:xfrm rot="5400000">
            <a:off x="2516687" y="3642341"/>
            <a:ext cx="1577505" cy="621792"/>
          </a:xfrm>
          <a:prstGeom prst="roundRect">
            <a:avLst/>
          </a:prstGeom>
          <a:solidFill>
            <a:schemeClr val="bg1"/>
          </a:solidFill>
          <a:ln w="12700"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54" name="TextBox 53">
            <a:extLst>
              <a:ext uri="{FF2B5EF4-FFF2-40B4-BE49-F238E27FC236}">
                <a16:creationId xmlns:a16="http://schemas.microsoft.com/office/drawing/2014/main" id="{00A97F9A-2ABC-5996-622D-89D86BEB28BE}"/>
              </a:ext>
            </a:extLst>
          </p:cNvPr>
          <p:cNvSpPr txBox="1"/>
          <p:nvPr/>
        </p:nvSpPr>
        <p:spPr>
          <a:xfrm>
            <a:off x="978275" y="2398678"/>
            <a:ext cx="1351600" cy="4380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900" dirty="0">
                <a:solidFill>
                  <a:srgbClr val="2C2C2C"/>
                </a:solidFill>
              </a:rPr>
              <a:t>Decouples producers and consumers to avoid message loss.</a:t>
            </a:r>
          </a:p>
        </p:txBody>
      </p:sp>
      <p:sp>
        <p:nvSpPr>
          <p:cNvPr id="57" name="TextBox 56">
            <a:extLst>
              <a:ext uri="{FF2B5EF4-FFF2-40B4-BE49-F238E27FC236}">
                <a16:creationId xmlns:a16="http://schemas.microsoft.com/office/drawing/2014/main" id="{56F3DE7E-2A1A-A75F-FB34-F1E1D06C0774}"/>
              </a:ext>
            </a:extLst>
          </p:cNvPr>
          <p:cNvSpPr txBox="1"/>
          <p:nvPr/>
        </p:nvSpPr>
        <p:spPr>
          <a:xfrm rot="5400000">
            <a:off x="2343875" y="1533401"/>
            <a:ext cx="1189777" cy="29662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00" dirty="0">
                <a:solidFill>
                  <a:schemeClr val="bg1">
                    <a:lumMod val="95000"/>
                  </a:schemeClr>
                </a:solidFill>
              </a:rPr>
              <a:t>HTTP POST (telemetry JSON)</a:t>
            </a:r>
          </a:p>
        </p:txBody>
      </p:sp>
      <p:pic>
        <p:nvPicPr>
          <p:cNvPr id="59" name="Picture 58">
            <a:extLst>
              <a:ext uri="{FF2B5EF4-FFF2-40B4-BE49-F238E27FC236}">
                <a16:creationId xmlns:a16="http://schemas.microsoft.com/office/drawing/2014/main" id="{EE294E11-8A1C-B485-AA1A-87B0D5952217}"/>
              </a:ext>
            </a:extLst>
          </p:cNvPr>
          <p:cNvPicPr>
            <a:picLocks noChangeAspect="1"/>
          </p:cNvPicPr>
          <p:nvPr/>
        </p:nvPicPr>
        <p:blipFill>
          <a:blip r:embed="rId9"/>
          <a:stretch>
            <a:fillRect/>
          </a:stretch>
        </p:blipFill>
        <p:spPr>
          <a:xfrm>
            <a:off x="955078" y="3497358"/>
            <a:ext cx="309600" cy="309600"/>
          </a:xfrm>
          <a:prstGeom prst="rect">
            <a:avLst/>
          </a:prstGeom>
        </p:spPr>
      </p:pic>
      <p:sp>
        <p:nvSpPr>
          <p:cNvPr id="60" name="TextBox 59">
            <a:extLst>
              <a:ext uri="{FF2B5EF4-FFF2-40B4-BE49-F238E27FC236}">
                <a16:creationId xmlns:a16="http://schemas.microsoft.com/office/drawing/2014/main" id="{8E0173ED-D1FD-543E-27AB-B92896435FCC}"/>
              </a:ext>
            </a:extLst>
          </p:cNvPr>
          <p:cNvSpPr txBox="1"/>
          <p:nvPr/>
        </p:nvSpPr>
        <p:spPr>
          <a:xfrm>
            <a:off x="1328454" y="3531877"/>
            <a:ext cx="1097402"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Stream Processor</a:t>
            </a:r>
          </a:p>
          <a:p>
            <a:pPr algn="ctr"/>
            <a:r>
              <a:rPr lang="en-GB" sz="1200" dirty="0">
                <a:solidFill>
                  <a:srgbClr val="2C2C2C"/>
                </a:solidFill>
              </a:rPr>
              <a:t>(Python)</a:t>
            </a:r>
          </a:p>
        </p:txBody>
      </p:sp>
      <p:sp>
        <p:nvSpPr>
          <p:cNvPr id="61" name="TextBox 60">
            <a:extLst>
              <a:ext uri="{FF2B5EF4-FFF2-40B4-BE49-F238E27FC236}">
                <a16:creationId xmlns:a16="http://schemas.microsoft.com/office/drawing/2014/main" id="{FD3CCDA4-F8F9-D6D8-D733-34BAC9076FE0}"/>
              </a:ext>
            </a:extLst>
          </p:cNvPr>
          <p:cNvSpPr txBox="1"/>
          <p:nvPr/>
        </p:nvSpPr>
        <p:spPr>
          <a:xfrm>
            <a:off x="845010" y="4036814"/>
            <a:ext cx="1546537" cy="4380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900" dirty="0">
                <a:solidFill>
                  <a:srgbClr val="2C2C2C"/>
                </a:solidFill>
              </a:rPr>
              <a:t>Processes incoming data, detects anomalies.</a:t>
            </a:r>
          </a:p>
        </p:txBody>
      </p:sp>
      <p:cxnSp>
        <p:nvCxnSpPr>
          <p:cNvPr id="63" name="Elbow Connector 62">
            <a:extLst>
              <a:ext uri="{FF2B5EF4-FFF2-40B4-BE49-F238E27FC236}">
                <a16:creationId xmlns:a16="http://schemas.microsoft.com/office/drawing/2014/main" id="{C6BF6395-8D0B-0666-10EF-ACBC7F6CBE9F}"/>
              </a:ext>
            </a:extLst>
          </p:cNvPr>
          <p:cNvCxnSpPr>
            <a:cxnSpLocks/>
            <a:stCxn id="43" idx="1"/>
            <a:endCxn id="73" idx="1"/>
          </p:cNvCxnSpPr>
          <p:nvPr/>
        </p:nvCxnSpPr>
        <p:spPr>
          <a:xfrm rot="10800000" flipH="1" flipV="1">
            <a:off x="779233" y="3951770"/>
            <a:ext cx="1" cy="1583995"/>
          </a:xfrm>
          <a:prstGeom prst="bentConnector3">
            <a:avLst>
              <a:gd name="adj1" fmla="val -22860000000"/>
            </a:avLst>
          </a:prstGeom>
          <a:ln w="9525" cap="rnd">
            <a:solidFill>
              <a:schemeClr val="bg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73" name="Rounded Rectangle 72">
            <a:extLst>
              <a:ext uri="{FF2B5EF4-FFF2-40B4-BE49-F238E27FC236}">
                <a16:creationId xmlns:a16="http://schemas.microsoft.com/office/drawing/2014/main" id="{81A3B9F9-9088-D0EB-C15D-3969F7B61F74}"/>
              </a:ext>
            </a:extLst>
          </p:cNvPr>
          <p:cNvSpPr/>
          <p:nvPr/>
        </p:nvSpPr>
        <p:spPr>
          <a:xfrm>
            <a:off x="779235" y="4943188"/>
            <a:ext cx="1716261" cy="1185156"/>
          </a:xfrm>
          <a:prstGeom prst="roundRect">
            <a:avLst/>
          </a:prstGeom>
          <a:solidFill>
            <a:schemeClr val="bg1"/>
          </a:solidFill>
          <a:ln w="12700"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cxnSp>
        <p:nvCxnSpPr>
          <p:cNvPr id="74" name="Straight Arrow Connector 73">
            <a:extLst>
              <a:ext uri="{FF2B5EF4-FFF2-40B4-BE49-F238E27FC236}">
                <a16:creationId xmlns:a16="http://schemas.microsoft.com/office/drawing/2014/main" id="{B37F91B9-4C1A-4949-0C03-26CB2F688AA5}"/>
              </a:ext>
            </a:extLst>
          </p:cNvPr>
          <p:cNvCxnSpPr>
            <a:cxnSpLocks/>
            <a:stCxn id="21" idx="2"/>
            <a:endCxn id="43" idx="0"/>
          </p:cNvCxnSpPr>
          <p:nvPr/>
        </p:nvCxnSpPr>
        <p:spPr>
          <a:xfrm>
            <a:off x="1631015" y="2921647"/>
            <a:ext cx="6350" cy="467692"/>
          </a:xfrm>
          <a:prstGeom prst="straightConnector1">
            <a:avLst/>
          </a:prstGeom>
          <a:ln w="9525" cap="rnd">
            <a:solidFill>
              <a:schemeClr val="bg1"/>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F0FE99A0-6145-B805-A12A-3C4AB2C4CD40}"/>
              </a:ext>
            </a:extLst>
          </p:cNvPr>
          <p:cNvCxnSpPr>
            <a:cxnSpLocks/>
            <a:endCxn id="73" idx="0"/>
          </p:cNvCxnSpPr>
          <p:nvPr/>
        </p:nvCxnSpPr>
        <p:spPr>
          <a:xfrm>
            <a:off x="1637365" y="4514203"/>
            <a:ext cx="1" cy="428985"/>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DD792E06-76D6-A0D7-3E31-BF76034A4D69}"/>
              </a:ext>
            </a:extLst>
          </p:cNvPr>
          <p:cNvSpPr txBox="1"/>
          <p:nvPr/>
        </p:nvSpPr>
        <p:spPr>
          <a:xfrm>
            <a:off x="1400055" y="5050947"/>
            <a:ext cx="991492"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PostgreSQL (Storage)</a:t>
            </a:r>
          </a:p>
        </p:txBody>
      </p:sp>
      <p:sp>
        <p:nvSpPr>
          <p:cNvPr id="85" name="TextBox 84">
            <a:extLst>
              <a:ext uri="{FF2B5EF4-FFF2-40B4-BE49-F238E27FC236}">
                <a16:creationId xmlns:a16="http://schemas.microsoft.com/office/drawing/2014/main" id="{201332E9-10DD-FD4E-5676-4D6F1B3E7E1C}"/>
              </a:ext>
            </a:extLst>
          </p:cNvPr>
          <p:cNvSpPr txBox="1"/>
          <p:nvPr/>
        </p:nvSpPr>
        <p:spPr>
          <a:xfrm>
            <a:off x="866085" y="5548135"/>
            <a:ext cx="1546537" cy="4380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900" dirty="0">
                <a:solidFill>
                  <a:srgbClr val="2C2C2C"/>
                </a:solidFill>
              </a:rPr>
              <a:t>Stores raw and processed telemetry for analytics and historical reporting</a:t>
            </a:r>
          </a:p>
        </p:txBody>
      </p:sp>
      <p:sp>
        <p:nvSpPr>
          <p:cNvPr id="90" name="TextBox 89">
            <a:extLst>
              <a:ext uri="{FF2B5EF4-FFF2-40B4-BE49-F238E27FC236}">
                <a16:creationId xmlns:a16="http://schemas.microsoft.com/office/drawing/2014/main" id="{EB6D904F-10D9-2BAC-81E2-FD2EBFDB8CD7}"/>
              </a:ext>
            </a:extLst>
          </p:cNvPr>
          <p:cNvSpPr txBox="1"/>
          <p:nvPr/>
        </p:nvSpPr>
        <p:spPr>
          <a:xfrm rot="16200000">
            <a:off x="-397003" y="4630828"/>
            <a:ext cx="1511322" cy="298553"/>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00" dirty="0">
                <a:solidFill>
                  <a:schemeClr val="bg1">
                    <a:lumMod val="95000"/>
                  </a:schemeClr>
                </a:solidFill>
              </a:rPr>
              <a:t>Write Processed Data</a:t>
            </a:r>
          </a:p>
        </p:txBody>
      </p:sp>
      <p:cxnSp>
        <p:nvCxnSpPr>
          <p:cNvPr id="104" name="Elbow Connector 103">
            <a:extLst>
              <a:ext uri="{FF2B5EF4-FFF2-40B4-BE49-F238E27FC236}">
                <a16:creationId xmlns:a16="http://schemas.microsoft.com/office/drawing/2014/main" id="{1F77E2EB-42C1-577F-6AFF-4F33E7864A4F}"/>
              </a:ext>
            </a:extLst>
          </p:cNvPr>
          <p:cNvCxnSpPr>
            <a:cxnSpLocks/>
          </p:cNvCxnSpPr>
          <p:nvPr/>
        </p:nvCxnSpPr>
        <p:spPr>
          <a:xfrm>
            <a:off x="2401403" y="2536996"/>
            <a:ext cx="809944" cy="679633"/>
          </a:xfrm>
          <a:prstGeom prst="bentConnector2">
            <a:avLst/>
          </a:prstGeom>
          <a:ln w="9525" cap="rnd">
            <a:solidFill>
              <a:schemeClr val="bg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33BF9CD8-A545-F867-BF96-542A195294A1}"/>
              </a:ext>
            </a:extLst>
          </p:cNvPr>
          <p:cNvSpPr txBox="1"/>
          <p:nvPr/>
        </p:nvSpPr>
        <p:spPr>
          <a:xfrm rot="5400000">
            <a:off x="2807285" y="4001450"/>
            <a:ext cx="1014344"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Prometheus</a:t>
            </a:r>
          </a:p>
          <a:p>
            <a:pPr algn="ctr"/>
            <a:r>
              <a:rPr lang="en-GB" sz="1200" dirty="0">
                <a:solidFill>
                  <a:srgbClr val="2C2C2C"/>
                </a:solidFill>
              </a:rPr>
              <a:t>(Monitoring)</a:t>
            </a:r>
          </a:p>
        </p:txBody>
      </p:sp>
      <p:sp>
        <p:nvSpPr>
          <p:cNvPr id="121" name="TextBox 120">
            <a:extLst>
              <a:ext uri="{FF2B5EF4-FFF2-40B4-BE49-F238E27FC236}">
                <a16:creationId xmlns:a16="http://schemas.microsoft.com/office/drawing/2014/main" id="{88437754-BC79-7FF9-3AC6-10932E1E6CD6}"/>
              </a:ext>
            </a:extLst>
          </p:cNvPr>
          <p:cNvSpPr txBox="1"/>
          <p:nvPr/>
        </p:nvSpPr>
        <p:spPr>
          <a:xfrm rot="5400000">
            <a:off x="3086597" y="2681460"/>
            <a:ext cx="762782" cy="29662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00" dirty="0">
                <a:solidFill>
                  <a:schemeClr val="bg2"/>
                </a:solidFill>
              </a:rPr>
              <a:t>/metric</a:t>
            </a:r>
          </a:p>
        </p:txBody>
      </p:sp>
      <p:sp>
        <p:nvSpPr>
          <p:cNvPr id="123" name="TextBox 122">
            <a:extLst>
              <a:ext uri="{FF2B5EF4-FFF2-40B4-BE49-F238E27FC236}">
                <a16:creationId xmlns:a16="http://schemas.microsoft.com/office/drawing/2014/main" id="{BC4BAC01-3F18-FA6B-77F3-E13862E6C619}"/>
              </a:ext>
            </a:extLst>
          </p:cNvPr>
          <p:cNvSpPr txBox="1"/>
          <p:nvPr/>
        </p:nvSpPr>
        <p:spPr>
          <a:xfrm rot="5400000">
            <a:off x="2384407" y="3507110"/>
            <a:ext cx="762782" cy="29662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000" dirty="0">
                <a:solidFill>
                  <a:schemeClr val="bg1">
                    <a:lumMod val="95000"/>
                  </a:schemeClr>
                </a:solidFill>
              </a:rPr>
              <a:t>/metric</a:t>
            </a:r>
          </a:p>
        </p:txBody>
      </p:sp>
      <p:pic>
        <p:nvPicPr>
          <p:cNvPr id="125" name="Picture 124">
            <a:extLst>
              <a:ext uri="{FF2B5EF4-FFF2-40B4-BE49-F238E27FC236}">
                <a16:creationId xmlns:a16="http://schemas.microsoft.com/office/drawing/2014/main" id="{B17E9F1E-5844-405B-8417-D57F6D627C83}"/>
              </a:ext>
            </a:extLst>
          </p:cNvPr>
          <p:cNvPicPr>
            <a:picLocks noChangeAspect="1"/>
          </p:cNvPicPr>
          <p:nvPr/>
        </p:nvPicPr>
        <p:blipFill>
          <a:blip r:embed="rId10">
            <a:extLst>
              <a:ext uri="{BEBA8EAE-BF5A-486C-A8C5-ECC9F3942E4B}">
                <a14:imgProps xmlns:a14="http://schemas.microsoft.com/office/drawing/2010/main">
                  <a14:imgLayer r:embed="rId11">
                    <a14:imgEffect>
                      <a14:artisticMarker/>
                    </a14:imgEffect>
                    <a14:imgEffect>
                      <a14:sharpenSoften amount="-25000"/>
                    </a14:imgEffect>
                    <a14:imgEffect>
                      <a14:colorTemperature colorTemp="5900"/>
                    </a14:imgEffect>
                    <a14:imgEffect>
                      <a14:saturation sat="300000"/>
                    </a14:imgEffect>
                    <a14:imgEffect>
                      <a14:brightnessContrast bright="-20000"/>
                    </a14:imgEffect>
                  </a14:imgLayer>
                </a14:imgProps>
              </a:ext>
            </a:extLst>
          </a:blip>
          <a:stretch>
            <a:fillRect/>
          </a:stretch>
        </p:blipFill>
        <p:spPr>
          <a:xfrm rot="5400000">
            <a:off x="3133133" y="3317405"/>
            <a:ext cx="309600" cy="309600"/>
          </a:xfrm>
          <a:prstGeom prst="rect">
            <a:avLst/>
          </a:prstGeom>
        </p:spPr>
      </p:pic>
      <p:cxnSp>
        <p:nvCxnSpPr>
          <p:cNvPr id="138" name="Elbow Connector 137">
            <a:extLst>
              <a:ext uri="{FF2B5EF4-FFF2-40B4-BE49-F238E27FC236}">
                <a16:creationId xmlns:a16="http://schemas.microsoft.com/office/drawing/2014/main" id="{F6612815-94EA-8661-943B-EDBF5F48B522}"/>
              </a:ext>
            </a:extLst>
          </p:cNvPr>
          <p:cNvCxnSpPr>
            <a:cxnSpLocks/>
            <a:stCxn id="43" idx="3"/>
            <a:endCxn id="46" idx="2"/>
          </p:cNvCxnSpPr>
          <p:nvPr/>
        </p:nvCxnSpPr>
        <p:spPr>
          <a:xfrm>
            <a:off x="2495495" y="3951771"/>
            <a:ext cx="499049" cy="1467"/>
          </a:xfrm>
          <a:prstGeom prst="bentConnector3">
            <a:avLst>
              <a:gd name="adj1" fmla="val 50000"/>
            </a:avLst>
          </a:prstGeom>
          <a:ln w="9525" cap="rnd">
            <a:solidFill>
              <a:schemeClr val="bg2"/>
            </a:solidFill>
            <a:prstDash val="solid"/>
            <a:round/>
            <a:tailEnd type="triangle"/>
          </a:ln>
        </p:spPr>
        <p:style>
          <a:lnRef idx="1">
            <a:schemeClr val="accent1"/>
          </a:lnRef>
          <a:fillRef idx="0">
            <a:schemeClr val="accent1"/>
          </a:fillRef>
          <a:effectRef idx="0">
            <a:schemeClr val="accent1"/>
          </a:effectRef>
          <a:fontRef idx="minor">
            <a:schemeClr val="tx1"/>
          </a:fontRef>
        </p:style>
      </p:cxnSp>
      <p:pic>
        <p:nvPicPr>
          <p:cNvPr id="146" name="Picture 145">
            <a:extLst>
              <a:ext uri="{FF2B5EF4-FFF2-40B4-BE49-F238E27FC236}">
                <a16:creationId xmlns:a16="http://schemas.microsoft.com/office/drawing/2014/main" id="{83F198EF-1CEF-51D1-62E8-79C671862E82}"/>
              </a:ext>
            </a:extLst>
          </p:cNvPr>
          <p:cNvPicPr>
            <a:picLocks noChangeAspect="1"/>
          </p:cNvPicPr>
          <p:nvPr/>
        </p:nvPicPr>
        <p:blipFill>
          <a:blip r:embed="rId8"/>
          <a:stretch>
            <a:fillRect/>
          </a:stretch>
        </p:blipFill>
        <p:spPr>
          <a:xfrm>
            <a:off x="955078" y="5057778"/>
            <a:ext cx="309600" cy="309600"/>
          </a:xfrm>
          <a:prstGeom prst="rect">
            <a:avLst/>
          </a:prstGeom>
        </p:spPr>
      </p:pic>
      <p:sp>
        <p:nvSpPr>
          <p:cNvPr id="147" name="TextBox 146">
            <a:extLst>
              <a:ext uri="{FF2B5EF4-FFF2-40B4-BE49-F238E27FC236}">
                <a16:creationId xmlns:a16="http://schemas.microsoft.com/office/drawing/2014/main" id="{1F86CFAC-E0D7-F782-1A54-22EB6F6546E4}"/>
              </a:ext>
            </a:extLst>
          </p:cNvPr>
          <p:cNvSpPr txBox="1"/>
          <p:nvPr/>
        </p:nvSpPr>
        <p:spPr>
          <a:xfrm>
            <a:off x="7471954" y="261257"/>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17" name="ee4pHeader1">
            <a:extLst>
              <a:ext uri="{FF2B5EF4-FFF2-40B4-BE49-F238E27FC236}">
                <a16:creationId xmlns:a16="http://schemas.microsoft.com/office/drawing/2014/main" id="{F6D987F2-8E65-B60D-49F4-77FAF190FDE6}"/>
              </a:ext>
            </a:extLst>
          </p:cNvPr>
          <p:cNvSpPr txBox="1"/>
          <p:nvPr/>
        </p:nvSpPr>
        <p:spPr>
          <a:xfrm>
            <a:off x="4192741" y="1796744"/>
            <a:ext cx="1665652" cy="246221"/>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Ingestion</a:t>
            </a:r>
            <a:endParaRPr lang="en-US" sz="1600" dirty="0">
              <a:solidFill>
                <a:srgbClr val="B71C1C"/>
              </a:solidFill>
              <a:latin typeface="Trebuchet MS" panose="020B0603020202020204" pitchFamily="34" charset="0"/>
            </a:endParaRPr>
          </a:p>
        </p:txBody>
      </p:sp>
      <p:sp>
        <p:nvSpPr>
          <p:cNvPr id="20" name="ee4pHeader1">
            <a:extLst>
              <a:ext uri="{FF2B5EF4-FFF2-40B4-BE49-F238E27FC236}">
                <a16:creationId xmlns:a16="http://schemas.microsoft.com/office/drawing/2014/main" id="{747C5B91-59DF-2BB1-51F9-0C6117813833}"/>
              </a:ext>
            </a:extLst>
          </p:cNvPr>
          <p:cNvSpPr txBox="1"/>
          <p:nvPr/>
        </p:nvSpPr>
        <p:spPr>
          <a:xfrm>
            <a:off x="4216306" y="2806243"/>
            <a:ext cx="1642087" cy="246221"/>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Buffering</a:t>
            </a:r>
            <a:endParaRPr lang="en-US" sz="1600" dirty="0">
              <a:solidFill>
                <a:srgbClr val="B71C1C"/>
              </a:solidFill>
              <a:latin typeface="Trebuchet MS" panose="020B0603020202020204" pitchFamily="34" charset="0"/>
            </a:endParaRPr>
          </a:p>
        </p:txBody>
      </p:sp>
      <p:sp>
        <p:nvSpPr>
          <p:cNvPr id="23" name="TextBox 22">
            <a:extLst>
              <a:ext uri="{FF2B5EF4-FFF2-40B4-BE49-F238E27FC236}">
                <a16:creationId xmlns:a16="http://schemas.microsoft.com/office/drawing/2014/main" id="{4B904D1A-D1BF-7914-F801-54B062FDFB58}"/>
              </a:ext>
            </a:extLst>
          </p:cNvPr>
          <p:cNvSpPr txBox="1"/>
          <p:nvPr/>
        </p:nvSpPr>
        <p:spPr>
          <a:xfrm>
            <a:off x="5858393" y="1790178"/>
            <a:ext cx="5704957" cy="292388"/>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300" dirty="0">
                <a:solidFill>
                  <a:srgbClr val="2C2C2C"/>
                </a:solidFill>
              </a:rPr>
              <a:t>Telemetry streaming from car sensors (speed, temp, wear)</a:t>
            </a:r>
          </a:p>
        </p:txBody>
      </p:sp>
      <p:sp>
        <p:nvSpPr>
          <p:cNvPr id="24" name="ee4pHeader1">
            <a:extLst>
              <a:ext uri="{FF2B5EF4-FFF2-40B4-BE49-F238E27FC236}">
                <a16:creationId xmlns:a16="http://schemas.microsoft.com/office/drawing/2014/main" id="{054E8361-993F-5A54-1AAF-876C1E0FDF7D}"/>
              </a:ext>
            </a:extLst>
          </p:cNvPr>
          <p:cNvSpPr txBox="1"/>
          <p:nvPr/>
        </p:nvSpPr>
        <p:spPr>
          <a:xfrm>
            <a:off x="4231091" y="3808772"/>
            <a:ext cx="1627304" cy="246221"/>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Processing</a:t>
            </a:r>
            <a:endParaRPr lang="en-US" sz="1600" dirty="0">
              <a:solidFill>
                <a:srgbClr val="B71C1C"/>
              </a:solidFill>
              <a:latin typeface="Trebuchet MS" panose="020B0603020202020204" pitchFamily="34" charset="0"/>
            </a:endParaRPr>
          </a:p>
        </p:txBody>
      </p:sp>
      <p:sp>
        <p:nvSpPr>
          <p:cNvPr id="26" name="TextBox 25">
            <a:extLst>
              <a:ext uri="{FF2B5EF4-FFF2-40B4-BE49-F238E27FC236}">
                <a16:creationId xmlns:a16="http://schemas.microsoft.com/office/drawing/2014/main" id="{892F082D-53FD-D270-44DF-5994565BCA6C}"/>
              </a:ext>
            </a:extLst>
          </p:cNvPr>
          <p:cNvSpPr txBox="1"/>
          <p:nvPr/>
        </p:nvSpPr>
        <p:spPr>
          <a:xfrm>
            <a:off x="5858393" y="2795384"/>
            <a:ext cx="5704957" cy="292388"/>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300" dirty="0">
                <a:solidFill>
                  <a:srgbClr val="2C2C2C"/>
                </a:solidFill>
              </a:rPr>
              <a:t>Redis smooths bursts and prevents data loss</a:t>
            </a:r>
          </a:p>
        </p:txBody>
      </p:sp>
      <p:sp>
        <p:nvSpPr>
          <p:cNvPr id="27" name="TextBox 26">
            <a:extLst>
              <a:ext uri="{FF2B5EF4-FFF2-40B4-BE49-F238E27FC236}">
                <a16:creationId xmlns:a16="http://schemas.microsoft.com/office/drawing/2014/main" id="{5305B751-5300-7FB3-6195-3895D6104709}"/>
              </a:ext>
            </a:extLst>
          </p:cNvPr>
          <p:cNvSpPr txBox="1"/>
          <p:nvPr/>
        </p:nvSpPr>
        <p:spPr>
          <a:xfrm>
            <a:off x="5858394" y="3808772"/>
            <a:ext cx="5700960" cy="292388"/>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300" dirty="0">
                <a:solidFill>
                  <a:srgbClr val="2C2C2C"/>
                </a:solidFill>
              </a:rPr>
              <a:t>Python Stream Processor detects anomalies and computes pit-stop scores</a:t>
            </a:r>
          </a:p>
        </p:txBody>
      </p:sp>
      <p:sp>
        <p:nvSpPr>
          <p:cNvPr id="29" name="TextBox 28">
            <a:extLst>
              <a:ext uri="{FF2B5EF4-FFF2-40B4-BE49-F238E27FC236}">
                <a16:creationId xmlns:a16="http://schemas.microsoft.com/office/drawing/2014/main" id="{5AB01419-0A1A-172B-5CBC-53CC021E9D8D}"/>
              </a:ext>
            </a:extLst>
          </p:cNvPr>
          <p:cNvSpPr txBox="1"/>
          <p:nvPr/>
        </p:nvSpPr>
        <p:spPr>
          <a:xfrm>
            <a:off x="4205221" y="5767149"/>
            <a:ext cx="7358129" cy="30777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400" dirty="0">
                <a:solidFill>
                  <a:srgbClr val="2C2C2C"/>
                </a:solidFill>
              </a:rPr>
              <a:t>Once processed, data is persisted in PostgreSQL and orchestrated by Airflow.</a:t>
            </a:r>
          </a:p>
        </p:txBody>
      </p:sp>
      <p:sp>
        <p:nvSpPr>
          <p:cNvPr id="33" name="ee4pHeader1">
            <a:extLst>
              <a:ext uri="{FF2B5EF4-FFF2-40B4-BE49-F238E27FC236}">
                <a16:creationId xmlns:a16="http://schemas.microsoft.com/office/drawing/2014/main" id="{DEF3105B-4A9A-6B1E-86A2-7A974458E272}"/>
              </a:ext>
            </a:extLst>
          </p:cNvPr>
          <p:cNvSpPr txBox="1"/>
          <p:nvPr/>
        </p:nvSpPr>
        <p:spPr>
          <a:xfrm>
            <a:off x="4215604" y="4830311"/>
            <a:ext cx="1627304" cy="246221"/>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Monitoring</a:t>
            </a:r>
            <a:endParaRPr lang="en-US" sz="1600" dirty="0">
              <a:solidFill>
                <a:srgbClr val="B71C1C"/>
              </a:solidFill>
              <a:latin typeface="Trebuchet MS" panose="020B0603020202020204" pitchFamily="34" charset="0"/>
            </a:endParaRPr>
          </a:p>
        </p:txBody>
      </p:sp>
      <p:sp>
        <p:nvSpPr>
          <p:cNvPr id="34" name="TextBox 33">
            <a:extLst>
              <a:ext uri="{FF2B5EF4-FFF2-40B4-BE49-F238E27FC236}">
                <a16:creationId xmlns:a16="http://schemas.microsoft.com/office/drawing/2014/main" id="{D70CAD58-8425-26AF-607A-B7F552FC9CF0}"/>
              </a:ext>
            </a:extLst>
          </p:cNvPr>
          <p:cNvSpPr txBox="1"/>
          <p:nvPr/>
        </p:nvSpPr>
        <p:spPr>
          <a:xfrm>
            <a:off x="5858394" y="4840434"/>
            <a:ext cx="5704956" cy="30777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400" dirty="0">
                <a:solidFill>
                  <a:srgbClr val="2C2C2C"/>
                </a:solidFill>
              </a:rPr>
              <a:t>Prometheus tracks system performance</a:t>
            </a:r>
            <a:endParaRPr lang="en-GB" sz="1300" dirty="0">
              <a:solidFill>
                <a:srgbClr val="2C2C2C"/>
              </a:solidFill>
            </a:endParaRPr>
          </a:p>
        </p:txBody>
      </p:sp>
    </p:spTree>
    <p:extLst>
      <p:ext uri="{BB962C8B-B14F-4D97-AF65-F5344CB8AC3E}">
        <p14:creationId xmlns:p14="http://schemas.microsoft.com/office/powerpoint/2010/main" val="23536893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p:cNvSpPr/>
          <p:nvPr/>
        </p:nvSpPr>
        <p:spPr bwMode="ltGray">
          <a:xfrm>
            <a:off x="8431613" y="-1309"/>
            <a:ext cx="3760387" cy="6859309"/>
          </a:xfrm>
          <a:prstGeom prst="rect">
            <a:avLst/>
          </a:prstGeom>
          <a:gradFill flip="none" rotWithShape="1">
            <a:gsLst>
              <a:gs pos="0">
                <a:srgbClr val="480B22"/>
              </a:gs>
              <a:gs pos="100000">
                <a:srgbClr val="7D0D2D">
                  <a:alpha val="90196"/>
                </a:srgbClr>
              </a:gs>
            </a:gsLst>
            <a:lin ang="10800000" scaled="1"/>
            <a:tileRect/>
          </a:gradFill>
          <a:ln w="127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graphicFrame>
        <p:nvGraphicFramePr>
          <p:cNvPr id="10" name="Object 9"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10" name="Object 9"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hidden="1"/>
          <p:cNvSpPr/>
          <p:nvPr>
            <p:custDataLst>
              <p:tags r:id="rId2"/>
            </p:custDataLst>
          </p:nvPr>
        </p:nvSpPr>
        <p:spPr bwMode="gray">
          <a:xfrm>
            <a:off x="0" y="0"/>
            <a:ext cx="158750" cy="158750"/>
          </a:xfrm>
          <a:prstGeom prst="rect">
            <a:avLst/>
          </a:prstGeom>
          <a:solidFill>
            <a:scrgbClr r="0" g="0" b="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spcCol="0" rtlCol="0" anchor="ctr" anchorCtr="0">
            <a:noAutofit/>
          </a:bodyPr>
          <a:lstStyle/>
          <a:p>
            <a:pPr algn="ctr">
              <a:spcBef>
                <a:spcPct val="0"/>
              </a:spcBef>
              <a:spcAft>
                <a:spcPct val="0"/>
              </a:spcAft>
              <a:buClr>
                <a:srgbClr val="86163D"/>
              </a:buClr>
              <a:buSzPct val="120000"/>
            </a:pPr>
            <a:endParaRPr lang="en-US" sz="1600" dirty="0">
              <a:solidFill>
                <a:srgbClr val="6E6F73"/>
              </a:solidFill>
              <a:latin typeface="Trebuchet MS" panose="020B0603020202020204" pitchFamily="34" charset="0"/>
              <a:sym typeface="Trebuchet MS" panose="020B0603020202020204" pitchFamily="34" charset="0"/>
            </a:endParaRPr>
          </a:p>
        </p:txBody>
      </p:sp>
      <p:sp>
        <p:nvSpPr>
          <p:cNvPr id="3" name="Title 2"/>
          <p:cNvSpPr>
            <a:spLocks noGrp="1"/>
          </p:cNvSpPr>
          <p:nvPr>
            <p:ph type="title"/>
          </p:nvPr>
        </p:nvSpPr>
        <p:spPr>
          <a:xfrm>
            <a:off x="632416" y="478520"/>
            <a:ext cx="7506610" cy="470898"/>
          </a:xfrm>
        </p:spPr>
        <p:txBody>
          <a:bodyPr wrap="square">
            <a:spAutoFit/>
          </a:bodyPr>
          <a:lstStyle/>
          <a:p>
            <a:r>
              <a:rPr lang="en-GB" dirty="0">
                <a:solidFill>
                  <a:srgbClr val="B71C1C"/>
                </a:solidFill>
              </a:rPr>
              <a:t>Workflow Automation (Apache Airflow)</a:t>
            </a:r>
            <a:endParaRPr lang="en-US" dirty="0">
              <a:solidFill>
                <a:srgbClr val="B71C1C"/>
              </a:solidFill>
            </a:endParaRPr>
          </a:p>
        </p:txBody>
      </p:sp>
      <p:sp>
        <p:nvSpPr>
          <p:cNvPr id="9" name="TextBox 8">
            <a:extLst>
              <a:ext uri="{FF2B5EF4-FFF2-40B4-BE49-F238E27FC236}">
                <a16:creationId xmlns:a16="http://schemas.microsoft.com/office/drawing/2014/main" id="{B4600346-A406-5F74-D3C4-E1008E1322D2}"/>
              </a:ext>
            </a:extLst>
          </p:cNvPr>
          <p:cNvSpPr txBox="1"/>
          <p:nvPr/>
        </p:nvSpPr>
        <p:spPr>
          <a:xfrm>
            <a:off x="8842791" y="4940638"/>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73" name="Rounded Rectangle 72">
            <a:extLst>
              <a:ext uri="{FF2B5EF4-FFF2-40B4-BE49-F238E27FC236}">
                <a16:creationId xmlns:a16="http://schemas.microsoft.com/office/drawing/2014/main" id="{81A3B9F9-9088-D0EB-C15D-3969F7B61F74}"/>
              </a:ext>
            </a:extLst>
          </p:cNvPr>
          <p:cNvSpPr/>
          <p:nvPr/>
        </p:nvSpPr>
        <p:spPr>
          <a:xfrm>
            <a:off x="9452668" y="207493"/>
            <a:ext cx="1716261" cy="592578"/>
          </a:xfrm>
          <a:prstGeom prst="roundRect">
            <a:avLst/>
          </a:prstGeom>
          <a:solidFill>
            <a:schemeClr val="bg1"/>
          </a:solidFill>
          <a:ln w="9525"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83" name="TextBox 82">
            <a:extLst>
              <a:ext uri="{FF2B5EF4-FFF2-40B4-BE49-F238E27FC236}">
                <a16:creationId xmlns:a16="http://schemas.microsoft.com/office/drawing/2014/main" id="{DD792E06-76D6-A0D7-3E31-BF76034A4D69}"/>
              </a:ext>
            </a:extLst>
          </p:cNvPr>
          <p:cNvSpPr txBox="1"/>
          <p:nvPr/>
        </p:nvSpPr>
        <p:spPr>
          <a:xfrm>
            <a:off x="9959199" y="315252"/>
            <a:ext cx="1170491"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PostgreSQL (Storage)</a:t>
            </a:r>
          </a:p>
        </p:txBody>
      </p:sp>
      <p:pic>
        <p:nvPicPr>
          <p:cNvPr id="146" name="Picture 145">
            <a:extLst>
              <a:ext uri="{FF2B5EF4-FFF2-40B4-BE49-F238E27FC236}">
                <a16:creationId xmlns:a16="http://schemas.microsoft.com/office/drawing/2014/main" id="{83F198EF-1CEF-51D1-62E8-79C671862E82}"/>
              </a:ext>
            </a:extLst>
          </p:cNvPr>
          <p:cNvPicPr>
            <a:picLocks noChangeAspect="1"/>
          </p:cNvPicPr>
          <p:nvPr/>
        </p:nvPicPr>
        <p:blipFill>
          <a:blip r:embed="rId7"/>
          <a:stretch>
            <a:fillRect/>
          </a:stretch>
        </p:blipFill>
        <p:spPr>
          <a:xfrm>
            <a:off x="9649600" y="340846"/>
            <a:ext cx="309600" cy="309600"/>
          </a:xfrm>
          <a:prstGeom prst="rect">
            <a:avLst/>
          </a:prstGeom>
        </p:spPr>
      </p:pic>
      <p:sp>
        <p:nvSpPr>
          <p:cNvPr id="14" name="Rounded Rectangle 13">
            <a:extLst>
              <a:ext uri="{FF2B5EF4-FFF2-40B4-BE49-F238E27FC236}">
                <a16:creationId xmlns:a16="http://schemas.microsoft.com/office/drawing/2014/main" id="{8D107C18-6749-29E1-A4C0-DB7144127DF9}"/>
              </a:ext>
            </a:extLst>
          </p:cNvPr>
          <p:cNvSpPr/>
          <p:nvPr/>
        </p:nvSpPr>
        <p:spPr>
          <a:xfrm>
            <a:off x="9463388" y="1206902"/>
            <a:ext cx="1716261" cy="3660424"/>
          </a:xfrm>
          <a:prstGeom prst="roundRect">
            <a:avLst/>
          </a:prstGeom>
          <a:solidFill>
            <a:schemeClr val="bg1"/>
          </a:solidFill>
          <a:ln w="9525"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15" name="TextBox 14">
            <a:extLst>
              <a:ext uri="{FF2B5EF4-FFF2-40B4-BE49-F238E27FC236}">
                <a16:creationId xmlns:a16="http://schemas.microsoft.com/office/drawing/2014/main" id="{75DF22D7-8222-A249-D302-EA21E1DB8BA3}"/>
              </a:ext>
            </a:extLst>
          </p:cNvPr>
          <p:cNvSpPr txBox="1"/>
          <p:nvPr/>
        </p:nvSpPr>
        <p:spPr>
          <a:xfrm>
            <a:off x="10138199" y="1340259"/>
            <a:ext cx="991492"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Airflow DAG</a:t>
            </a:r>
          </a:p>
        </p:txBody>
      </p:sp>
      <p:sp>
        <p:nvSpPr>
          <p:cNvPr id="17" name="Rounded Rectangle 16">
            <a:extLst>
              <a:ext uri="{FF2B5EF4-FFF2-40B4-BE49-F238E27FC236}">
                <a16:creationId xmlns:a16="http://schemas.microsoft.com/office/drawing/2014/main" id="{AE43CD45-C622-DC07-91A6-04DADE6E0651}"/>
              </a:ext>
            </a:extLst>
          </p:cNvPr>
          <p:cNvSpPr/>
          <p:nvPr/>
        </p:nvSpPr>
        <p:spPr>
          <a:xfrm>
            <a:off x="9706886" y="1875353"/>
            <a:ext cx="1229265" cy="404393"/>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cxnSp>
        <p:nvCxnSpPr>
          <p:cNvPr id="22" name="Straight Arrow Connector 21">
            <a:extLst>
              <a:ext uri="{FF2B5EF4-FFF2-40B4-BE49-F238E27FC236}">
                <a16:creationId xmlns:a16="http://schemas.microsoft.com/office/drawing/2014/main" id="{F6AA9863-D306-4C86-4235-408FB01996A6}"/>
              </a:ext>
            </a:extLst>
          </p:cNvPr>
          <p:cNvCxnSpPr>
            <a:cxnSpLocks/>
            <a:stCxn id="73" idx="2"/>
          </p:cNvCxnSpPr>
          <p:nvPr/>
        </p:nvCxnSpPr>
        <p:spPr>
          <a:xfrm>
            <a:off x="10310799" y="800071"/>
            <a:ext cx="4128" cy="406831"/>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7E301F9-6F16-60EE-1CA3-8A3135850CC2}"/>
              </a:ext>
            </a:extLst>
          </p:cNvPr>
          <p:cNvSpPr txBox="1"/>
          <p:nvPr/>
        </p:nvSpPr>
        <p:spPr>
          <a:xfrm>
            <a:off x="9807847" y="1934392"/>
            <a:ext cx="991492" cy="26754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Ingestion</a:t>
            </a:r>
          </a:p>
        </p:txBody>
      </p:sp>
      <p:sp>
        <p:nvSpPr>
          <p:cNvPr id="34" name="Rounded Rectangle 33">
            <a:extLst>
              <a:ext uri="{FF2B5EF4-FFF2-40B4-BE49-F238E27FC236}">
                <a16:creationId xmlns:a16="http://schemas.microsoft.com/office/drawing/2014/main" id="{6A4F8BE0-9A9E-2EBA-1D43-6A06EBFAEFF5}"/>
              </a:ext>
            </a:extLst>
          </p:cNvPr>
          <p:cNvSpPr/>
          <p:nvPr/>
        </p:nvSpPr>
        <p:spPr>
          <a:xfrm>
            <a:off x="9706886" y="2482561"/>
            <a:ext cx="1229265" cy="404393"/>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38" name="TextBox 37">
            <a:extLst>
              <a:ext uri="{FF2B5EF4-FFF2-40B4-BE49-F238E27FC236}">
                <a16:creationId xmlns:a16="http://schemas.microsoft.com/office/drawing/2014/main" id="{C4E96FEB-1E09-FA2C-E6D9-80F6114FC66F}"/>
              </a:ext>
            </a:extLst>
          </p:cNvPr>
          <p:cNvSpPr txBox="1"/>
          <p:nvPr/>
        </p:nvSpPr>
        <p:spPr>
          <a:xfrm>
            <a:off x="9693327" y="2550983"/>
            <a:ext cx="1274309" cy="26754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Transformation</a:t>
            </a:r>
          </a:p>
        </p:txBody>
      </p:sp>
      <p:cxnSp>
        <p:nvCxnSpPr>
          <p:cNvPr id="44" name="Straight Arrow Connector 43">
            <a:extLst>
              <a:ext uri="{FF2B5EF4-FFF2-40B4-BE49-F238E27FC236}">
                <a16:creationId xmlns:a16="http://schemas.microsoft.com/office/drawing/2014/main" id="{FBACD958-FEDA-D6A4-E56F-3D817092B1BF}"/>
              </a:ext>
            </a:extLst>
          </p:cNvPr>
          <p:cNvCxnSpPr>
            <a:cxnSpLocks/>
            <a:stCxn id="17" idx="2"/>
            <a:endCxn id="34" idx="0"/>
          </p:cNvCxnSpPr>
          <p:nvPr/>
        </p:nvCxnSpPr>
        <p:spPr>
          <a:xfrm>
            <a:off x="10321519" y="2279746"/>
            <a:ext cx="0" cy="202815"/>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8" name="Rounded Rectangle 47">
            <a:extLst>
              <a:ext uri="{FF2B5EF4-FFF2-40B4-BE49-F238E27FC236}">
                <a16:creationId xmlns:a16="http://schemas.microsoft.com/office/drawing/2014/main" id="{B76544A1-A7B6-CB11-47AC-84F527DA7662}"/>
              </a:ext>
            </a:extLst>
          </p:cNvPr>
          <p:cNvSpPr/>
          <p:nvPr/>
        </p:nvSpPr>
        <p:spPr>
          <a:xfrm>
            <a:off x="9706886" y="3088631"/>
            <a:ext cx="1229265" cy="404393"/>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49" name="TextBox 48">
            <a:extLst>
              <a:ext uri="{FF2B5EF4-FFF2-40B4-BE49-F238E27FC236}">
                <a16:creationId xmlns:a16="http://schemas.microsoft.com/office/drawing/2014/main" id="{0F57AA58-FD9B-1004-39AD-9BF93A9D9C10}"/>
              </a:ext>
            </a:extLst>
          </p:cNvPr>
          <p:cNvSpPr txBox="1"/>
          <p:nvPr/>
        </p:nvSpPr>
        <p:spPr>
          <a:xfrm>
            <a:off x="9807847" y="3147670"/>
            <a:ext cx="991492" cy="26754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Aggregation</a:t>
            </a:r>
          </a:p>
        </p:txBody>
      </p:sp>
      <p:sp>
        <p:nvSpPr>
          <p:cNvPr id="50" name="Rounded Rectangle 49">
            <a:extLst>
              <a:ext uri="{FF2B5EF4-FFF2-40B4-BE49-F238E27FC236}">
                <a16:creationId xmlns:a16="http://schemas.microsoft.com/office/drawing/2014/main" id="{C8252620-AE63-FF57-E7F8-E24750D4A446}"/>
              </a:ext>
            </a:extLst>
          </p:cNvPr>
          <p:cNvSpPr/>
          <p:nvPr/>
        </p:nvSpPr>
        <p:spPr>
          <a:xfrm>
            <a:off x="9706886" y="3695839"/>
            <a:ext cx="1229265" cy="404393"/>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51" name="TextBox 50">
            <a:extLst>
              <a:ext uri="{FF2B5EF4-FFF2-40B4-BE49-F238E27FC236}">
                <a16:creationId xmlns:a16="http://schemas.microsoft.com/office/drawing/2014/main" id="{32C8680F-7D76-6B5E-8EE5-8C64F1954930}"/>
              </a:ext>
            </a:extLst>
          </p:cNvPr>
          <p:cNvSpPr txBox="1"/>
          <p:nvPr/>
        </p:nvSpPr>
        <p:spPr>
          <a:xfrm>
            <a:off x="9693327" y="3764261"/>
            <a:ext cx="1274309" cy="26754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Reporting</a:t>
            </a:r>
          </a:p>
        </p:txBody>
      </p:sp>
      <p:cxnSp>
        <p:nvCxnSpPr>
          <p:cNvPr id="52" name="Straight Arrow Connector 51">
            <a:extLst>
              <a:ext uri="{FF2B5EF4-FFF2-40B4-BE49-F238E27FC236}">
                <a16:creationId xmlns:a16="http://schemas.microsoft.com/office/drawing/2014/main" id="{A46C7C69-86F8-2DC7-22B9-EE367D86C9BA}"/>
              </a:ext>
            </a:extLst>
          </p:cNvPr>
          <p:cNvCxnSpPr>
            <a:cxnSpLocks/>
            <a:stCxn id="48" idx="2"/>
            <a:endCxn id="50" idx="0"/>
          </p:cNvCxnSpPr>
          <p:nvPr/>
        </p:nvCxnSpPr>
        <p:spPr>
          <a:xfrm>
            <a:off x="10321519" y="3493024"/>
            <a:ext cx="0" cy="202815"/>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1EAAC55E-89BC-79E0-7F9C-6ADA0EA2EFD7}"/>
              </a:ext>
            </a:extLst>
          </p:cNvPr>
          <p:cNvCxnSpPr>
            <a:cxnSpLocks/>
            <a:stCxn id="34" idx="2"/>
          </p:cNvCxnSpPr>
          <p:nvPr/>
        </p:nvCxnSpPr>
        <p:spPr>
          <a:xfrm>
            <a:off x="10321519" y="2886954"/>
            <a:ext cx="0" cy="197099"/>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56" name="Rounded Rectangle 55">
            <a:extLst>
              <a:ext uri="{FF2B5EF4-FFF2-40B4-BE49-F238E27FC236}">
                <a16:creationId xmlns:a16="http://schemas.microsoft.com/office/drawing/2014/main" id="{205EDBDE-71A2-C676-A280-D2B4A4785E8E}"/>
              </a:ext>
            </a:extLst>
          </p:cNvPr>
          <p:cNvSpPr/>
          <p:nvPr/>
        </p:nvSpPr>
        <p:spPr>
          <a:xfrm>
            <a:off x="9715848" y="4275153"/>
            <a:ext cx="1229265" cy="404393"/>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58" name="TextBox 57">
            <a:extLst>
              <a:ext uri="{FF2B5EF4-FFF2-40B4-BE49-F238E27FC236}">
                <a16:creationId xmlns:a16="http://schemas.microsoft.com/office/drawing/2014/main" id="{FA807D92-7680-5C9C-2A49-BD183947DCE3}"/>
              </a:ext>
            </a:extLst>
          </p:cNvPr>
          <p:cNvSpPr txBox="1"/>
          <p:nvPr/>
        </p:nvSpPr>
        <p:spPr>
          <a:xfrm>
            <a:off x="9693325" y="4345322"/>
            <a:ext cx="1274309" cy="26754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Notification</a:t>
            </a:r>
          </a:p>
        </p:txBody>
      </p:sp>
      <p:cxnSp>
        <p:nvCxnSpPr>
          <p:cNvPr id="62" name="Straight Arrow Connector 61">
            <a:extLst>
              <a:ext uri="{FF2B5EF4-FFF2-40B4-BE49-F238E27FC236}">
                <a16:creationId xmlns:a16="http://schemas.microsoft.com/office/drawing/2014/main" id="{07513869-7486-68F3-DEED-6E2541D6D02A}"/>
              </a:ext>
            </a:extLst>
          </p:cNvPr>
          <p:cNvCxnSpPr>
            <a:cxnSpLocks/>
            <a:stCxn id="50" idx="2"/>
            <a:endCxn id="56" idx="0"/>
          </p:cNvCxnSpPr>
          <p:nvPr/>
        </p:nvCxnSpPr>
        <p:spPr>
          <a:xfrm>
            <a:off x="10321519" y="4100232"/>
            <a:ext cx="8962" cy="174921"/>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pic>
        <p:nvPicPr>
          <p:cNvPr id="6146" name="Picture 2">
            <a:extLst>
              <a:ext uri="{FF2B5EF4-FFF2-40B4-BE49-F238E27FC236}">
                <a16:creationId xmlns:a16="http://schemas.microsoft.com/office/drawing/2014/main" id="{031D255C-7448-735E-F3F7-72B22553C85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36277" y="1381021"/>
            <a:ext cx="309600" cy="309600"/>
          </a:xfrm>
          <a:prstGeom prst="rect">
            <a:avLst/>
          </a:prstGeom>
          <a:noFill/>
          <a:extLst>
            <a:ext uri="{909E8E84-426E-40DD-AFC4-6F175D3DCCD1}">
              <a14:hiddenFill xmlns:a14="http://schemas.microsoft.com/office/drawing/2010/main">
                <a:solidFill>
                  <a:srgbClr val="FFFFFF"/>
                </a:solidFill>
              </a14:hiddenFill>
            </a:ext>
          </a:extLst>
        </p:spPr>
      </p:pic>
      <p:cxnSp>
        <p:nvCxnSpPr>
          <p:cNvPr id="67" name="Straight Arrow Connector 66">
            <a:extLst>
              <a:ext uri="{FF2B5EF4-FFF2-40B4-BE49-F238E27FC236}">
                <a16:creationId xmlns:a16="http://schemas.microsoft.com/office/drawing/2014/main" id="{B1C88FEF-892E-84B9-B013-05A08A6FF27E}"/>
              </a:ext>
            </a:extLst>
          </p:cNvPr>
          <p:cNvCxnSpPr>
            <a:cxnSpLocks/>
            <a:stCxn id="14" idx="2"/>
          </p:cNvCxnSpPr>
          <p:nvPr/>
        </p:nvCxnSpPr>
        <p:spPr>
          <a:xfrm>
            <a:off x="10321519" y="4867326"/>
            <a:ext cx="0" cy="355303"/>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70" name="Rounded Rectangle 69">
            <a:extLst>
              <a:ext uri="{FF2B5EF4-FFF2-40B4-BE49-F238E27FC236}">
                <a16:creationId xmlns:a16="http://schemas.microsoft.com/office/drawing/2014/main" id="{C01A7E05-AA2C-1208-2FE6-BFB81A2DDB8A}"/>
              </a:ext>
            </a:extLst>
          </p:cNvPr>
          <p:cNvSpPr/>
          <p:nvPr/>
        </p:nvSpPr>
        <p:spPr>
          <a:xfrm>
            <a:off x="9477495" y="5239488"/>
            <a:ext cx="1716261" cy="505145"/>
          </a:xfrm>
          <a:prstGeom prst="roundRect">
            <a:avLst/>
          </a:prstGeom>
          <a:solidFill>
            <a:schemeClr val="bg1"/>
          </a:solidFill>
          <a:ln w="9525"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72" name="TextBox 71">
            <a:extLst>
              <a:ext uri="{FF2B5EF4-FFF2-40B4-BE49-F238E27FC236}">
                <a16:creationId xmlns:a16="http://schemas.microsoft.com/office/drawing/2014/main" id="{CFAC2510-C754-89A6-60FA-065441C19284}"/>
              </a:ext>
            </a:extLst>
          </p:cNvPr>
          <p:cNvSpPr txBox="1"/>
          <p:nvPr/>
        </p:nvSpPr>
        <p:spPr>
          <a:xfrm>
            <a:off x="9807847" y="5305420"/>
            <a:ext cx="991492"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Redis</a:t>
            </a:r>
            <a:br>
              <a:rPr lang="en-GB" sz="1200" dirty="0">
                <a:solidFill>
                  <a:srgbClr val="2C2C2C"/>
                </a:solidFill>
              </a:rPr>
            </a:br>
            <a:r>
              <a:rPr lang="en-GB" sz="1200" dirty="0">
                <a:solidFill>
                  <a:srgbClr val="2C2C2C"/>
                </a:solidFill>
              </a:rPr>
              <a:t>-&gt; Broker</a:t>
            </a:r>
          </a:p>
        </p:txBody>
      </p:sp>
      <p:sp>
        <p:nvSpPr>
          <p:cNvPr id="75" name="TextBox 74">
            <a:extLst>
              <a:ext uri="{FF2B5EF4-FFF2-40B4-BE49-F238E27FC236}">
                <a16:creationId xmlns:a16="http://schemas.microsoft.com/office/drawing/2014/main" id="{62740B7A-6F0D-30B6-E84D-C2DBEC965904}"/>
              </a:ext>
            </a:extLst>
          </p:cNvPr>
          <p:cNvSpPr txBox="1"/>
          <p:nvPr/>
        </p:nvSpPr>
        <p:spPr>
          <a:xfrm>
            <a:off x="8790700" y="4862761"/>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cxnSp>
        <p:nvCxnSpPr>
          <p:cNvPr id="76" name="Straight Arrow Connector 75">
            <a:extLst>
              <a:ext uri="{FF2B5EF4-FFF2-40B4-BE49-F238E27FC236}">
                <a16:creationId xmlns:a16="http://schemas.microsoft.com/office/drawing/2014/main" id="{6298AF07-D218-026A-8814-7BB28FAC52CD}"/>
              </a:ext>
            </a:extLst>
          </p:cNvPr>
          <p:cNvCxnSpPr>
            <a:cxnSpLocks/>
            <a:stCxn id="70" idx="2"/>
            <a:endCxn id="78" idx="0"/>
          </p:cNvCxnSpPr>
          <p:nvPr/>
        </p:nvCxnSpPr>
        <p:spPr>
          <a:xfrm flipH="1">
            <a:off x="10327127" y="5744633"/>
            <a:ext cx="8499" cy="259392"/>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78" name="Rounded Rectangle 77">
            <a:extLst>
              <a:ext uri="{FF2B5EF4-FFF2-40B4-BE49-F238E27FC236}">
                <a16:creationId xmlns:a16="http://schemas.microsoft.com/office/drawing/2014/main" id="{E77DFB99-76E6-FAF4-E480-3135322A995F}"/>
              </a:ext>
            </a:extLst>
          </p:cNvPr>
          <p:cNvSpPr/>
          <p:nvPr/>
        </p:nvSpPr>
        <p:spPr>
          <a:xfrm>
            <a:off x="9468996" y="6004025"/>
            <a:ext cx="1716261" cy="505145"/>
          </a:xfrm>
          <a:prstGeom prst="roundRect">
            <a:avLst/>
          </a:prstGeom>
          <a:solidFill>
            <a:schemeClr val="bg1"/>
          </a:solidFill>
          <a:ln w="9525"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79" name="TextBox 78">
            <a:extLst>
              <a:ext uri="{FF2B5EF4-FFF2-40B4-BE49-F238E27FC236}">
                <a16:creationId xmlns:a16="http://schemas.microsoft.com/office/drawing/2014/main" id="{36727359-8845-547B-B67D-164FEFE0598A}"/>
              </a:ext>
            </a:extLst>
          </p:cNvPr>
          <p:cNvSpPr txBox="1"/>
          <p:nvPr/>
        </p:nvSpPr>
        <p:spPr>
          <a:xfrm>
            <a:off x="9776858" y="6069061"/>
            <a:ext cx="991492"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Airflow Web UI</a:t>
            </a:r>
          </a:p>
        </p:txBody>
      </p:sp>
      <p:sp>
        <p:nvSpPr>
          <p:cNvPr id="4" name="TextBox 3">
            <a:extLst>
              <a:ext uri="{FF2B5EF4-FFF2-40B4-BE49-F238E27FC236}">
                <a16:creationId xmlns:a16="http://schemas.microsoft.com/office/drawing/2014/main" id="{2750C756-B2E7-C837-855B-697590D79CA3}"/>
              </a:ext>
            </a:extLst>
          </p:cNvPr>
          <p:cNvSpPr txBox="1"/>
          <p:nvPr/>
        </p:nvSpPr>
        <p:spPr>
          <a:xfrm>
            <a:off x="631062" y="1206901"/>
            <a:ext cx="7348070" cy="58477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600" dirty="0">
                <a:solidFill>
                  <a:srgbClr val="2C2C2C"/>
                </a:solidFill>
              </a:rPr>
              <a:t>Automating batch analytics and post-race reporting through DAG orchestration.</a:t>
            </a:r>
          </a:p>
        </p:txBody>
      </p:sp>
      <p:sp>
        <p:nvSpPr>
          <p:cNvPr id="2" name="ee4pHeader1">
            <a:extLst>
              <a:ext uri="{FF2B5EF4-FFF2-40B4-BE49-F238E27FC236}">
                <a16:creationId xmlns:a16="http://schemas.microsoft.com/office/drawing/2014/main" id="{A9D34380-E4EB-5B83-8B0F-87A37DB4EBA7}"/>
              </a:ext>
            </a:extLst>
          </p:cNvPr>
          <p:cNvSpPr txBox="1"/>
          <p:nvPr/>
        </p:nvSpPr>
        <p:spPr>
          <a:xfrm>
            <a:off x="631061" y="2993389"/>
            <a:ext cx="1901001" cy="252787"/>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Automation</a:t>
            </a:r>
            <a:endParaRPr lang="en-US" sz="1600" dirty="0">
              <a:solidFill>
                <a:srgbClr val="B71C1C"/>
              </a:solidFill>
              <a:latin typeface="Trebuchet MS" panose="020B0603020202020204" pitchFamily="34" charset="0"/>
            </a:endParaRPr>
          </a:p>
        </p:txBody>
      </p:sp>
      <p:sp>
        <p:nvSpPr>
          <p:cNvPr id="6" name="ee4pHeader1">
            <a:extLst>
              <a:ext uri="{FF2B5EF4-FFF2-40B4-BE49-F238E27FC236}">
                <a16:creationId xmlns:a16="http://schemas.microsoft.com/office/drawing/2014/main" id="{3BE4C4BC-D6CF-2D78-8036-6B1AD7A14169}"/>
              </a:ext>
            </a:extLst>
          </p:cNvPr>
          <p:cNvSpPr txBox="1"/>
          <p:nvPr/>
        </p:nvSpPr>
        <p:spPr>
          <a:xfrm>
            <a:off x="654627" y="4009454"/>
            <a:ext cx="1877436" cy="246221"/>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Batch Processing</a:t>
            </a:r>
            <a:endParaRPr lang="en-US" sz="1600" dirty="0">
              <a:solidFill>
                <a:srgbClr val="B71C1C"/>
              </a:solidFill>
              <a:latin typeface="Trebuchet MS" panose="020B0603020202020204" pitchFamily="34" charset="0"/>
            </a:endParaRPr>
          </a:p>
        </p:txBody>
      </p:sp>
      <p:sp>
        <p:nvSpPr>
          <p:cNvPr id="7" name="TextBox 6">
            <a:extLst>
              <a:ext uri="{FF2B5EF4-FFF2-40B4-BE49-F238E27FC236}">
                <a16:creationId xmlns:a16="http://schemas.microsoft.com/office/drawing/2014/main" id="{6A5FF42C-8937-4831-19D0-08EA9B0A62AE}"/>
              </a:ext>
            </a:extLst>
          </p:cNvPr>
          <p:cNvSpPr txBox="1"/>
          <p:nvPr/>
        </p:nvSpPr>
        <p:spPr>
          <a:xfrm>
            <a:off x="2529497" y="2993389"/>
            <a:ext cx="5704957" cy="292388"/>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300" dirty="0">
                <a:solidFill>
                  <a:srgbClr val="2C2C2C"/>
                </a:solidFill>
              </a:rPr>
              <a:t>Airflow orchestrates analytics workflows</a:t>
            </a:r>
          </a:p>
        </p:txBody>
      </p:sp>
      <p:sp>
        <p:nvSpPr>
          <p:cNvPr id="11" name="ee4pHeader1">
            <a:extLst>
              <a:ext uri="{FF2B5EF4-FFF2-40B4-BE49-F238E27FC236}">
                <a16:creationId xmlns:a16="http://schemas.microsoft.com/office/drawing/2014/main" id="{09657E2C-7315-89EA-EDBA-D71D27297182}"/>
              </a:ext>
            </a:extLst>
          </p:cNvPr>
          <p:cNvSpPr txBox="1"/>
          <p:nvPr/>
        </p:nvSpPr>
        <p:spPr>
          <a:xfrm>
            <a:off x="669411" y="5003801"/>
            <a:ext cx="1862651" cy="254403"/>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Reporting</a:t>
            </a:r>
            <a:endParaRPr lang="en-US" sz="1600" dirty="0">
              <a:solidFill>
                <a:srgbClr val="B71C1C"/>
              </a:solidFill>
              <a:latin typeface="Trebuchet MS" panose="020B0603020202020204" pitchFamily="34" charset="0"/>
            </a:endParaRPr>
          </a:p>
        </p:txBody>
      </p:sp>
      <p:sp>
        <p:nvSpPr>
          <p:cNvPr id="12" name="TextBox 11">
            <a:extLst>
              <a:ext uri="{FF2B5EF4-FFF2-40B4-BE49-F238E27FC236}">
                <a16:creationId xmlns:a16="http://schemas.microsoft.com/office/drawing/2014/main" id="{6959D690-716C-5308-82FF-EDC8F91C2680}"/>
              </a:ext>
            </a:extLst>
          </p:cNvPr>
          <p:cNvSpPr txBox="1"/>
          <p:nvPr/>
        </p:nvSpPr>
        <p:spPr>
          <a:xfrm>
            <a:off x="2529497" y="3998595"/>
            <a:ext cx="5704957" cy="292388"/>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300" dirty="0">
                <a:solidFill>
                  <a:srgbClr val="2C2C2C"/>
                </a:solidFill>
              </a:rPr>
              <a:t>Executes periodic jobs after each race</a:t>
            </a:r>
          </a:p>
        </p:txBody>
      </p:sp>
      <p:sp>
        <p:nvSpPr>
          <p:cNvPr id="13" name="TextBox 12">
            <a:extLst>
              <a:ext uri="{FF2B5EF4-FFF2-40B4-BE49-F238E27FC236}">
                <a16:creationId xmlns:a16="http://schemas.microsoft.com/office/drawing/2014/main" id="{1E5DEBDE-B5CA-E550-AC7B-3ACAC8110CAD}"/>
              </a:ext>
            </a:extLst>
          </p:cNvPr>
          <p:cNvSpPr txBox="1"/>
          <p:nvPr/>
        </p:nvSpPr>
        <p:spPr>
          <a:xfrm>
            <a:off x="2531910" y="5011983"/>
            <a:ext cx="5700960" cy="292388"/>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300" dirty="0">
                <a:solidFill>
                  <a:srgbClr val="2C2C2C"/>
                </a:solidFill>
              </a:rPr>
              <a:t>Outputs summarized results and strategy insights</a:t>
            </a:r>
          </a:p>
        </p:txBody>
      </p:sp>
      <p:sp>
        <p:nvSpPr>
          <p:cNvPr id="18" name="TextBox 17">
            <a:extLst>
              <a:ext uri="{FF2B5EF4-FFF2-40B4-BE49-F238E27FC236}">
                <a16:creationId xmlns:a16="http://schemas.microsoft.com/office/drawing/2014/main" id="{40E8CAF6-3DED-D843-32ED-150B26160A7B}"/>
              </a:ext>
            </a:extLst>
          </p:cNvPr>
          <p:cNvSpPr txBox="1"/>
          <p:nvPr/>
        </p:nvSpPr>
        <p:spPr>
          <a:xfrm>
            <a:off x="631062" y="2077773"/>
            <a:ext cx="7348070" cy="52322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400" dirty="0">
                <a:solidFill>
                  <a:srgbClr val="2C2C2C"/>
                </a:solidFill>
              </a:rPr>
              <a:t>Each Grand Prix triggers an Airflow DAG — a pipeline that runs automatically after the race</a:t>
            </a:r>
          </a:p>
        </p:txBody>
      </p:sp>
      <p:sp>
        <p:nvSpPr>
          <p:cNvPr id="20" name="TextBox 19">
            <a:extLst>
              <a:ext uri="{FF2B5EF4-FFF2-40B4-BE49-F238E27FC236}">
                <a16:creationId xmlns:a16="http://schemas.microsoft.com/office/drawing/2014/main" id="{97329BF9-19E7-7E8E-F186-88065F7CBD15}"/>
              </a:ext>
            </a:extLst>
          </p:cNvPr>
          <p:cNvSpPr txBox="1"/>
          <p:nvPr/>
        </p:nvSpPr>
        <p:spPr>
          <a:xfrm>
            <a:off x="643521" y="5853692"/>
            <a:ext cx="7484399" cy="30777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400" dirty="0">
                <a:solidFill>
                  <a:srgbClr val="2C2C2C"/>
                </a:solidFill>
              </a:rPr>
              <a:t>This ensures reproducible, dependency-aware, and scalable analytics runs</a:t>
            </a:r>
          </a:p>
        </p:txBody>
      </p:sp>
    </p:spTree>
    <p:extLst>
      <p:ext uri="{BB962C8B-B14F-4D97-AF65-F5344CB8AC3E}">
        <p14:creationId xmlns:p14="http://schemas.microsoft.com/office/powerpoint/2010/main" val="22544525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10" name="Object 9"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hidden="1"/>
          <p:cNvSpPr/>
          <p:nvPr>
            <p:custDataLst>
              <p:tags r:id="rId2"/>
            </p:custDataLst>
          </p:nvPr>
        </p:nvSpPr>
        <p:spPr bwMode="gray">
          <a:xfrm>
            <a:off x="0" y="0"/>
            <a:ext cx="158750" cy="158750"/>
          </a:xfrm>
          <a:prstGeom prst="rect">
            <a:avLst/>
          </a:prstGeom>
          <a:solidFill>
            <a:scrgbClr r="0" g="0" b="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spcCol="0" rtlCol="0" anchor="ctr" anchorCtr="0">
            <a:noAutofit/>
          </a:bodyPr>
          <a:lstStyle/>
          <a:p>
            <a:pPr algn="ctr">
              <a:spcBef>
                <a:spcPct val="0"/>
              </a:spcBef>
              <a:spcAft>
                <a:spcPct val="0"/>
              </a:spcAft>
              <a:buClr>
                <a:srgbClr val="86163D"/>
              </a:buClr>
              <a:buSzPct val="120000"/>
            </a:pPr>
            <a:endParaRPr lang="en-US" sz="1600" dirty="0">
              <a:solidFill>
                <a:srgbClr val="6E6F73"/>
              </a:solidFill>
              <a:latin typeface="Trebuchet MS" panose="020B0603020202020204" pitchFamily="34" charset="0"/>
              <a:sym typeface="Trebuchet MS" panose="020B0603020202020204" pitchFamily="34" charset="0"/>
            </a:endParaRPr>
          </a:p>
        </p:txBody>
      </p:sp>
      <p:sp>
        <p:nvSpPr>
          <p:cNvPr id="3" name="Title 2"/>
          <p:cNvSpPr>
            <a:spLocks noGrp="1"/>
          </p:cNvSpPr>
          <p:nvPr>
            <p:ph type="title"/>
          </p:nvPr>
        </p:nvSpPr>
        <p:spPr>
          <a:xfrm>
            <a:off x="630000" y="622300"/>
            <a:ext cx="7506610" cy="470898"/>
          </a:xfrm>
          <a:noFill/>
        </p:spPr>
        <p:txBody>
          <a:bodyPr wrap="square">
            <a:spAutoFit/>
          </a:bodyPr>
          <a:lstStyle/>
          <a:p>
            <a:r>
              <a:rPr lang="en-GB" dirty="0">
                <a:solidFill>
                  <a:srgbClr val="B71C1C"/>
                </a:solidFill>
              </a:rPr>
              <a:t>Data Models</a:t>
            </a:r>
            <a:endParaRPr lang="en-US" dirty="0">
              <a:solidFill>
                <a:srgbClr val="B71C1C"/>
              </a:solidFill>
            </a:endParaRPr>
          </a:p>
        </p:txBody>
      </p:sp>
      <p:sp>
        <p:nvSpPr>
          <p:cNvPr id="51" name="TextBox 50">
            <a:extLst>
              <a:ext uri="{FF2B5EF4-FFF2-40B4-BE49-F238E27FC236}">
                <a16:creationId xmlns:a16="http://schemas.microsoft.com/office/drawing/2014/main" id="{9D57C27F-0886-C29E-DCAB-2D22FD23D5A2}"/>
              </a:ext>
            </a:extLst>
          </p:cNvPr>
          <p:cNvSpPr txBox="1"/>
          <p:nvPr/>
        </p:nvSpPr>
        <p:spPr>
          <a:xfrm>
            <a:off x="10464839" y="9870667"/>
            <a:ext cx="81774" cy="45719"/>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300" dirty="0">
                <a:solidFill>
                  <a:srgbClr val="2C2C2C"/>
                </a:solidFill>
              </a:rPr>
              <a:t>Storage Layer</a:t>
            </a:r>
          </a:p>
        </p:txBody>
      </p:sp>
      <p:sp>
        <p:nvSpPr>
          <p:cNvPr id="54" name="Rectangle 8">
            <a:extLst>
              <a:ext uri="{FF2B5EF4-FFF2-40B4-BE49-F238E27FC236}">
                <a16:creationId xmlns:a16="http://schemas.microsoft.com/office/drawing/2014/main" id="{E2008EEF-022D-C171-BB60-3E2BBC779ED8}"/>
              </a:ext>
            </a:extLst>
          </p:cNvPr>
          <p:cNvSpPr>
            <a:spLocks noChangeArrowheads="1"/>
          </p:cNvSpPr>
          <p:nvPr/>
        </p:nvSpPr>
        <p:spPr bwMode="auto">
          <a:xfrm>
            <a:off x="1595438" y="-7954406"/>
            <a:ext cx="812459" cy="53860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FFFFFF"/>
                </a:solidFill>
                <a:effectLst/>
                <a:latin typeface="ui-sans-serif"/>
                <a:hlinkClick r:id="rId7"/>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54">
            <a:extLst>
              <a:ext uri="{FF2B5EF4-FFF2-40B4-BE49-F238E27FC236}">
                <a16:creationId xmlns:a16="http://schemas.microsoft.com/office/drawing/2014/main" id="{7364E2FE-D374-BAA4-67BB-49533DD0EAE8}"/>
              </a:ext>
            </a:extLst>
          </p:cNvPr>
          <p:cNvSpPr/>
          <p:nvPr/>
        </p:nvSpPr>
        <p:spPr>
          <a:xfrm>
            <a:off x="11928764" y="3628028"/>
            <a:ext cx="263236" cy="3229972"/>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077" name="TextBox 2076">
            <a:extLst>
              <a:ext uri="{FF2B5EF4-FFF2-40B4-BE49-F238E27FC236}">
                <a16:creationId xmlns:a16="http://schemas.microsoft.com/office/drawing/2014/main" id="{FE017684-8C68-A16A-8CE0-C84D37D697B5}"/>
              </a:ext>
            </a:extLst>
          </p:cNvPr>
          <p:cNvSpPr txBox="1"/>
          <p:nvPr/>
        </p:nvSpPr>
        <p:spPr>
          <a:xfrm>
            <a:off x="3526971" y="365760"/>
            <a:ext cx="0" cy="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2" name="Rectangle 1">
            <a:extLst>
              <a:ext uri="{FF2B5EF4-FFF2-40B4-BE49-F238E27FC236}">
                <a16:creationId xmlns:a16="http://schemas.microsoft.com/office/drawing/2014/main" id="{F746072A-1CB5-64DA-506B-C8266E4D0401}"/>
              </a:ext>
            </a:extLst>
          </p:cNvPr>
          <p:cNvSpPr/>
          <p:nvPr/>
        </p:nvSpPr>
        <p:spPr>
          <a:xfrm>
            <a:off x="11928764" y="3425260"/>
            <a:ext cx="263236" cy="3229972"/>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4" name="Rounded Rectangle 3">
            <a:extLst>
              <a:ext uri="{FF2B5EF4-FFF2-40B4-BE49-F238E27FC236}">
                <a16:creationId xmlns:a16="http://schemas.microsoft.com/office/drawing/2014/main" id="{AAE7D041-F657-985A-49E2-4336D2B392CD}"/>
              </a:ext>
            </a:extLst>
          </p:cNvPr>
          <p:cNvSpPr/>
          <p:nvPr/>
        </p:nvSpPr>
        <p:spPr>
          <a:xfrm>
            <a:off x="642134" y="2548496"/>
            <a:ext cx="1703562" cy="621792"/>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5" name="TextBox 4">
            <a:extLst>
              <a:ext uri="{FF2B5EF4-FFF2-40B4-BE49-F238E27FC236}">
                <a16:creationId xmlns:a16="http://schemas.microsoft.com/office/drawing/2014/main" id="{887A7199-AB96-B14F-D3CD-AE495AB1427D}"/>
              </a:ext>
            </a:extLst>
          </p:cNvPr>
          <p:cNvSpPr txBox="1"/>
          <p:nvPr/>
        </p:nvSpPr>
        <p:spPr>
          <a:xfrm>
            <a:off x="1198785" y="2617943"/>
            <a:ext cx="1174721"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dirty="0">
                <a:solidFill>
                  <a:srgbClr val="2C2C2C"/>
                </a:solidFill>
              </a:rPr>
              <a:t>Telemetry Data</a:t>
            </a:r>
          </a:p>
        </p:txBody>
      </p:sp>
      <p:sp>
        <p:nvSpPr>
          <p:cNvPr id="6" name="Rounded Rectangle 5">
            <a:extLst>
              <a:ext uri="{FF2B5EF4-FFF2-40B4-BE49-F238E27FC236}">
                <a16:creationId xmlns:a16="http://schemas.microsoft.com/office/drawing/2014/main" id="{9A5FBE06-B49A-7E3A-CA5C-C13128F0E6CD}"/>
              </a:ext>
            </a:extLst>
          </p:cNvPr>
          <p:cNvSpPr/>
          <p:nvPr/>
        </p:nvSpPr>
        <p:spPr>
          <a:xfrm>
            <a:off x="639186" y="3650653"/>
            <a:ext cx="1703562" cy="621792"/>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7" name="TextBox 6">
            <a:extLst>
              <a:ext uri="{FF2B5EF4-FFF2-40B4-BE49-F238E27FC236}">
                <a16:creationId xmlns:a16="http://schemas.microsoft.com/office/drawing/2014/main" id="{9504529E-E025-D026-D58F-50A69FC32A23}"/>
              </a:ext>
            </a:extLst>
          </p:cNvPr>
          <p:cNvSpPr txBox="1"/>
          <p:nvPr/>
        </p:nvSpPr>
        <p:spPr>
          <a:xfrm>
            <a:off x="1223133" y="3720100"/>
            <a:ext cx="1147425"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dirty="0">
                <a:solidFill>
                  <a:srgbClr val="2C2C2C"/>
                </a:solidFill>
              </a:rPr>
              <a:t>Anomaly Event</a:t>
            </a:r>
          </a:p>
        </p:txBody>
      </p:sp>
      <p:pic>
        <p:nvPicPr>
          <p:cNvPr id="9" name="Picture 8">
            <a:extLst>
              <a:ext uri="{FF2B5EF4-FFF2-40B4-BE49-F238E27FC236}">
                <a16:creationId xmlns:a16="http://schemas.microsoft.com/office/drawing/2014/main" id="{327B254D-35EE-74B7-8F03-48874A7796D0}"/>
              </a:ext>
            </a:extLst>
          </p:cNvPr>
          <p:cNvPicPr>
            <a:picLocks noChangeAspect="1"/>
          </p:cNvPicPr>
          <p:nvPr/>
        </p:nvPicPr>
        <p:blipFill>
          <a:blip r:embed="rId8"/>
          <a:stretch>
            <a:fillRect/>
          </a:stretch>
        </p:blipFill>
        <p:spPr>
          <a:xfrm>
            <a:off x="693227" y="3715133"/>
            <a:ext cx="475865" cy="475865"/>
          </a:xfrm>
          <a:prstGeom prst="rect">
            <a:avLst/>
          </a:prstGeom>
        </p:spPr>
      </p:pic>
      <p:sp>
        <p:nvSpPr>
          <p:cNvPr id="11" name="Rounded Rectangle 10">
            <a:extLst>
              <a:ext uri="{FF2B5EF4-FFF2-40B4-BE49-F238E27FC236}">
                <a16:creationId xmlns:a16="http://schemas.microsoft.com/office/drawing/2014/main" id="{5064D1A6-FE49-3443-C36E-250012B3FB01}"/>
              </a:ext>
            </a:extLst>
          </p:cNvPr>
          <p:cNvSpPr/>
          <p:nvPr/>
        </p:nvSpPr>
        <p:spPr>
          <a:xfrm>
            <a:off x="638726" y="4747657"/>
            <a:ext cx="1703562" cy="621792"/>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12" name="TextBox 11">
            <a:extLst>
              <a:ext uri="{FF2B5EF4-FFF2-40B4-BE49-F238E27FC236}">
                <a16:creationId xmlns:a16="http://schemas.microsoft.com/office/drawing/2014/main" id="{B6A7B832-51B4-82C7-A964-31CAAD1C1681}"/>
              </a:ext>
            </a:extLst>
          </p:cNvPr>
          <p:cNvSpPr txBox="1"/>
          <p:nvPr/>
        </p:nvSpPr>
        <p:spPr>
          <a:xfrm>
            <a:off x="1159167" y="4797828"/>
            <a:ext cx="1172509"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dirty="0">
                <a:solidFill>
                  <a:srgbClr val="2C2C2C"/>
                </a:solidFill>
              </a:rPr>
              <a:t>Performance Strategy Insight</a:t>
            </a:r>
          </a:p>
        </p:txBody>
      </p:sp>
      <p:pic>
        <p:nvPicPr>
          <p:cNvPr id="13" name="Picture 12">
            <a:extLst>
              <a:ext uri="{FF2B5EF4-FFF2-40B4-BE49-F238E27FC236}">
                <a16:creationId xmlns:a16="http://schemas.microsoft.com/office/drawing/2014/main" id="{27EC7AC3-5956-38CF-0DD3-F87070083875}"/>
              </a:ext>
            </a:extLst>
          </p:cNvPr>
          <p:cNvPicPr>
            <a:picLocks noChangeAspect="1"/>
          </p:cNvPicPr>
          <p:nvPr/>
        </p:nvPicPr>
        <p:blipFill>
          <a:blip r:embed="rId9"/>
          <a:stretch>
            <a:fillRect/>
          </a:stretch>
        </p:blipFill>
        <p:spPr>
          <a:xfrm>
            <a:off x="750702" y="4829044"/>
            <a:ext cx="408465" cy="408465"/>
          </a:xfrm>
          <a:prstGeom prst="rect">
            <a:avLst/>
          </a:prstGeom>
        </p:spPr>
      </p:pic>
      <p:cxnSp>
        <p:nvCxnSpPr>
          <p:cNvPr id="14" name="Straight Arrow Connector 13">
            <a:extLst>
              <a:ext uri="{FF2B5EF4-FFF2-40B4-BE49-F238E27FC236}">
                <a16:creationId xmlns:a16="http://schemas.microsoft.com/office/drawing/2014/main" id="{18F7BC85-800A-09E7-DB6D-F673745F2043}"/>
              </a:ext>
            </a:extLst>
          </p:cNvPr>
          <p:cNvCxnSpPr>
            <a:cxnSpLocks/>
            <a:stCxn id="4" idx="2"/>
            <a:endCxn id="6" idx="0"/>
          </p:cNvCxnSpPr>
          <p:nvPr/>
        </p:nvCxnSpPr>
        <p:spPr>
          <a:xfrm flipH="1">
            <a:off x="1490967" y="3170288"/>
            <a:ext cx="0" cy="480365"/>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5183028-44DB-7F38-CD9C-AAEBF346D721}"/>
              </a:ext>
            </a:extLst>
          </p:cNvPr>
          <p:cNvCxnSpPr>
            <a:cxnSpLocks/>
            <a:stCxn id="6" idx="2"/>
            <a:endCxn id="11" idx="0"/>
          </p:cNvCxnSpPr>
          <p:nvPr/>
        </p:nvCxnSpPr>
        <p:spPr>
          <a:xfrm flipH="1">
            <a:off x="1490507" y="4272445"/>
            <a:ext cx="460" cy="475212"/>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8896914-550F-2481-DDDA-4F41D09665EB}"/>
              </a:ext>
            </a:extLst>
          </p:cNvPr>
          <p:cNvSpPr txBox="1"/>
          <p:nvPr/>
        </p:nvSpPr>
        <p:spPr>
          <a:xfrm>
            <a:off x="1498827" y="3177060"/>
            <a:ext cx="831849"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dirty="0">
                <a:solidFill>
                  <a:schemeClr val="tx1">
                    <a:lumMod val="75000"/>
                  </a:schemeClr>
                </a:solidFill>
              </a:rPr>
              <a:t>1 -&gt; N</a:t>
            </a:r>
          </a:p>
        </p:txBody>
      </p:sp>
      <p:sp>
        <p:nvSpPr>
          <p:cNvPr id="17" name="TextBox 16">
            <a:extLst>
              <a:ext uri="{FF2B5EF4-FFF2-40B4-BE49-F238E27FC236}">
                <a16:creationId xmlns:a16="http://schemas.microsoft.com/office/drawing/2014/main" id="{04691BE8-099C-4F1E-630A-6A2F464219A5}"/>
              </a:ext>
            </a:extLst>
          </p:cNvPr>
          <p:cNvSpPr txBox="1"/>
          <p:nvPr/>
        </p:nvSpPr>
        <p:spPr>
          <a:xfrm>
            <a:off x="1499108" y="4272445"/>
            <a:ext cx="831849"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dirty="0">
                <a:solidFill>
                  <a:schemeClr val="tx1">
                    <a:lumMod val="75000"/>
                  </a:schemeClr>
                </a:solidFill>
              </a:rPr>
              <a:t>1 -&gt; 1</a:t>
            </a:r>
          </a:p>
        </p:txBody>
      </p:sp>
      <p:pic>
        <p:nvPicPr>
          <p:cNvPr id="18" name="Picture 17">
            <a:extLst>
              <a:ext uri="{FF2B5EF4-FFF2-40B4-BE49-F238E27FC236}">
                <a16:creationId xmlns:a16="http://schemas.microsoft.com/office/drawing/2014/main" id="{CF1303DB-7985-5D12-461F-1B920CD5806F}"/>
              </a:ext>
            </a:extLst>
          </p:cNvPr>
          <p:cNvPicPr>
            <a:picLocks noChangeAspect="1"/>
          </p:cNvPicPr>
          <p:nvPr/>
        </p:nvPicPr>
        <p:blipFill>
          <a:blip r:embed="rId10"/>
          <a:stretch>
            <a:fillRect/>
          </a:stretch>
        </p:blipFill>
        <p:spPr>
          <a:xfrm>
            <a:off x="768688" y="2632480"/>
            <a:ext cx="413235" cy="413235"/>
          </a:xfrm>
          <a:prstGeom prst="rect">
            <a:avLst/>
          </a:prstGeom>
        </p:spPr>
      </p:pic>
      <p:sp>
        <p:nvSpPr>
          <p:cNvPr id="22" name="TextBox 21">
            <a:extLst>
              <a:ext uri="{FF2B5EF4-FFF2-40B4-BE49-F238E27FC236}">
                <a16:creationId xmlns:a16="http://schemas.microsoft.com/office/drawing/2014/main" id="{8E931B95-9255-EA57-6300-BC3F96B6D59F}"/>
              </a:ext>
            </a:extLst>
          </p:cNvPr>
          <p:cNvSpPr txBox="1"/>
          <p:nvPr/>
        </p:nvSpPr>
        <p:spPr>
          <a:xfrm>
            <a:off x="2784779" y="2573286"/>
            <a:ext cx="8778571" cy="320613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numCol="2" spcCol="576000">
            <a:spAutoFit/>
          </a:bodyPr>
          <a:lstStyle/>
          <a:p>
            <a:pPr algn="ctr">
              <a:lnSpc>
                <a:spcPct val="130000"/>
              </a:lnSpc>
            </a:pPr>
            <a:r>
              <a:rPr lang="en-GB" sz="1400" b="1" dirty="0">
                <a:solidFill>
                  <a:srgbClr val="2C2C2C"/>
                </a:solidFill>
              </a:rPr>
              <a:t>Logical Model</a:t>
            </a:r>
          </a:p>
          <a:p>
            <a:pPr>
              <a:lnSpc>
                <a:spcPct val="130000"/>
              </a:lnSpc>
              <a:spcAft>
                <a:spcPts val="600"/>
              </a:spcAft>
            </a:pPr>
            <a:endParaRPr lang="en-GB" sz="1400" dirty="0">
              <a:solidFill>
                <a:srgbClr val="2C2C2C"/>
              </a:solidFill>
            </a:endParaRPr>
          </a:p>
          <a:p>
            <a:pPr marL="285750" indent="-285750">
              <a:lnSpc>
                <a:spcPct val="130000"/>
              </a:lnSpc>
              <a:spcAft>
                <a:spcPts val="600"/>
              </a:spcAft>
              <a:buFont typeface="Arial" panose="020B0604020202020204" pitchFamily="34" charset="0"/>
              <a:buChar char="•"/>
            </a:pPr>
            <a:r>
              <a:rPr lang="en-GB" sz="1400" dirty="0">
                <a:solidFill>
                  <a:srgbClr val="2C2C2C"/>
                </a:solidFill>
              </a:rPr>
              <a:t>Real-time telemetry (</a:t>
            </a:r>
            <a:r>
              <a:rPr lang="en-GB" sz="1400" dirty="0" err="1">
                <a:solidFill>
                  <a:srgbClr val="2C2C2C"/>
                </a:solidFill>
              </a:rPr>
              <a:t>TelemetryData</a:t>
            </a:r>
            <a:r>
              <a:rPr lang="en-GB" sz="1400" dirty="0">
                <a:solidFill>
                  <a:srgbClr val="2C2C2C"/>
                </a:solidFill>
              </a:rPr>
              <a:t>) captured from sensors.</a:t>
            </a:r>
          </a:p>
          <a:p>
            <a:pPr marL="285750" indent="-285750">
              <a:lnSpc>
                <a:spcPct val="130000"/>
              </a:lnSpc>
              <a:spcAft>
                <a:spcPts val="600"/>
              </a:spcAft>
              <a:buFont typeface="Arial" panose="020B0604020202020204" pitchFamily="34" charset="0"/>
              <a:buChar char="•"/>
            </a:pPr>
            <a:r>
              <a:rPr lang="en-GB" sz="1400" dirty="0">
                <a:solidFill>
                  <a:srgbClr val="2C2C2C"/>
                </a:solidFill>
              </a:rPr>
              <a:t>Anomalies (</a:t>
            </a:r>
            <a:r>
              <a:rPr lang="en-GB" sz="1400" dirty="0" err="1">
                <a:solidFill>
                  <a:srgbClr val="2C2C2C"/>
                </a:solidFill>
              </a:rPr>
              <a:t>AnomalyEvent</a:t>
            </a:r>
            <a:r>
              <a:rPr lang="en-GB" sz="1400" dirty="0">
                <a:solidFill>
                  <a:srgbClr val="2C2C2C"/>
                </a:solidFill>
              </a:rPr>
              <a:t>) detected by the Stream Processor.</a:t>
            </a:r>
          </a:p>
          <a:p>
            <a:pPr marL="285750" indent="-285750">
              <a:lnSpc>
                <a:spcPct val="130000"/>
              </a:lnSpc>
              <a:spcAft>
                <a:spcPts val="600"/>
              </a:spcAft>
              <a:buFont typeface="Arial" panose="020B0604020202020204" pitchFamily="34" charset="0"/>
              <a:buChar char="•"/>
            </a:pPr>
            <a:r>
              <a:rPr lang="en-GB" sz="1400" dirty="0">
                <a:solidFill>
                  <a:srgbClr val="2C2C2C"/>
                </a:solidFill>
              </a:rPr>
              <a:t>Strategic insights (</a:t>
            </a:r>
            <a:r>
              <a:rPr lang="en-GB" sz="1400" dirty="0" err="1">
                <a:solidFill>
                  <a:srgbClr val="2C2C2C"/>
                </a:solidFill>
              </a:rPr>
              <a:t>PerformanceStrategyInsight</a:t>
            </a:r>
            <a:r>
              <a:rPr lang="en-GB" sz="1400" dirty="0">
                <a:solidFill>
                  <a:srgbClr val="2C2C2C"/>
                </a:solidFill>
              </a:rPr>
              <a:t>) summarizing pit-stop recommendations</a:t>
            </a:r>
          </a:p>
          <a:p>
            <a:pPr>
              <a:lnSpc>
                <a:spcPct val="130000"/>
              </a:lnSpc>
            </a:pPr>
            <a:endParaRPr lang="en-GB" sz="1400" dirty="0">
              <a:solidFill>
                <a:srgbClr val="2C2C2C"/>
              </a:solidFill>
            </a:endParaRPr>
          </a:p>
          <a:p>
            <a:pPr algn="ctr">
              <a:lnSpc>
                <a:spcPct val="130000"/>
              </a:lnSpc>
            </a:pPr>
            <a:r>
              <a:rPr lang="en-GB" sz="1400" b="1" dirty="0">
                <a:solidFill>
                  <a:srgbClr val="2C2C2C"/>
                </a:solidFill>
              </a:rPr>
              <a:t>Physical Model</a:t>
            </a:r>
          </a:p>
          <a:p>
            <a:pPr>
              <a:lnSpc>
                <a:spcPct val="130000"/>
              </a:lnSpc>
            </a:pPr>
            <a:endParaRPr lang="en-GB" sz="1400" dirty="0">
              <a:solidFill>
                <a:srgbClr val="2C2C2C"/>
              </a:solidFill>
            </a:endParaRPr>
          </a:p>
          <a:p>
            <a:pPr marL="285750" indent="-285750">
              <a:lnSpc>
                <a:spcPct val="130000"/>
              </a:lnSpc>
              <a:spcAft>
                <a:spcPts val="600"/>
              </a:spcAft>
              <a:buFont typeface="Arial" panose="020B0604020202020204" pitchFamily="34" charset="0"/>
              <a:buChar char="•"/>
            </a:pPr>
            <a:r>
              <a:rPr lang="en-GB" sz="1400" dirty="0">
                <a:solidFill>
                  <a:srgbClr val="2C2C2C"/>
                </a:solidFill>
              </a:rPr>
              <a:t>Stored in PostgreSQL (</a:t>
            </a:r>
            <a:r>
              <a:rPr lang="en-GB" sz="1400" dirty="0" err="1">
                <a:solidFill>
                  <a:srgbClr val="2C2C2C"/>
                </a:solidFill>
              </a:rPr>
              <a:t>telemetry_data</a:t>
            </a:r>
            <a:r>
              <a:rPr lang="en-GB" sz="1400" dirty="0">
                <a:solidFill>
                  <a:srgbClr val="2C2C2C"/>
                </a:solidFill>
              </a:rPr>
              <a:t>, </a:t>
            </a:r>
            <a:r>
              <a:rPr lang="en-GB" sz="1400" dirty="0" err="1">
                <a:solidFill>
                  <a:srgbClr val="2C2C2C"/>
                </a:solidFill>
              </a:rPr>
              <a:t>telemetry_statistics</a:t>
            </a:r>
            <a:r>
              <a:rPr lang="en-GB" sz="1400" dirty="0">
                <a:solidFill>
                  <a:srgbClr val="2C2C2C"/>
                </a:solidFill>
              </a:rPr>
              <a:t>, </a:t>
            </a:r>
            <a:r>
              <a:rPr lang="en-GB" sz="1400" dirty="0" err="1">
                <a:solidFill>
                  <a:srgbClr val="2C2C2C"/>
                </a:solidFill>
              </a:rPr>
              <a:t>pitstop_recommendations</a:t>
            </a:r>
            <a:r>
              <a:rPr lang="en-GB" sz="1400" dirty="0">
                <a:solidFill>
                  <a:srgbClr val="2C2C2C"/>
                </a:solidFill>
              </a:rPr>
              <a:t>)</a:t>
            </a:r>
          </a:p>
          <a:p>
            <a:pPr marL="285750" indent="-285750">
              <a:lnSpc>
                <a:spcPct val="130000"/>
              </a:lnSpc>
              <a:spcAft>
                <a:spcPts val="600"/>
              </a:spcAft>
              <a:buFont typeface="Arial" panose="020B0604020202020204" pitchFamily="34" charset="0"/>
              <a:buChar char="•"/>
            </a:pPr>
            <a:r>
              <a:rPr lang="en-GB" sz="1400" dirty="0">
                <a:solidFill>
                  <a:srgbClr val="2C2C2C"/>
                </a:solidFill>
              </a:rPr>
              <a:t>Stream Processor feeds live data; Airflow aggregates post-race analytics</a:t>
            </a:r>
          </a:p>
          <a:p>
            <a:pPr marL="285750" indent="-285750">
              <a:lnSpc>
                <a:spcPct val="130000"/>
              </a:lnSpc>
              <a:spcAft>
                <a:spcPts val="600"/>
              </a:spcAft>
              <a:buFont typeface="Arial" panose="020B0604020202020204" pitchFamily="34" charset="0"/>
              <a:buChar char="•"/>
            </a:pPr>
            <a:r>
              <a:rPr lang="en-GB" sz="1400" dirty="0">
                <a:solidFill>
                  <a:srgbClr val="2C2C2C"/>
                </a:solidFill>
              </a:rPr>
              <a:t>Data serves dashboards and performance comparisons in Grafana</a:t>
            </a:r>
          </a:p>
        </p:txBody>
      </p:sp>
      <p:sp>
        <p:nvSpPr>
          <p:cNvPr id="24" name="TextBox 23">
            <a:extLst>
              <a:ext uri="{FF2B5EF4-FFF2-40B4-BE49-F238E27FC236}">
                <a16:creationId xmlns:a16="http://schemas.microsoft.com/office/drawing/2014/main" id="{CD3752D0-108F-06A3-190A-698C4C44F3CA}"/>
              </a:ext>
            </a:extLst>
          </p:cNvPr>
          <p:cNvSpPr txBox="1"/>
          <p:nvPr/>
        </p:nvSpPr>
        <p:spPr>
          <a:xfrm>
            <a:off x="2808646" y="-2471549"/>
            <a:ext cx="6098458" cy="1569660"/>
          </a:xfrm>
          <a:prstGeom prst="rect">
            <a:avLst/>
          </a:prstGeom>
          <a:solidFill>
            <a:schemeClr val="bg1"/>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600" b="1" dirty="0">
                <a:solidFill>
                  <a:srgbClr val="2C2C2C"/>
                </a:solidFill>
              </a:rPr>
              <a:t>Dual Data Flows</a:t>
            </a:r>
            <a:endParaRPr lang="en-GB" sz="1600" dirty="0">
              <a:solidFill>
                <a:srgbClr val="2C2C2C"/>
              </a:solidFill>
            </a:endParaRPr>
          </a:p>
          <a:p>
            <a:pPr>
              <a:buFont typeface="Arial" panose="020B0604020202020204" pitchFamily="34" charset="0"/>
              <a:buChar char="•"/>
            </a:pPr>
            <a:r>
              <a:rPr lang="en-GB" sz="1600" dirty="0">
                <a:solidFill>
                  <a:srgbClr val="2C2C2C"/>
                </a:solidFill>
              </a:rPr>
              <a:t>The platform relies on two complementary data flows:</a:t>
            </a:r>
          </a:p>
          <a:p>
            <a:pPr marL="742950" lvl="1" indent="-285750">
              <a:buFont typeface="Arial" panose="020B0604020202020204" pitchFamily="34" charset="0"/>
              <a:buChar char="•"/>
            </a:pPr>
            <a:r>
              <a:rPr lang="en-GB" sz="1600" b="1" dirty="0">
                <a:solidFill>
                  <a:srgbClr val="2C2C2C"/>
                </a:solidFill>
              </a:rPr>
              <a:t>Telemetry &amp; Analytics Flow</a:t>
            </a:r>
            <a:r>
              <a:rPr lang="en-GB" sz="1600" dirty="0">
                <a:solidFill>
                  <a:srgbClr val="2C2C2C"/>
                </a:solidFill>
              </a:rPr>
              <a:t> → business data processed through PostgreSQL for race insights.</a:t>
            </a:r>
          </a:p>
          <a:p>
            <a:pPr marL="742950" lvl="1" indent="-285750">
              <a:buFont typeface="Arial" panose="020B0604020202020204" pitchFamily="34" charset="0"/>
              <a:buChar char="•"/>
            </a:pPr>
            <a:r>
              <a:rPr lang="en-GB" sz="1600" b="1" dirty="0">
                <a:solidFill>
                  <a:srgbClr val="2C2C2C"/>
                </a:solidFill>
              </a:rPr>
              <a:t>Observability Flow</a:t>
            </a:r>
            <a:r>
              <a:rPr lang="en-GB" sz="1600" dirty="0">
                <a:solidFill>
                  <a:srgbClr val="2C2C2C"/>
                </a:solidFill>
              </a:rPr>
              <a:t> → Prometheus metrics for system health and performance monitoring.</a:t>
            </a:r>
          </a:p>
        </p:txBody>
      </p:sp>
      <p:sp>
        <p:nvSpPr>
          <p:cNvPr id="26" name="TextBox 25">
            <a:extLst>
              <a:ext uri="{FF2B5EF4-FFF2-40B4-BE49-F238E27FC236}">
                <a16:creationId xmlns:a16="http://schemas.microsoft.com/office/drawing/2014/main" id="{917C7023-402E-0151-A15F-C6CFDFFBDB72}"/>
              </a:ext>
            </a:extLst>
          </p:cNvPr>
          <p:cNvSpPr txBox="1"/>
          <p:nvPr/>
        </p:nvSpPr>
        <p:spPr>
          <a:xfrm>
            <a:off x="628650" y="1269156"/>
            <a:ext cx="8514121" cy="33855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600" dirty="0">
                <a:solidFill>
                  <a:srgbClr val="2C2C2C"/>
                </a:solidFill>
              </a:rPr>
              <a:t>Logical to Physical: From real-time streams to stored analytics powering race decisions.</a:t>
            </a:r>
          </a:p>
        </p:txBody>
      </p:sp>
      <p:sp>
        <p:nvSpPr>
          <p:cNvPr id="33" name="Rounded Rectangle 32">
            <a:extLst>
              <a:ext uri="{FF2B5EF4-FFF2-40B4-BE49-F238E27FC236}">
                <a16:creationId xmlns:a16="http://schemas.microsoft.com/office/drawing/2014/main" id="{4FF5E7E6-14EC-3F9A-07E6-59BB90D1741D}"/>
              </a:ext>
            </a:extLst>
          </p:cNvPr>
          <p:cNvSpPr/>
          <p:nvPr/>
        </p:nvSpPr>
        <p:spPr>
          <a:xfrm>
            <a:off x="2773448" y="2336804"/>
            <a:ext cx="4191474" cy="3518835"/>
          </a:xfrm>
          <a:prstGeom prst="roundRect">
            <a:avLst/>
          </a:prstGeom>
          <a:no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a:solidFill>
                <a:schemeClr val="bg1"/>
              </a:solidFill>
            </a:endParaRPr>
          </a:p>
        </p:txBody>
      </p:sp>
      <p:sp>
        <p:nvSpPr>
          <p:cNvPr id="34" name="Rounded Rectangle 33">
            <a:extLst>
              <a:ext uri="{FF2B5EF4-FFF2-40B4-BE49-F238E27FC236}">
                <a16:creationId xmlns:a16="http://schemas.microsoft.com/office/drawing/2014/main" id="{A299D5C2-CB12-468A-FCF9-BF8DBD51F6F8}"/>
              </a:ext>
            </a:extLst>
          </p:cNvPr>
          <p:cNvSpPr/>
          <p:nvPr/>
        </p:nvSpPr>
        <p:spPr>
          <a:xfrm>
            <a:off x="7351106" y="2365427"/>
            <a:ext cx="4191474" cy="3518835"/>
          </a:xfrm>
          <a:prstGeom prst="roundRect">
            <a:avLst/>
          </a:prstGeom>
          <a:no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a:solidFill>
                <a:schemeClr val="bg1"/>
              </a:solidFill>
            </a:endParaRPr>
          </a:p>
        </p:txBody>
      </p:sp>
    </p:spTree>
    <p:extLst>
      <p:ext uri="{BB962C8B-B14F-4D97-AF65-F5344CB8AC3E}">
        <p14:creationId xmlns:p14="http://schemas.microsoft.com/office/powerpoint/2010/main" val="1907900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1F062C7-872B-A95A-DC86-357FAA93BF41}"/>
              </a:ext>
            </a:extLst>
          </p:cNvPr>
          <p:cNvSpPr/>
          <p:nvPr/>
        </p:nvSpPr>
        <p:spPr bwMode="ltGray">
          <a:xfrm>
            <a:off x="8431613" y="-1309"/>
            <a:ext cx="3760387" cy="6859309"/>
          </a:xfrm>
          <a:prstGeom prst="rect">
            <a:avLst/>
          </a:prstGeom>
          <a:gradFill flip="none" rotWithShape="1">
            <a:gsLst>
              <a:gs pos="0">
                <a:srgbClr val="480B22"/>
              </a:gs>
              <a:gs pos="100000">
                <a:srgbClr val="7D0D2D">
                  <a:alpha val="90196"/>
                </a:srgbClr>
              </a:gs>
            </a:gsLst>
            <a:lin ang="10800000" scaled="1"/>
            <a:tileRect/>
          </a:gradFill>
          <a:ln w="127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graphicFrame>
        <p:nvGraphicFramePr>
          <p:cNvPr id="10" name="Object 9"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10" name="Object 9"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hidden="1"/>
          <p:cNvSpPr/>
          <p:nvPr>
            <p:custDataLst>
              <p:tags r:id="rId2"/>
            </p:custDataLst>
          </p:nvPr>
        </p:nvSpPr>
        <p:spPr bwMode="gray">
          <a:xfrm>
            <a:off x="0" y="0"/>
            <a:ext cx="158750" cy="158750"/>
          </a:xfrm>
          <a:prstGeom prst="rect">
            <a:avLst/>
          </a:prstGeom>
          <a:solidFill>
            <a:scrgbClr r="0" g="0" b="0"/>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none" lIns="0" tIns="0" rIns="0" bIns="0" numCol="1" spcCol="0" rtlCol="0" anchor="ctr" anchorCtr="0">
            <a:noAutofit/>
          </a:bodyPr>
          <a:lstStyle/>
          <a:p>
            <a:pPr algn="ctr">
              <a:spcBef>
                <a:spcPct val="0"/>
              </a:spcBef>
              <a:spcAft>
                <a:spcPct val="0"/>
              </a:spcAft>
              <a:buClr>
                <a:srgbClr val="86163D"/>
              </a:buClr>
              <a:buSzPct val="120000"/>
            </a:pPr>
            <a:endParaRPr lang="en-US" sz="1600" dirty="0">
              <a:solidFill>
                <a:srgbClr val="6E6F73"/>
              </a:solidFill>
              <a:latin typeface="Trebuchet MS" panose="020B0603020202020204" pitchFamily="34" charset="0"/>
              <a:sym typeface="Trebuchet MS" panose="020B0603020202020204" pitchFamily="34" charset="0"/>
            </a:endParaRPr>
          </a:p>
        </p:txBody>
      </p:sp>
      <p:sp>
        <p:nvSpPr>
          <p:cNvPr id="3" name="Title 2"/>
          <p:cNvSpPr>
            <a:spLocks noGrp="1"/>
          </p:cNvSpPr>
          <p:nvPr>
            <p:ph type="title"/>
          </p:nvPr>
        </p:nvSpPr>
        <p:spPr>
          <a:xfrm>
            <a:off x="630000" y="622300"/>
            <a:ext cx="7506610" cy="470898"/>
          </a:xfrm>
          <a:noFill/>
        </p:spPr>
        <p:txBody>
          <a:bodyPr wrap="square">
            <a:spAutoFit/>
          </a:bodyPr>
          <a:lstStyle/>
          <a:p>
            <a:r>
              <a:rPr lang="en-GB" dirty="0">
                <a:solidFill>
                  <a:srgbClr val="B71C1C"/>
                </a:solidFill>
              </a:rPr>
              <a:t>Observability Metrics Model</a:t>
            </a:r>
            <a:endParaRPr lang="en-US" dirty="0">
              <a:solidFill>
                <a:srgbClr val="B71C1C"/>
              </a:solidFill>
            </a:endParaRPr>
          </a:p>
        </p:txBody>
      </p:sp>
      <p:sp>
        <p:nvSpPr>
          <p:cNvPr id="51" name="TextBox 50">
            <a:extLst>
              <a:ext uri="{FF2B5EF4-FFF2-40B4-BE49-F238E27FC236}">
                <a16:creationId xmlns:a16="http://schemas.microsoft.com/office/drawing/2014/main" id="{9D57C27F-0886-C29E-DCAB-2D22FD23D5A2}"/>
              </a:ext>
            </a:extLst>
          </p:cNvPr>
          <p:cNvSpPr txBox="1"/>
          <p:nvPr/>
        </p:nvSpPr>
        <p:spPr>
          <a:xfrm>
            <a:off x="10464839" y="9870667"/>
            <a:ext cx="81774" cy="45719"/>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300" dirty="0">
                <a:solidFill>
                  <a:srgbClr val="2C2C2C"/>
                </a:solidFill>
              </a:rPr>
              <a:t>Storage Layer</a:t>
            </a:r>
          </a:p>
        </p:txBody>
      </p:sp>
      <p:sp>
        <p:nvSpPr>
          <p:cNvPr id="54" name="Rectangle 8">
            <a:extLst>
              <a:ext uri="{FF2B5EF4-FFF2-40B4-BE49-F238E27FC236}">
                <a16:creationId xmlns:a16="http://schemas.microsoft.com/office/drawing/2014/main" id="{E2008EEF-022D-C171-BB60-3E2BBC779ED8}"/>
              </a:ext>
            </a:extLst>
          </p:cNvPr>
          <p:cNvSpPr>
            <a:spLocks noChangeArrowheads="1"/>
          </p:cNvSpPr>
          <p:nvPr/>
        </p:nvSpPr>
        <p:spPr bwMode="auto">
          <a:xfrm>
            <a:off x="1595438" y="-7954406"/>
            <a:ext cx="812459" cy="53860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FFFFFF"/>
                </a:solidFill>
                <a:effectLst/>
                <a:latin typeface="ui-sans-serif"/>
                <a:hlinkClick r:id="rId7"/>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54">
            <a:extLst>
              <a:ext uri="{FF2B5EF4-FFF2-40B4-BE49-F238E27FC236}">
                <a16:creationId xmlns:a16="http://schemas.microsoft.com/office/drawing/2014/main" id="{7364E2FE-D374-BAA4-67BB-49533DD0EAE8}"/>
              </a:ext>
            </a:extLst>
          </p:cNvPr>
          <p:cNvSpPr/>
          <p:nvPr/>
        </p:nvSpPr>
        <p:spPr>
          <a:xfrm>
            <a:off x="11928764" y="3628028"/>
            <a:ext cx="263236" cy="3229972"/>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077" name="TextBox 2076">
            <a:extLst>
              <a:ext uri="{FF2B5EF4-FFF2-40B4-BE49-F238E27FC236}">
                <a16:creationId xmlns:a16="http://schemas.microsoft.com/office/drawing/2014/main" id="{FE017684-8C68-A16A-8CE0-C84D37D697B5}"/>
              </a:ext>
            </a:extLst>
          </p:cNvPr>
          <p:cNvSpPr txBox="1"/>
          <p:nvPr/>
        </p:nvSpPr>
        <p:spPr>
          <a:xfrm>
            <a:off x="3526971" y="365760"/>
            <a:ext cx="0" cy="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4" name="TextBox 3">
            <a:extLst>
              <a:ext uri="{FF2B5EF4-FFF2-40B4-BE49-F238E27FC236}">
                <a16:creationId xmlns:a16="http://schemas.microsoft.com/office/drawing/2014/main" id="{AFCF2866-3F41-844A-A051-E2F8305668B4}"/>
              </a:ext>
            </a:extLst>
          </p:cNvPr>
          <p:cNvSpPr txBox="1"/>
          <p:nvPr/>
        </p:nvSpPr>
        <p:spPr>
          <a:xfrm>
            <a:off x="8118153" y="1211449"/>
            <a:ext cx="0" cy="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5" name="Rounded Rectangle 4">
            <a:extLst>
              <a:ext uri="{FF2B5EF4-FFF2-40B4-BE49-F238E27FC236}">
                <a16:creationId xmlns:a16="http://schemas.microsoft.com/office/drawing/2014/main" id="{4F2C4432-F2E0-E7B0-ECE0-97517CAD783B}"/>
              </a:ext>
            </a:extLst>
          </p:cNvPr>
          <p:cNvSpPr/>
          <p:nvPr/>
        </p:nvSpPr>
        <p:spPr>
          <a:xfrm>
            <a:off x="9303681" y="575129"/>
            <a:ext cx="1716261" cy="1031916"/>
          </a:xfrm>
          <a:prstGeom prst="roundRect">
            <a:avLst/>
          </a:prstGeom>
          <a:solidFill>
            <a:schemeClr val="bg1"/>
          </a:solidFill>
          <a:ln w="12700"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6" name="TextBox 5">
            <a:extLst>
              <a:ext uri="{FF2B5EF4-FFF2-40B4-BE49-F238E27FC236}">
                <a16:creationId xmlns:a16="http://schemas.microsoft.com/office/drawing/2014/main" id="{6A6FDF68-88E0-EE41-7FD9-A3B6349B1688}"/>
              </a:ext>
            </a:extLst>
          </p:cNvPr>
          <p:cNvSpPr txBox="1"/>
          <p:nvPr/>
        </p:nvSpPr>
        <p:spPr>
          <a:xfrm>
            <a:off x="9870279" y="695116"/>
            <a:ext cx="1062646" cy="3096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F1 car sensors</a:t>
            </a:r>
          </a:p>
        </p:txBody>
      </p:sp>
      <p:sp>
        <p:nvSpPr>
          <p:cNvPr id="7" name="TextBox 6">
            <a:extLst>
              <a:ext uri="{FF2B5EF4-FFF2-40B4-BE49-F238E27FC236}">
                <a16:creationId xmlns:a16="http://schemas.microsoft.com/office/drawing/2014/main" id="{D033F7C2-80E3-11C6-0AAD-DA6A55EDBC5C}"/>
              </a:ext>
            </a:extLst>
          </p:cNvPr>
          <p:cNvSpPr txBox="1"/>
          <p:nvPr/>
        </p:nvSpPr>
        <p:spPr>
          <a:xfrm>
            <a:off x="9329864" y="1080679"/>
            <a:ext cx="1716261" cy="4380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900" dirty="0">
                <a:solidFill>
                  <a:srgbClr val="2C2C2C"/>
                </a:solidFill>
              </a:rPr>
              <a:t>Generates metrics (</a:t>
            </a:r>
            <a:r>
              <a:rPr lang="en-GB" sz="900" dirty="0" err="1">
                <a:solidFill>
                  <a:srgbClr val="2C2C2C"/>
                </a:solidFill>
              </a:rPr>
              <a:t>engine_temp</a:t>
            </a:r>
            <a:r>
              <a:rPr lang="en-GB" sz="900" dirty="0">
                <a:solidFill>
                  <a:srgbClr val="2C2C2C"/>
                </a:solidFill>
              </a:rPr>
              <a:t>, rpm)</a:t>
            </a:r>
          </a:p>
        </p:txBody>
      </p:sp>
      <p:sp>
        <p:nvSpPr>
          <p:cNvPr id="9" name="Rounded Rectangle 8">
            <a:extLst>
              <a:ext uri="{FF2B5EF4-FFF2-40B4-BE49-F238E27FC236}">
                <a16:creationId xmlns:a16="http://schemas.microsoft.com/office/drawing/2014/main" id="{CCB07101-C6C6-C775-A9F5-90B55F8C4E01}"/>
              </a:ext>
            </a:extLst>
          </p:cNvPr>
          <p:cNvSpPr/>
          <p:nvPr/>
        </p:nvSpPr>
        <p:spPr>
          <a:xfrm>
            <a:off x="9303681" y="2072697"/>
            <a:ext cx="1716261" cy="1157989"/>
          </a:xfrm>
          <a:prstGeom prst="roundRect">
            <a:avLst/>
          </a:prstGeom>
          <a:solidFill>
            <a:schemeClr val="bg1"/>
          </a:solidFill>
          <a:ln w="12700"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pic>
        <p:nvPicPr>
          <p:cNvPr id="11" name="Picture 10">
            <a:extLst>
              <a:ext uri="{FF2B5EF4-FFF2-40B4-BE49-F238E27FC236}">
                <a16:creationId xmlns:a16="http://schemas.microsoft.com/office/drawing/2014/main" id="{EA685505-23A7-E77C-7AB4-D745025E623F}"/>
              </a:ext>
            </a:extLst>
          </p:cNvPr>
          <p:cNvPicPr>
            <a:picLocks noChangeAspect="1"/>
          </p:cNvPicPr>
          <p:nvPr/>
        </p:nvPicPr>
        <p:blipFill>
          <a:blip r:embed="rId8"/>
          <a:stretch>
            <a:fillRect/>
          </a:stretch>
        </p:blipFill>
        <p:spPr>
          <a:xfrm>
            <a:off x="9443093" y="2214810"/>
            <a:ext cx="309600" cy="309600"/>
          </a:xfrm>
          <a:prstGeom prst="rect">
            <a:avLst/>
          </a:prstGeom>
        </p:spPr>
      </p:pic>
      <p:sp>
        <p:nvSpPr>
          <p:cNvPr id="12" name="TextBox 11">
            <a:extLst>
              <a:ext uri="{FF2B5EF4-FFF2-40B4-BE49-F238E27FC236}">
                <a16:creationId xmlns:a16="http://schemas.microsoft.com/office/drawing/2014/main" id="{54540DFD-69D2-AE54-5026-A989C1DC221C}"/>
              </a:ext>
            </a:extLst>
          </p:cNvPr>
          <p:cNvSpPr txBox="1"/>
          <p:nvPr/>
        </p:nvSpPr>
        <p:spPr>
          <a:xfrm>
            <a:off x="9852901" y="2215235"/>
            <a:ext cx="1097402" cy="3096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Stream Processor</a:t>
            </a:r>
          </a:p>
        </p:txBody>
      </p:sp>
      <p:sp>
        <p:nvSpPr>
          <p:cNvPr id="13" name="TextBox 12">
            <a:extLst>
              <a:ext uri="{FF2B5EF4-FFF2-40B4-BE49-F238E27FC236}">
                <a16:creationId xmlns:a16="http://schemas.microsoft.com/office/drawing/2014/main" id="{F3AF5E70-9312-D66D-9D92-92D415E9BC98}"/>
              </a:ext>
            </a:extLst>
          </p:cNvPr>
          <p:cNvSpPr txBox="1"/>
          <p:nvPr/>
        </p:nvSpPr>
        <p:spPr>
          <a:xfrm>
            <a:off x="9318660" y="2651691"/>
            <a:ext cx="1716261" cy="4380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900" dirty="0">
                <a:solidFill>
                  <a:srgbClr val="2C2C2C"/>
                </a:solidFill>
              </a:rPr>
              <a:t>Exposes /metrics </a:t>
            </a:r>
          </a:p>
          <a:p>
            <a:pPr algn="ctr"/>
            <a:r>
              <a:rPr lang="en-GB" sz="900" dirty="0">
                <a:solidFill>
                  <a:srgbClr val="2C2C2C"/>
                </a:solidFill>
              </a:rPr>
              <a:t>Counts </a:t>
            </a:r>
            <a:r>
              <a:rPr lang="en-GB" sz="900" dirty="0" err="1">
                <a:solidFill>
                  <a:srgbClr val="2C2C2C"/>
                </a:solidFill>
              </a:rPr>
              <a:t>msgs</a:t>
            </a:r>
            <a:r>
              <a:rPr lang="en-GB" sz="900" dirty="0">
                <a:solidFill>
                  <a:srgbClr val="2C2C2C"/>
                </a:solidFill>
              </a:rPr>
              <a:t>, latency histograms</a:t>
            </a:r>
          </a:p>
        </p:txBody>
      </p:sp>
      <p:pic>
        <p:nvPicPr>
          <p:cNvPr id="14" name="Picture 13">
            <a:extLst>
              <a:ext uri="{FF2B5EF4-FFF2-40B4-BE49-F238E27FC236}">
                <a16:creationId xmlns:a16="http://schemas.microsoft.com/office/drawing/2014/main" id="{2098EEDF-D460-3A2F-C434-D93A909310F0}"/>
              </a:ext>
            </a:extLst>
          </p:cNvPr>
          <p:cNvPicPr>
            <a:picLocks noChangeAspect="1"/>
          </p:cNvPicPr>
          <p:nvPr/>
        </p:nvPicPr>
        <p:blipFill rotWithShape="1">
          <a:blip r:embed="rId9"/>
          <a:srcRect b="34128"/>
          <a:stretch/>
        </p:blipFill>
        <p:spPr>
          <a:xfrm>
            <a:off x="9443093" y="700617"/>
            <a:ext cx="470005" cy="309600"/>
          </a:xfrm>
          <a:prstGeom prst="rect">
            <a:avLst/>
          </a:prstGeom>
          <a:noFill/>
        </p:spPr>
      </p:pic>
      <p:sp>
        <p:nvSpPr>
          <p:cNvPr id="15" name="Rounded Rectangle 14">
            <a:extLst>
              <a:ext uri="{FF2B5EF4-FFF2-40B4-BE49-F238E27FC236}">
                <a16:creationId xmlns:a16="http://schemas.microsoft.com/office/drawing/2014/main" id="{EA3EB5CD-3672-5C11-5211-8D8E7B74728A}"/>
              </a:ext>
            </a:extLst>
          </p:cNvPr>
          <p:cNvSpPr/>
          <p:nvPr/>
        </p:nvSpPr>
        <p:spPr>
          <a:xfrm>
            <a:off x="9303289" y="3726380"/>
            <a:ext cx="1716261" cy="1031916"/>
          </a:xfrm>
          <a:prstGeom prst="roundRect">
            <a:avLst/>
          </a:prstGeom>
          <a:solidFill>
            <a:schemeClr val="bg1"/>
          </a:solidFill>
          <a:ln w="12700"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16" name="TextBox 15">
            <a:extLst>
              <a:ext uri="{FF2B5EF4-FFF2-40B4-BE49-F238E27FC236}">
                <a16:creationId xmlns:a16="http://schemas.microsoft.com/office/drawing/2014/main" id="{98E73054-FB33-5CBE-1F82-900B9051230A}"/>
              </a:ext>
            </a:extLst>
          </p:cNvPr>
          <p:cNvSpPr txBox="1"/>
          <p:nvPr/>
        </p:nvSpPr>
        <p:spPr>
          <a:xfrm>
            <a:off x="9852509" y="3868917"/>
            <a:ext cx="1097402" cy="3096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Prometheus</a:t>
            </a:r>
          </a:p>
        </p:txBody>
      </p:sp>
      <p:sp>
        <p:nvSpPr>
          <p:cNvPr id="17" name="TextBox 16">
            <a:extLst>
              <a:ext uri="{FF2B5EF4-FFF2-40B4-BE49-F238E27FC236}">
                <a16:creationId xmlns:a16="http://schemas.microsoft.com/office/drawing/2014/main" id="{671F3A22-329F-AB3C-8D0B-A50A70679295}"/>
              </a:ext>
            </a:extLst>
          </p:cNvPr>
          <p:cNvSpPr txBox="1"/>
          <p:nvPr/>
        </p:nvSpPr>
        <p:spPr>
          <a:xfrm>
            <a:off x="9318268" y="4211576"/>
            <a:ext cx="1716261" cy="4380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900" dirty="0">
                <a:solidFill>
                  <a:srgbClr val="2C2C2C"/>
                </a:solidFill>
              </a:rPr>
              <a:t>Scrapes metrics </a:t>
            </a:r>
          </a:p>
          <a:p>
            <a:pPr algn="ctr"/>
            <a:r>
              <a:rPr lang="en-GB" sz="900" dirty="0">
                <a:solidFill>
                  <a:srgbClr val="2C2C2C"/>
                </a:solidFill>
              </a:rPr>
              <a:t>Stores in TSDB</a:t>
            </a:r>
          </a:p>
          <a:p>
            <a:pPr algn="ctr"/>
            <a:r>
              <a:rPr lang="en-GB" sz="900" dirty="0">
                <a:solidFill>
                  <a:srgbClr val="2C2C2C"/>
                </a:solidFill>
              </a:rPr>
              <a:t>Evaluates alerts</a:t>
            </a:r>
          </a:p>
        </p:txBody>
      </p:sp>
      <p:pic>
        <p:nvPicPr>
          <p:cNvPr id="18" name="Picture 17">
            <a:extLst>
              <a:ext uri="{FF2B5EF4-FFF2-40B4-BE49-F238E27FC236}">
                <a16:creationId xmlns:a16="http://schemas.microsoft.com/office/drawing/2014/main" id="{C947C54A-EAA9-798C-F7AB-493DAB21E2DC}"/>
              </a:ext>
            </a:extLst>
          </p:cNvPr>
          <p:cNvPicPr>
            <a:picLocks noChangeAspect="1"/>
          </p:cNvPicPr>
          <p:nvPr/>
        </p:nvPicPr>
        <p:blipFill>
          <a:blip r:embed="rId10">
            <a:extLst>
              <a:ext uri="{BEBA8EAE-BF5A-486C-A8C5-ECC9F3942E4B}">
                <a14:imgProps xmlns:a14="http://schemas.microsoft.com/office/drawing/2010/main">
                  <a14:imgLayer r:embed="rId11">
                    <a14:imgEffect>
                      <a14:artisticMarker/>
                    </a14:imgEffect>
                    <a14:imgEffect>
                      <a14:sharpenSoften amount="-25000"/>
                    </a14:imgEffect>
                    <a14:imgEffect>
                      <a14:colorTemperature colorTemp="5900"/>
                    </a14:imgEffect>
                    <a14:imgEffect>
                      <a14:saturation sat="300000"/>
                    </a14:imgEffect>
                    <a14:imgEffect>
                      <a14:brightnessContrast bright="-20000"/>
                    </a14:imgEffect>
                  </a14:imgLayer>
                </a14:imgProps>
              </a:ext>
            </a:extLst>
          </a:blip>
          <a:stretch>
            <a:fillRect/>
          </a:stretch>
        </p:blipFill>
        <p:spPr>
          <a:xfrm>
            <a:off x="9448416" y="3875607"/>
            <a:ext cx="309600" cy="309600"/>
          </a:xfrm>
          <a:prstGeom prst="rect">
            <a:avLst/>
          </a:prstGeom>
          <a:noFill/>
        </p:spPr>
      </p:pic>
      <p:sp>
        <p:nvSpPr>
          <p:cNvPr id="19" name="Rounded Rectangle 18">
            <a:extLst>
              <a:ext uri="{FF2B5EF4-FFF2-40B4-BE49-F238E27FC236}">
                <a16:creationId xmlns:a16="http://schemas.microsoft.com/office/drawing/2014/main" id="{2EFCF7ED-DF06-5B05-03C3-67362B892A5D}"/>
              </a:ext>
            </a:extLst>
          </p:cNvPr>
          <p:cNvSpPr/>
          <p:nvPr/>
        </p:nvSpPr>
        <p:spPr>
          <a:xfrm>
            <a:off x="9303252" y="5271244"/>
            <a:ext cx="1716261" cy="1078406"/>
          </a:xfrm>
          <a:prstGeom prst="roundRect">
            <a:avLst/>
          </a:prstGeom>
          <a:solidFill>
            <a:schemeClr val="bg1"/>
          </a:solidFill>
          <a:ln w="12700"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0" name="TextBox 19">
            <a:extLst>
              <a:ext uri="{FF2B5EF4-FFF2-40B4-BE49-F238E27FC236}">
                <a16:creationId xmlns:a16="http://schemas.microsoft.com/office/drawing/2014/main" id="{561134AF-25A6-76EA-DEDC-6CE964C66F8E}"/>
              </a:ext>
            </a:extLst>
          </p:cNvPr>
          <p:cNvSpPr txBox="1"/>
          <p:nvPr/>
        </p:nvSpPr>
        <p:spPr>
          <a:xfrm>
            <a:off x="9852472" y="5413781"/>
            <a:ext cx="1097402" cy="3096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Grafana</a:t>
            </a:r>
          </a:p>
        </p:txBody>
      </p:sp>
      <p:sp>
        <p:nvSpPr>
          <p:cNvPr id="21" name="TextBox 20">
            <a:extLst>
              <a:ext uri="{FF2B5EF4-FFF2-40B4-BE49-F238E27FC236}">
                <a16:creationId xmlns:a16="http://schemas.microsoft.com/office/drawing/2014/main" id="{EB978D37-AF36-B181-C4F5-E838DEF9D0CF}"/>
              </a:ext>
            </a:extLst>
          </p:cNvPr>
          <p:cNvSpPr txBox="1"/>
          <p:nvPr/>
        </p:nvSpPr>
        <p:spPr>
          <a:xfrm>
            <a:off x="9318232" y="5795616"/>
            <a:ext cx="1660120" cy="4380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900" dirty="0">
                <a:solidFill>
                  <a:srgbClr val="2C2C2C"/>
                </a:solidFill>
              </a:rPr>
              <a:t> Visualises real-time metrics</a:t>
            </a:r>
          </a:p>
          <a:p>
            <a:pPr algn="ctr"/>
            <a:r>
              <a:rPr lang="en-GB" sz="900" dirty="0">
                <a:solidFill>
                  <a:srgbClr val="2C2C2C"/>
                </a:solidFill>
              </a:rPr>
              <a:t>Dashboards for system health</a:t>
            </a:r>
          </a:p>
        </p:txBody>
      </p:sp>
      <p:pic>
        <p:nvPicPr>
          <p:cNvPr id="22" name="Picture 21">
            <a:extLst>
              <a:ext uri="{FF2B5EF4-FFF2-40B4-BE49-F238E27FC236}">
                <a16:creationId xmlns:a16="http://schemas.microsoft.com/office/drawing/2014/main" id="{976E5416-22FA-DB81-36AD-7B88B0254F8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443093" y="5405940"/>
            <a:ext cx="309600" cy="309600"/>
          </a:xfrm>
          <a:prstGeom prst="rect">
            <a:avLst/>
          </a:prstGeom>
          <a:noFill/>
        </p:spPr>
      </p:pic>
      <p:cxnSp>
        <p:nvCxnSpPr>
          <p:cNvPr id="23" name="Straight Arrow Connector 22">
            <a:extLst>
              <a:ext uri="{FF2B5EF4-FFF2-40B4-BE49-F238E27FC236}">
                <a16:creationId xmlns:a16="http://schemas.microsoft.com/office/drawing/2014/main" id="{1AA5E8D2-31A4-B1CB-FF90-868E81020583}"/>
              </a:ext>
            </a:extLst>
          </p:cNvPr>
          <p:cNvCxnSpPr>
            <a:cxnSpLocks/>
            <a:stCxn id="5" idx="2"/>
            <a:endCxn id="9" idx="0"/>
          </p:cNvCxnSpPr>
          <p:nvPr/>
        </p:nvCxnSpPr>
        <p:spPr>
          <a:xfrm>
            <a:off x="10161812" y="1607045"/>
            <a:ext cx="0" cy="465652"/>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627D92F-D76C-6CF3-7975-5ADCBD4FCC24}"/>
              </a:ext>
            </a:extLst>
          </p:cNvPr>
          <p:cNvCxnSpPr>
            <a:cxnSpLocks/>
            <a:endCxn id="15" idx="0"/>
          </p:cNvCxnSpPr>
          <p:nvPr/>
        </p:nvCxnSpPr>
        <p:spPr>
          <a:xfrm flipH="1">
            <a:off x="10161420" y="3089720"/>
            <a:ext cx="392" cy="636660"/>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35C729E-71A9-9417-930C-F680B54D4F44}"/>
              </a:ext>
            </a:extLst>
          </p:cNvPr>
          <p:cNvCxnSpPr>
            <a:cxnSpLocks/>
            <a:stCxn id="15" idx="2"/>
            <a:endCxn id="19" idx="0"/>
          </p:cNvCxnSpPr>
          <p:nvPr/>
        </p:nvCxnSpPr>
        <p:spPr>
          <a:xfrm flipH="1">
            <a:off x="10161383" y="4758296"/>
            <a:ext cx="37" cy="512948"/>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BBFDA65-CB60-CD39-90D0-12FAD75D91AE}"/>
              </a:ext>
            </a:extLst>
          </p:cNvPr>
          <p:cNvSpPr txBox="1"/>
          <p:nvPr/>
        </p:nvSpPr>
        <p:spPr>
          <a:xfrm>
            <a:off x="1604020" y="-1162139"/>
            <a:ext cx="991492" cy="396160"/>
          </a:xfrm>
          <a:prstGeom prst="rect">
            <a:avLst/>
          </a:prstGeom>
          <a:solidFill>
            <a:schemeClr val="bg1"/>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2C2C2C"/>
              </a:solidFill>
            </a:endParaRPr>
          </a:p>
        </p:txBody>
      </p:sp>
      <p:cxnSp>
        <p:nvCxnSpPr>
          <p:cNvPr id="29" name="Straight Arrow Connector 28">
            <a:extLst>
              <a:ext uri="{FF2B5EF4-FFF2-40B4-BE49-F238E27FC236}">
                <a16:creationId xmlns:a16="http://schemas.microsoft.com/office/drawing/2014/main" id="{924BBDBE-FEB3-4362-DEEE-B21B3B79A28B}"/>
              </a:ext>
            </a:extLst>
          </p:cNvPr>
          <p:cNvCxnSpPr>
            <a:cxnSpLocks/>
          </p:cNvCxnSpPr>
          <p:nvPr/>
        </p:nvCxnSpPr>
        <p:spPr>
          <a:xfrm>
            <a:off x="6625034" y="-3156896"/>
            <a:ext cx="0" cy="337631"/>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a:extLst>
              <a:ext uri="{FF2B5EF4-FFF2-40B4-BE49-F238E27FC236}">
                <a16:creationId xmlns:a16="http://schemas.microsoft.com/office/drawing/2014/main" id="{6ED44DA4-E52A-DDEF-CA00-ACD428341764}"/>
              </a:ext>
            </a:extLst>
          </p:cNvPr>
          <p:cNvGraphicFramePr>
            <a:graphicFrameLocks noGrp="1"/>
          </p:cNvGraphicFramePr>
          <p:nvPr>
            <p:extLst>
              <p:ext uri="{D42A27DB-BD31-4B8C-83A1-F6EECF244321}">
                <p14:modId xmlns:p14="http://schemas.microsoft.com/office/powerpoint/2010/main" val="3258122527"/>
              </p:ext>
            </p:extLst>
          </p:nvPr>
        </p:nvGraphicFramePr>
        <p:xfrm>
          <a:off x="1847976" y="-2875178"/>
          <a:ext cx="6410393" cy="2073537"/>
        </p:xfrm>
        <a:graphic>
          <a:graphicData uri="http://schemas.openxmlformats.org/drawingml/2006/table">
            <a:tbl>
              <a:tblPr/>
              <a:tblGrid>
                <a:gridCol w="2782787">
                  <a:extLst>
                    <a:ext uri="{9D8B030D-6E8A-4147-A177-3AD203B41FA5}">
                      <a16:colId xmlns:a16="http://schemas.microsoft.com/office/drawing/2014/main" val="277045123"/>
                    </a:ext>
                  </a:extLst>
                </a:gridCol>
                <a:gridCol w="3627606">
                  <a:extLst>
                    <a:ext uri="{9D8B030D-6E8A-4147-A177-3AD203B41FA5}">
                      <a16:colId xmlns:a16="http://schemas.microsoft.com/office/drawing/2014/main" val="1984482614"/>
                    </a:ext>
                  </a:extLst>
                </a:gridCol>
              </a:tblGrid>
              <a:tr h="203772">
                <a:tc>
                  <a:txBody>
                    <a:bodyPr/>
                    <a:lstStyle/>
                    <a:p>
                      <a:pPr algn="r"/>
                      <a:r>
                        <a:rPr lang="en-GB" sz="1400" b="1">
                          <a:solidFill>
                            <a:srgbClr val="2C2C2C"/>
                          </a:solidFill>
                        </a:rPr>
                        <a:t>Service</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chemeClr val="bg1"/>
                    </a:solidFill>
                  </a:tcPr>
                </a:tc>
                <a:tc>
                  <a:txBody>
                    <a:bodyPr/>
                    <a:lstStyle/>
                    <a:p>
                      <a:r>
                        <a:rPr lang="en-GB" sz="1400" b="1" dirty="0">
                          <a:solidFill>
                            <a:srgbClr val="2C2C2C"/>
                          </a:solidFill>
                        </a:rPr>
                        <a:t>Purpose</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1241200"/>
                  </a:ext>
                </a:extLst>
              </a:tr>
              <a:tr h="510637">
                <a:tc>
                  <a:txBody>
                    <a:bodyPr/>
                    <a:lstStyle/>
                    <a:p>
                      <a:pPr algn="r"/>
                      <a:r>
                        <a:rPr lang="en-GB" sz="1400" b="0" dirty="0">
                          <a:solidFill>
                            <a:srgbClr val="2C2C2C"/>
                          </a:solidFill>
                        </a:rPr>
                        <a:t>F1 Car Simulator</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400" b="0" dirty="0">
                          <a:solidFill>
                            <a:srgbClr val="2C2C2C"/>
                          </a:solidFill>
                        </a:rPr>
                        <a:t>Monitor generation rate and engine temperature trends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40328072"/>
                  </a:ext>
                </a:extLst>
              </a:tr>
              <a:tr h="510637">
                <a:tc>
                  <a:txBody>
                    <a:bodyPr/>
                    <a:lstStyle/>
                    <a:p>
                      <a:pPr algn="r"/>
                      <a:r>
                        <a:rPr lang="en-GB" sz="1400" b="0">
                          <a:solidFill>
                            <a:srgbClr val="2C2C2C"/>
                          </a:solidFill>
                        </a:rPr>
                        <a:t>Stream Processor</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400" b="0" dirty="0">
                          <a:solidFill>
                            <a:srgbClr val="2C2C2C"/>
                          </a:solidFill>
                        </a:rPr>
                        <a:t>Track throughput, latency, and performance quality</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3363896"/>
                  </a:ext>
                </a:extLst>
              </a:tr>
              <a:tr h="392797">
                <a:tc>
                  <a:txBody>
                    <a:bodyPr/>
                    <a:lstStyle/>
                    <a:p>
                      <a:pPr algn="r"/>
                      <a:r>
                        <a:rPr lang="en-GB" sz="1400" b="0" dirty="0">
                          <a:solidFill>
                            <a:srgbClr val="2C2C2C"/>
                          </a:solidFill>
                        </a:rPr>
                        <a:t>Airflow</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1400" b="0" dirty="0">
                          <a:solidFill>
                            <a:srgbClr val="2C2C2C"/>
                          </a:solidFill>
                        </a:rPr>
                        <a:t>Monitor workflow stability</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7596442"/>
                  </a:ext>
                </a:extLst>
              </a:tr>
              <a:tr h="339620">
                <a:tc>
                  <a:txBody>
                    <a:bodyPr/>
                    <a:lstStyle/>
                    <a:p>
                      <a:pPr algn="r"/>
                      <a:r>
                        <a:rPr lang="en-GB" sz="1400" b="0" dirty="0">
                          <a:solidFill>
                            <a:srgbClr val="2C2C2C"/>
                          </a:solidFill>
                        </a:rPr>
                        <a:t>Prometheus</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solidFill>
                  </a:tcPr>
                </a:tc>
                <a:tc>
                  <a:txBody>
                    <a:bodyPr/>
                    <a:lstStyle/>
                    <a:p>
                      <a:r>
                        <a:rPr lang="en-GB" sz="1400" b="0" dirty="0">
                          <a:solidFill>
                            <a:srgbClr val="2C2C2C"/>
                          </a:solidFill>
                        </a:rPr>
                        <a:t>Ensure scrape health and DB performance</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chemeClr val="bg1"/>
                    </a:solidFill>
                  </a:tcPr>
                </a:tc>
                <a:extLst>
                  <a:ext uri="{0D108BD9-81ED-4DB2-BD59-A6C34878D82A}">
                    <a16:rowId xmlns:a16="http://schemas.microsoft.com/office/drawing/2014/main" val="3255619419"/>
                  </a:ext>
                </a:extLst>
              </a:tr>
            </a:tbl>
          </a:graphicData>
        </a:graphic>
      </p:graphicFrame>
      <p:pic>
        <p:nvPicPr>
          <p:cNvPr id="31" name="Picture 30">
            <a:extLst>
              <a:ext uri="{FF2B5EF4-FFF2-40B4-BE49-F238E27FC236}">
                <a16:creationId xmlns:a16="http://schemas.microsoft.com/office/drawing/2014/main" id="{F15E05C4-EB7C-A2DB-C00D-B704875EFCFC}"/>
              </a:ext>
            </a:extLst>
          </p:cNvPr>
          <p:cNvPicPr>
            <a:picLocks noChangeAspect="1"/>
          </p:cNvPicPr>
          <p:nvPr/>
        </p:nvPicPr>
        <p:blipFill rotWithShape="1">
          <a:blip r:embed="rId9"/>
          <a:srcRect b="34128"/>
          <a:stretch/>
        </p:blipFill>
        <p:spPr>
          <a:xfrm>
            <a:off x="1476782" y="-2484278"/>
            <a:ext cx="382562" cy="252000"/>
          </a:xfrm>
          <a:prstGeom prst="rect">
            <a:avLst/>
          </a:prstGeom>
          <a:solidFill>
            <a:schemeClr val="bg1"/>
          </a:solidFill>
        </p:spPr>
      </p:pic>
      <p:pic>
        <p:nvPicPr>
          <p:cNvPr id="32" name="Picture 31">
            <a:extLst>
              <a:ext uri="{FF2B5EF4-FFF2-40B4-BE49-F238E27FC236}">
                <a16:creationId xmlns:a16="http://schemas.microsoft.com/office/drawing/2014/main" id="{899EF98C-6696-B721-FC35-8360267D1F3F}"/>
              </a:ext>
            </a:extLst>
          </p:cNvPr>
          <p:cNvPicPr>
            <a:picLocks noChangeAspect="1"/>
          </p:cNvPicPr>
          <p:nvPr/>
        </p:nvPicPr>
        <p:blipFill>
          <a:blip r:embed="rId8"/>
          <a:stretch>
            <a:fillRect/>
          </a:stretch>
        </p:blipFill>
        <p:spPr>
          <a:xfrm>
            <a:off x="1496867" y="-1978600"/>
            <a:ext cx="309600" cy="309600"/>
          </a:xfrm>
          <a:prstGeom prst="rect">
            <a:avLst/>
          </a:prstGeom>
          <a:solidFill>
            <a:schemeClr val="bg1"/>
          </a:solidFill>
        </p:spPr>
      </p:pic>
      <p:pic>
        <p:nvPicPr>
          <p:cNvPr id="33" name="Picture 32">
            <a:extLst>
              <a:ext uri="{FF2B5EF4-FFF2-40B4-BE49-F238E27FC236}">
                <a16:creationId xmlns:a16="http://schemas.microsoft.com/office/drawing/2014/main" id="{801BED06-F2A0-4998-7C9E-94CC9EFEBDCB}"/>
              </a:ext>
            </a:extLst>
          </p:cNvPr>
          <p:cNvPicPr>
            <a:picLocks noChangeAspect="1"/>
          </p:cNvPicPr>
          <p:nvPr/>
        </p:nvPicPr>
        <p:blipFill>
          <a:blip r:embed="rId10">
            <a:extLst>
              <a:ext uri="{BEBA8EAE-BF5A-486C-A8C5-ECC9F3942E4B}">
                <a14:imgProps xmlns:a14="http://schemas.microsoft.com/office/drawing/2010/main">
                  <a14:imgLayer r:embed="rId11">
                    <a14:imgEffect>
                      <a14:artisticMarker/>
                    </a14:imgEffect>
                    <a14:imgEffect>
                      <a14:sharpenSoften amount="-25000"/>
                    </a14:imgEffect>
                    <a14:imgEffect>
                      <a14:colorTemperature colorTemp="5900"/>
                    </a14:imgEffect>
                    <a14:imgEffect>
                      <a14:saturation sat="300000"/>
                    </a14:imgEffect>
                    <a14:imgEffect>
                      <a14:brightnessContrast bright="-20000"/>
                    </a14:imgEffect>
                  </a14:imgLayer>
                </a14:imgProps>
              </a:ext>
            </a:extLst>
          </a:blip>
          <a:stretch>
            <a:fillRect/>
          </a:stretch>
        </p:blipFill>
        <p:spPr>
          <a:xfrm>
            <a:off x="1510143" y="-1146979"/>
            <a:ext cx="309600" cy="309600"/>
          </a:xfrm>
          <a:prstGeom prst="rect">
            <a:avLst/>
          </a:prstGeom>
          <a:solidFill>
            <a:schemeClr val="bg1"/>
          </a:solidFill>
        </p:spPr>
      </p:pic>
      <p:pic>
        <p:nvPicPr>
          <p:cNvPr id="34" name="Picture 2">
            <a:extLst>
              <a:ext uri="{FF2B5EF4-FFF2-40B4-BE49-F238E27FC236}">
                <a16:creationId xmlns:a16="http://schemas.microsoft.com/office/drawing/2014/main" id="{0073B897-8F96-838D-256A-B3E9282F2D2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10143" y="-1503388"/>
            <a:ext cx="252000" cy="252000"/>
          </a:xfrm>
          <a:prstGeom prst="rect">
            <a:avLst/>
          </a:prstGeom>
          <a:solidFill>
            <a:schemeClr val="bg1"/>
          </a:solidFill>
        </p:spPr>
      </p:pic>
      <p:pic>
        <p:nvPicPr>
          <p:cNvPr id="38" name="Picture 37">
            <a:extLst>
              <a:ext uri="{FF2B5EF4-FFF2-40B4-BE49-F238E27FC236}">
                <a16:creationId xmlns:a16="http://schemas.microsoft.com/office/drawing/2014/main" id="{7A12FE54-C878-E329-95FE-BE744B9D97F5}"/>
              </a:ext>
            </a:extLst>
          </p:cNvPr>
          <p:cNvPicPr>
            <a:picLocks noChangeAspect="1"/>
          </p:cNvPicPr>
          <p:nvPr/>
        </p:nvPicPr>
        <p:blipFill rotWithShape="1">
          <a:blip r:embed="rId9"/>
          <a:srcRect b="34128"/>
          <a:stretch/>
        </p:blipFill>
        <p:spPr>
          <a:xfrm>
            <a:off x="984916" y="2478576"/>
            <a:ext cx="929079" cy="612000"/>
          </a:xfrm>
          <a:prstGeom prst="rect">
            <a:avLst/>
          </a:prstGeom>
          <a:noFill/>
        </p:spPr>
      </p:pic>
      <p:pic>
        <p:nvPicPr>
          <p:cNvPr id="39" name="Picture 38">
            <a:extLst>
              <a:ext uri="{FF2B5EF4-FFF2-40B4-BE49-F238E27FC236}">
                <a16:creationId xmlns:a16="http://schemas.microsoft.com/office/drawing/2014/main" id="{52ABBD90-0B03-5B10-578F-98B41C65ED5F}"/>
              </a:ext>
            </a:extLst>
          </p:cNvPr>
          <p:cNvPicPr>
            <a:picLocks noChangeAspect="1"/>
          </p:cNvPicPr>
          <p:nvPr/>
        </p:nvPicPr>
        <p:blipFill>
          <a:blip r:embed="rId8"/>
          <a:stretch>
            <a:fillRect/>
          </a:stretch>
        </p:blipFill>
        <p:spPr>
          <a:xfrm>
            <a:off x="2905157" y="2478576"/>
            <a:ext cx="612000" cy="612000"/>
          </a:xfrm>
          <a:prstGeom prst="rect">
            <a:avLst/>
          </a:prstGeom>
          <a:noFill/>
        </p:spPr>
      </p:pic>
      <p:pic>
        <p:nvPicPr>
          <p:cNvPr id="40" name="Picture 2">
            <a:extLst>
              <a:ext uri="{FF2B5EF4-FFF2-40B4-BE49-F238E27FC236}">
                <a16:creationId xmlns:a16="http://schemas.microsoft.com/office/drawing/2014/main" id="{AF93133C-76D7-28CE-D939-12FF3D5EB86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94434" y="2478576"/>
            <a:ext cx="612000" cy="612000"/>
          </a:xfrm>
          <a:prstGeom prst="rect">
            <a:avLst/>
          </a:prstGeom>
          <a:noFill/>
        </p:spPr>
      </p:pic>
      <p:pic>
        <p:nvPicPr>
          <p:cNvPr id="41" name="Picture 40">
            <a:extLst>
              <a:ext uri="{FF2B5EF4-FFF2-40B4-BE49-F238E27FC236}">
                <a16:creationId xmlns:a16="http://schemas.microsoft.com/office/drawing/2014/main" id="{A02DCBBE-6822-7358-3685-19B0840214EE}"/>
              </a:ext>
            </a:extLst>
          </p:cNvPr>
          <p:cNvPicPr>
            <a:picLocks noChangeAspect="1"/>
          </p:cNvPicPr>
          <p:nvPr/>
        </p:nvPicPr>
        <p:blipFill>
          <a:blip r:embed="rId10">
            <a:extLst>
              <a:ext uri="{BEBA8EAE-BF5A-486C-A8C5-ECC9F3942E4B}">
                <a14:imgProps xmlns:a14="http://schemas.microsoft.com/office/drawing/2010/main">
                  <a14:imgLayer r:embed="rId11">
                    <a14:imgEffect>
                      <a14:artisticMarker/>
                    </a14:imgEffect>
                    <a14:imgEffect>
                      <a14:sharpenSoften amount="-25000"/>
                    </a14:imgEffect>
                    <a14:imgEffect>
                      <a14:colorTemperature colorTemp="5900"/>
                    </a14:imgEffect>
                    <a14:imgEffect>
                      <a14:saturation sat="300000"/>
                    </a14:imgEffect>
                    <a14:imgEffect>
                      <a14:brightnessContrast bright="-20000"/>
                    </a14:imgEffect>
                  </a14:imgLayer>
                </a14:imgProps>
              </a:ext>
            </a:extLst>
          </a:blip>
          <a:stretch>
            <a:fillRect/>
          </a:stretch>
        </p:blipFill>
        <p:spPr>
          <a:xfrm>
            <a:off x="4849795" y="2478576"/>
            <a:ext cx="612000" cy="612000"/>
          </a:xfrm>
          <a:prstGeom prst="rect">
            <a:avLst/>
          </a:prstGeom>
          <a:noFill/>
        </p:spPr>
      </p:pic>
      <p:sp>
        <p:nvSpPr>
          <p:cNvPr id="43" name="TextBox 42">
            <a:extLst>
              <a:ext uri="{FF2B5EF4-FFF2-40B4-BE49-F238E27FC236}">
                <a16:creationId xmlns:a16="http://schemas.microsoft.com/office/drawing/2014/main" id="{C4ECC9E0-C9B5-4D96-053F-C93794C0C3D5}"/>
              </a:ext>
            </a:extLst>
          </p:cNvPr>
          <p:cNvSpPr txBox="1"/>
          <p:nvPr/>
        </p:nvSpPr>
        <p:spPr>
          <a:xfrm>
            <a:off x="619760" y="3498091"/>
            <a:ext cx="1632894" cy="58477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600" b="0" dirty="0">
                <a:solidFill>
                  <a:srgbClr val="B71C1C"/>
                </a:solidFill>
              </a:rPr>
              <a:t>F1 Car Simulator</a:t>
            </a:r>
            <a:endParaRPr lang="en-GB" sz="1600" dirty="0">
              <a:solidFill>
                <a:srgbClr val="B71C1C"/>
              </a:solidFill>
            </a:endParaRPr>
          </a:p>
        </p:txBody>
      </p:sp>
      <p:sp>
        <p:nvSpPr>
          <p:cNvPr id="44" name="TextBox 43">
            <a:extLst>
              <a:ext uri="{FF2B5EF4-FFF2-40B4-BE49-F238E27FC236}">
                <a16:creationId xmlns:a16="http://schemas.microsoft.com/office/drawing/2014/main" id="{89101862-8BB2-0368-B25F-CAE5E4483082}"/>
              </a:ext>
            </a:extLst>
          </p:cNvPr>
          <p:cNvSpPr txBox="1"/>
          <p:nvPr/>
        </p:nvSpPr>
        <p:spPr>
          <a:xfrm>
            <a:off x="2407897" y="3486333"/>
            <a:ext cx="1632893" cy="58477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600" dirty="0">
                <a:solidFill>
                  <a:srgbClr val="B71C1C"/>
                </a:solidFill>
              </a:rPr>
              <a:t>Stream Processor</a:t>
            </a:r>
          </a:p>
        </p:txBody>
      </p:sp>
      <p:sp>
        <p:nvSpPr>
          <p:cNvPr id="45" name="TextBox 44">
            <a:extLst>
              <a:ext uri="{FF2B5EF4-FFF2-40B4-BE49-F238E27FC236}">
                <a16:creationId xmlns:a16="http://schemas.microsoft.com/office/drawing/2014/main" id="{74D034B6-2317-6FEB-8B16-991F6DBC69DD}"/>
              </a:ext>
            </a:extLst>
          </p:cNvPr>
          <p:cNvSpPr txBox="1"/>
          <p:nvPr/>
        </p:nvSpPr>
        <p:spPr>
          <a:xfrm>
            <a:off x="4344304" y="3502169"/>
            <a:ext cx="1632893" cy="33855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600" dirty="0">
                <a:solidFill>
                  <a:srgbClr val="B71C1C"/>
                </a:solidFill>
              </a:rPr>
              <a:t>Prometheus</a:t>
            </a:r>
          </a:p>
        </p:txBody>
      </p:sp>
      <p:sp>
        <p:nvSpPr>
          <p:cNvPr id="46" name="TextBox 45">
            <a:extLst>
              <a:ext uri="{FF2B5EF4-FFF2-40B4-BE49-F238E27FC236}">
                <a16:creationId xmlns:a16="http://schemas.microsoft.com/office/drawing/2014/main" id="{4A540215-2999-A8D8-4535-C37C5D5998FB}"/>
              </a:ext>
            </a:extLst>
          </p:cNvPr>
          <p:cNvSpPr txBox="1"/>
          <p:nvPr/>
        </p:nvSpPr>
        <p:spPr>
          <a:xfrm>
            <a:off x="6294005" y="3502169"/>
            <a:ext cx="1632893" cy="33855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600" dirty="0">
                <a:solidFill>
                  <a:srgbClr val="B71C1C"/>
                </a:solidFill>
              </a:rPr>
              <a:t>Airflow</a:t>
            </a:r>
          </a:p>
        </p:txBody>
      </p:sp>
      <p:sp>
        <p:nvSpPr>
          <p:cNvPr id="47" name="TextBox 46">
            <a:extLst>
              <a:ext uri="{FF2B5EF4-FFF2-40B4-BE49-F238E27FC236}">
                <a16:creationId xmlns:a16="http://schemas.microsoft.com/office/drawing/2014/main" id="{11D6B6FA-7764-64CD-F047-62DC214A2545}"/>
              </a:ext>
            </a:extLst>
          </p:cNvPr>
          <p:cNvSpPr txBox="1"/>
          <p:nvPr/>
        </p:nvSpPr>
        <p:spPr>
          <a:xfrm>
            <a:off x="657362" y="4399620"/>
            <a:ext cx="1595292" cy="6463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200" b="0" dirty="0">
                <a:solidFill>
                  <a:srgbClr val="2C2C2C"/>
                </a:solidFill>
              </a:rPr>
              <a:t>Monitor generation rate and engine temperature trends</a:t>
            </a:r>
          </a:p>
        </p:txBody>
      </p:sp>
      <p:sp>
        <p:nvSpPr>
          <p:cNvPr id="48" name="TextBox 47">
            <a:extLst>
              <a:ext uri="{FF2B5EF4-FFF2-40B4-BE49-F238E27FC236}">
                <a16:creationId xmlns:a16="http://schemas.microsoft.com/office/drawing/2014/main" id="{65BD0AEF-BE4D-0F14-CF4A-2674D46D67E5}"/>
              </a:ext>
            </a:extLst>
          </p:cNvPr>
          <p:cNvSpPr txBox="1"/>
          <p:nvPr/>
        </p:nvSpPr>
        <p:spPr>
          <a:xfrm>
            <a:off x="2413107" y="4400325"/>
            <a:ext cx="1595292" cy="6463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200" b="0" dirty="0">
                <a:solidFill>
                  <a:srgbClr val="2C2C2C"/>
                </a:solidFill>
              </a:rPr>
              <a:t>Track throughput, latency, and performance quality</a:t>
            </a:r>
          </a:p>
        </p:txBody>
      </p:sp>
      <p:sp>
        <p:nvSpPr>
          <p:cNvPr id="49" name="TextBox 48">
            <a:extLst>
              <a:ext uri="{FF2B5EF4-FFF2-40B4-BE49-F238E27FC236}">
                <a16:creationId xmlns:a16="http://schemas.microsoft.com/office/drawing/2014/main" id="{38EC32F3-067F-71B7-4B02-B0022B9F37A7}"/>
              </a:ext>
            </a:extLst>
          </p:cNvPr>
          <p:cNvSpPr txBox="1"/>
          <p:nvPr/>
        </p:nvSpPr>
        <p:spPr>
          <a:xfrm>
            <a:off x="4342304" y="4399923"/>
            <a:ext cx="1595292"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200" b="0" dirty="0">
                <a:solidFill>
                  <a:srgbClr val="2C2C2C"/>
                </a:solidFill>
              </a:rPr>
              <a:t>Monitor workflow stability</a:t>
            </a:r>
          </a:p>
        </p:txBody>
      </p:sp>
      <p:sp>
        <p:nvSpPr>
          <p:cNvPr id="50" name="TextBox 49">
            <a:extLst>
              <a:ext uri="{FF2B5EF4-FFF2-40B4-BE49-F238E27FC236}">
                <a16:creationId xmlns:a16="http://schemas.microsoft.com/office/drawing/2014/main" id="{17859A85-0303-8B4B-1A88-ABBF457A4EA9}"/>
              </a:ext>
            </a:extLst>
          </p:cNvPr>
          <p:cNvSpPr txBox="1"/>
          <p:nvPr/>
        </p:nvSpPr>
        <p:spPr>
          <a:xfrm>
            <a:off x="6294005" y="4331119"/>
            <a:ext cx="1595292" cy="6463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200" b="0" dirty="0">
                <a:solidFill>
                  <a:srgbClr val="2C2C2C"/>
                </a:solidFill>
              </a:rPr>
              <a:t>Ensure scrape health and DB performance</a:t>
            </a:r>
          </a:p>
        </p:txBody>
      </p:sp>
    </p:spTree>
    <p:extLst>
      <p:ext uri="{BB962C8B-B14F-4D97-AF65-F5344CB8AC3E}">
        <p14:creationId xmlns:p14="http://schemas.microsoft.com/office/powerpoint/2010/main" val="61797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10" name="Object 9"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hidden="1"/>
          <p:cNvSpPr/>
          <p:nvPr>
            <p:custDataLst>
              <p:tags r:id="rId2"/>
            </p:custDataLst>
          </p:nvPr>
        </p:nvSpPr>
        <p:spPr bwMode="gray">
          <a:xfrm>
            <a:off x="0" y="0"/>
            <a:ext cx="158750" cy="158750"/>
          </a:xfrm>
          <a:prstGeom prst="rect">
            <a:avLst/>
          </a:prstGeom>
          <a:solidFill>
            <a:scrgbClr r="0" g="0" b="0"/>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none" lIns="0" tIns="0" rIns="0" bIns="0" numCol="1" spcCol="0" rtlCol="0" anchor="ctr" anchorCtr="0">
            <a:noAutofit/>
          </a:bodyPr>
          <a:lstStyle/>
          <a:p>
            <a:pPr algn="ctr">
              <a:spcBef>
                <a:spcPct val="0"/>
              </a:spcBef>
              <a:spcAft>
                <a:spcPct val="0"/>
              </a:spcAft>
              <a:buClr>
                <a:srgbClr val="86163D"/>
              </a:buClr>
              <a:buSzPct val="120000"/>
            </a:pPr>
            <a:endParaRPr lang="en-US" sz="1600" dirty="0">
              <a:solidFill>
                <a:srgbClr val="6E6F73"/>
              </a:solidFill>
              <a:latin typeface="Trebuchet MS" panose="020B0603020202020204" pitchFamily="34" charset="0"/>
              <a:sym typeface="Trebuchet MS" panose="020B0603020202020204" pitchFamily="34" charset="0"/>
            </a:endParaRPr>
          </a:p>
        </p:txBody>
      </p:sp>
      <p:sp>
        <p:nvSpPr>
          <p:cNvPr id="3" name="Title 2"/>
          <p:cNvSpPr>
            <a:spLocks noGrp="1"/>
          </p:cNvSpPr>
          <p:nvPr>
            <p:ph type="title"/>
          </p:nvPr>
        </p:nvSpPr>
        <p:spPr>
          <a:xfrm>
            <a:off x="630000" y="622300"/>
            <a:ext cx="7506610" cy="470898"/>
          </a:xfrm>
          <a:noFill/>
        </p:spPr>
        <p:txBody>
          <a:bodyPr wrap="square">
            <a:spAutoFit/>
          </a:bodyPr>
          <a:lstStyle/>
          <a:p>
            <a:r>
              <a:rPr lang="en-GB" dirty="0">
                <a:solidFill>
                  <a:srgbClr val="B71C1C"/>
                </a:solidFill>
              </a:rPr>
              <a:t>Demo</a:t>
            </a:r>
            <a:endParaRPr lang="en-US" dirty="0">
              <a:solidFill>
                <a:srgbClr val="B71C1C"/>
              </a:solidFill>
            </a:endParaRPr>
          </a:p>
        </p:txBody>
      </p:sp>
      <p:sp>
        <p:nvSpPr>
          <p:cNvPr id="51" name="TextBox 50">
            <a:extLst>
              <a:ext uri="{FF2B5EF4-FFF2-40B4-BE49-F238E27FC236}">
                <a16:creationId xmlns:a16="http://schemas.microsoft.com/office/drawing/2014/main" id="{9D57C27F-0886-C29E-DCAB-2D22FD23D5A2}"/>
              </a:ext>
            </a:extLst>
          </p:cNvPr>
          <p:cNvSpPr txBox="1"/>
          <p:nvPr/>
        </p:nvSpPr>
        <p:spPr>
          <a:xfrm>
            <a:off x="10464839" y="9870667"/>
            <a:ext cx="81774" cy="45719"/>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300" dirty="0">
                <a:solidFill>
                  <a:srgbClr val="2C2C2C"/>
                </a:solidFill>
              </a:rPr>
              <a:t>Storage Layer</a:t>
            </a:r>
          </a:p>
        </p:txBody>
      </p:sp>
      <p:sp>
        <p:nvSpPr>
          <p:cNvPr id="54" name="Rectangle 8">
            <a:extLst>
              <a:ext uri="{FF2B5EF4-FFF2-40B4-BE49-F238E27FC236}">
                <a16:creationId xmlns:a16="http://schemas.microsoft.com/office/drawing/2014/main" id="{E2008EEF-022D-C171-BB60-3E2BBC779ED8}"/>
              </a:ext>
            </a:extLst>
          </p:cNvPr>
          <p:cNvSpPr>
            <a:spLocks noChangeArrowheads="1"/>
          </p:cNvSpPr>
          <p:nvPr/>
        </p:nvSpPr>
        <p:spPr bwMode="auto">
          <a:xfrm>
            <a:off x="1595438" y="-7954406"/>
            <a:ext cx="812459" cy="53860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FFFFFF"/>
                </a:solidFill>
                <a:effectLst/>
                <a:latin typeface="ui-sans-serif"/>
                <a:hlinkClick r:id="rId7"/>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54">
            <a:extLst>
              <a:ext uri="{FF2B5EF4-FFF2-40B4-BE49-F238E27FC236}">
                <a16:creationId xmlns:a16="http://schemas.microsoft.com/office/drawing/2014/main" id="{7364E2FE-D374-BAA4-67BB-49533DD0EAE8}"/>
              </a:ext>
            </a:extLst>
          </p:cNvPr>
          <p:cNvSpPr/>
          <p:nvPr/>
        </p:nvSpPr>
        <p:spPr>
          <a:xfrm>
            <a:off x="11928764" y="3628028"/>
            <a:ext cx="263236" cy="3229972"/>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077" name="TextBox 2076">
            <a:extLst>
              <a:ext uri="{FF2B5EF4-FFF2-40B4-BE49-F238E27FC236}">
                <a16:creationId xmlns:a16="http://schemas.microsoft.com/office/drawing/2014/main" id="{FE017684-8C68-A16A-8CE0-C84D37D697B5}"/>
              </a:ext>
            </a:extLst>
          </p:cNvPr>
          <p:cNvSpPr txBox="1"/>
          <p:nvPr/>
        </p:nvSpPr>
        <p:spPr>
          <a:xfrm>
            <a:off x="3526971" y="365760"/>
            <a:ext cx="0" cy="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2" name="Rectangle 1">
            <a:extLst>
              <a:ext uri="{FF2B5EF4-FFF2-40B4-BE49-F238E27FC236}">
                <a16:creationId xmlns:a16="http://schemas.microsoft.com/office/drawing/2014/main" id="{95590276-4041-EDA5-EF7F-DFB284DA0C1B}"/>
              </a:ext>
            </a:extLst>
          </p:cNvPr>
          <p:cNvSpPr/>
          <p:nvPr/>
        </p:nvSpPr>
        <p:spPr>
          <a:xfrm>
            <a:off x="11928764" y="3425260"/>
            <a:ext cx="263236" cy="3229972"/>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Tree>
    <p:extLst>
      <p:ext uri="{BB962C8B-B14F-4D97-AF65-F5344CB8AC3E}">
        <p14:creationId xmlns:p14="http://schemas.microsoft.com/office/powerpoint/2010/main" val="41451496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10" name="Object 9"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hidden="1"/>
          <p:cNvSpPr/>
          <p:nvPr>
            <p:custDataLst>
              <p:tags r:id="rId2"/>
            </p:custDataLst>
          </p:nvPr>
        </p:nvSpPr>
        <p:spPr bwMode="gray">
          <a:xfrm>
            <a:off x="0" y="0"/>
            <a:ext cx="158750" cy="158750"/>
          </a:xfrm>
          <a:prstGeom prst="rect">
            <a:avLst/>
          </a:prstGeom>
          <a:solidFill>
            <a:scrgbClr r="0" g="0" b="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spcCol="0" rtlCol="0" anchor="ctr" anchorCtr="0">
            <a:noAutofit/>
          </a:bodyPr>
          <a:lstStyle/>
          <a:p>
            <a:pPr algn="ctr">
              <a:spcBef>
                <a:spcPct val="0"/>
              </a:spcBef>
              <a:spcAft>
                <a:spcPct val="0"/>
              </a:spcAft>
              <a:buClr>
                <a:srgbClr val="86163D"/>
              </a:buClr>
              <a:buSzPct val="120000"/>
            </a:pPr>
            <a:endParaRPr lang="en-US" sz="1600" dirty="0">
              <a:solidFill>
                <a:srgbClr val="6E6F73"/>
              </a:solidFill>
              <a:latin typeface="Trebuchet MS" panose="020B0603020202020204" pitchFamily="34" charset="0"/>
              <a:sym typeface="Trebuchet MS" panose="020B0603020202020204" pitchFamily="34" charset="0"/>
            </a:endParaRPr>
          </a:p>
        </p:txBody>
      </p:sp>
      <p:sp>
        <p:nvSpPr>
          <p:cNvPr id="3" name="Title 2"/>
          <p:cNvSpPr>
            <a:spLocks noGrp="1"/>
          </p:cNvSpPr>
          <p:nvPr>
            <p:ph type="title"/>
          </p:nvPr>
        </p:nvSpPr>
        <p:spPr>
          <a:xfrm>
            <a:off x="630000" y="622300"/>
            <a:ext cx="7506610" cy="470898"/>
          </a:xfrm>
          <a:noFill/>
        </p:spPr>
        <p:txBody>
          <a:bodyPr wrap="square">
            <a:spAutoFit/>
          </a:bodyPr>
          <a:lstStyle/>
          <a:p>
            <a:r>
              <a:rPr lang="en-GB" dirty="0">
                <a:solidFill>
                  <a:srgbClr val="B71C1C"/>
                </a:solidFill>
              </a:rPr>
              <a:t>Grafana Dashboard</a:t>
            </a:r>
            <a:endParaRPr lang="en-US" dirty="0">
              <a:solidFill>
                <a:srgbClr val="B71C1C"/>
              </a:solidFill>
            </a:endParaRPr>
          </a:p>
        </p:txBody>
      </p:sp>
      <p:sp>
        <p:nvSpPr>
          <p:cNvPr id="51" name="TextBox 50">
            <a:extLst>
              <a:ext uri="{FF2B5EF4-FFF2-40B4-BE49-F238E27FC236}">
                <a16:creationId xmlns:a16="http://schemas.microsoft.com/office/drawing/2014/main" id="{9D57C27F-0886-C29E-DCAB-2D22FD23D5A2}"/>
              </a:ext>
            </a:extLst>
          </p:cNvPr>
          <p:cNvSpPr txBox="1"/>
          <p:nvPr/>
        </p:nvSpPr>
        <p:spPr>
          <a:xfrm>
            <a:off x="10464839" y="9870667"/>
            <a:ext cx="81774" cy="45719"/>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300" dirty="0">
                <a:solidFill>
                  <a:srgbClr val="2C2C2C"/>
                </a:solidFill>
              </a:rPr>
              <a:t>Storage Layer</a:t>
            </a:r>
          </a:p>
        </p:txBody>
      </p:sp>
      <p:sp>
        <p:nvSpPr>
          <p:cNvPr id="54" name="Rectangle 8">
            <a:extLst>
              <a:ext uri="{FF2B5EF4-FFF2-40B4-BE49-F238E27FC236}">
                <a16:creationId xmlns:a16="http://schemas.microsoft.com/office/drawing/2014/main" id="{E2008EEF-022D-C171-BB60-3E2BBC779ED8}"/>
              </a:ext>
            </a:extLst>
          </p:cNvPr>
          <p:cNvSpPr>
            <a:spLocks noChangeArrowheads="1"/>
          </p:cNvSpPr>
          <p:nvPr/>
        </p:nvSpPr>
        <p:spPr bwMode="auto">
          <a:xfrm>
            <a:off x="1595438" y="-7954406"/>
            <a:ext cx="812459" cy="53860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FFFFFF"/>
                </a:solidFill>
                <a:effectLst/>
                <a:latin typeface="ui-sans-serif"/>
                <a:hlinkClick r:id="rId7"/>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54">
            <a:extLst>
              <a:ext uri="{FF2B5EF4-FFF2-40B4-BE49-F238E27FC236}">
                <a16:creationId xmlns:a16="http://schemas.microsoft.com/office/drawing/2014/main" id="{7364E2FE-D374-BAA4-67BB-49533DD0EAE8}"/>
              </a:ext>
            </a:extLst>
          </p:cNvPr>
          <p:cNvSpPr/>
          <p:nvPr/>
        </p:nvSpPr>
        <p:spPr>
          <a:xfrm>
            <a:off x="11928764" y="3628028"/>
            <a:ext cx="263236" cy="3229972"/>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077" name="TextBox 2076">
            <a:extLst>
              <a:ext uri="{FF2B5EF4-FFF2-40B4-BE49-F238E27FC236}">
                <a16:creationId xmlns:a16="http://schemas.microsoft.com/office/drawing/2014/main" id="{FE017684-8C68-A16A-8CE0-C84D37D697B5}"/>
              </a:ext>
            </a:extLst>
          </p:cNvPr>
          <p:cNvSpPr txBox="1"/>
          <p:nvPr/>
        </p:nvSpPr>
        <p:spPr>
          <a:xfrm>
            <a:off x="3526971" y="365760"/>
            <a:ext cx="0" cy="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pic>
        <p:nvPicPr>
          <p:cNvPr id="4" name="Picture 3">
            <a:extLst>
              <a:ext uri="{FF2B5EF4-FFF2-40B4-BE49-F238E27FC236}">
                <a16:creationId xmlns:a16="http://schemas.microsoft.com/office/drawing/2014/main" id="{C0B18E7E-A75E-3DAB-4DCF-41808AE794A6}"/>
              </a:ext>
            </a:extLst>
          </p:cNvPr>
          <p:cNvPicPr>
            <a:picLocks noChangeAspect="1"/>
          </p:cNvPicPr>
          <p:nvPr/>
        </p:nvPicPr>
        <p:blipFill>
          <a:blip r:embed="rId8"/>
          <a:stretch>
            <a:fillRect/>
          </a:stretch>
        </p:blipFill>
        <p:spPr>
          <a:xfrm>
            <a:off x="1255636" y="1509718"/>
            <a:ext cx="9680727" cy="4721269"/>
          </a:xfrm>
          <a:prstGeom prst="rect">
            <a:avLst/>
          </a:prstGeom>
        </p:spPr>
      </p:pic>
      <p:sp>
        <p:nvSpPr>
          <p:cNvPr id="5" name="Rectangle 4">
            <a:extLst>
              <a:ext uri="{FF2B5EF4-FFF2-40B4-BE49-F238E27FC236}">
                <a16:creationId xmlns:a16="http://schemas.microsoft.com/office/drawing/2014/main" id="{348E608A-71F6-2BC3-F0C8-0A7FA6A1CE51}"/>
              </a:ext>
            </a:extLst>
          </p:cNvPr>
          <p:cNvSpPr/>
          <p:nvPr/>
        </p:nvSpPr>
        <p:spPr>
          <a:xfrm>
            <a:off x="11928764" y="3425260"/>
            <a:ext cx="263236" cy="3229972"/>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Tree>
    <p:extLst>
      <p:ext uri="{BB962C8B-B14F-4D97-AF65-F5344CB8AC3E}">
        <p14:creationId xmlns:p14="http://schemas.microsoft.com/office/powerpoint/2010/main" val="5637930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10" name="Object 9"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hidden="1"/>
          <p:cNvSpPr/>
          <p:nvPr>
            <p:custDataLst>
              <p:tags r:id="rId2"/>
            </p:custDataLst>
          </p:nvPr>
        </p:nvSpPr>
        <p:spPr bwMode="gray">
          <a:xfrm>
            <a:off x="0" y="0"/>
            <a:ext cx="158750" cy="158750"/>
          </a:xfrm>
          <a:prstGeom prst="rect">
            <a:avLst/>
          </a:prstGeom>
          <a:solidFill>
            <a:scrgbClr r="0" g="0" b="0"/>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none" lIns="0" tIns="0" rIns="0" bIns="0" numCol="1" spcCol="0" rtlCol="0" anchor="ctr" anchorCtr="0">
            <a:noAutofit/>
          </a:bodyPr>
          <a:lstStyle/>
          <a:p>
            <a:pPr algn="ctr">
              <a:spcBef>
                <a:spcPct val="0"/>
              </a:spcBef>
              <a:spcAft>
                <a:spcPct val="0"/>
              </a:spcAft>
              <a:buClr>
                <a:srgbClr val="86163D"/>
              </a:buClr>
              <a:buSzPct val="120000"/>
            </a:pPr>
            <a:endParaRPr lang="en-US" sz="1600" dirty="0">
              <a:solidFill>
                <a:srgbClr val="6E6F73"/>
              </a:solidFill>
              <a:latin typeface="Trebuchet MS" panose="020B0603020202020204" pitchFamily="34" charset="0"/>
              <a:sym typeface="Trebuchet MS" panose="020B0603020202020204" pitchFamily="34" charset="0"/>
            </a:endParaRPr>
          </a:p>
        </p:txBody>
      </p:sp>
      <p:sp>
        <p:nvSpPr>
          <p:cNvPr id="3" name="Title 2"/>
          <p:cNvSpPr>
            <a:spLocks noGrp="1"/>
          </p:cNvSpPr>
          <p:nvPr>
            <p:ph type="title"/>
          </p:nvPr>
        </p:nvSpPr>
        <p:spPr>
          <a:xfrm>
            <a:off x="630000" y="622300"/>
            <a:ext cx="7506610" cy="470898"/>
          </a:xfrm>
          <a:noFill/>
        </p:spPr>
        <p:txBody>
          <a:bodyPr wrap="square">
            <a:spAutoFit/>
          </a:bodyPr>
          <a:lstStyle/>
          <a:p>
            <a:r>
              <a:rPr lang="en-US" dirty="0">
                <a:solidFill>
                  <a:srgbClr val="B71C1C"/>
                </a:solidFill>
              </a:rPr>
              <a:t>Deployment and Orchestration</a:t>
            </a:r>
          </a:p>
        </p:txBody>
      </p:sp>
      <p:sp>
        <p:nvSpPr>
          <p:cNvPr id="51" name="TextBox 50">
            <a:extLst>
              <a:ext uri="{FF2B5EF4-FFF2-40B4-BE49-F238E27FC236}">
                <a16:creationId xmlns:a16="http://schemas.microsoft.com/office/drawing/2014/main" id="{9D57C27F-0886-C29E-DCAB-2D22FD23D5A2}"/>
              </a:ext>
            </a:extLst>
          </p:cNvPr>
          <p:cNvSpPr txBox="1"/>
          <p:nvPr/>
        </p:nvSpPr>
        <p:spPr>
          <a:xfrm>
            <a:off x="10464839" y="9870667"/>
            <a:ext cx="81774" cy="45719"/>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300" dirty="0">
                <a:solidFill>
                  <a:srgbClr val="2C2C2C"/>
                </a:solidFill>
              </a:rPr>
              <a:t>Storage Layer</a:t>
            </a:r>
          </a:p>
        </p:txBody>
      </p:sp>
      <p:sp>
        <p:nvSpPr>
          <p:cNvPr id="54" name="Rectangle 8">
            <a:extLst>
              <a:ext uri="{FF2B5EF4-FFF2-40B4-BE49-F238E27FC236}">
                <a16:creationId xmlns:a16="http://schemas.microsoft.com/office/drawing/2014/main" id="{E2008EEF-022D-C171-BB60-3E2BBC779ED8}"/>
              </a:ext>
            </a:extLst>
          </p:cNvPr>
          <p:cNvSpPr>
            <a:spLocks noChangeArrowheads="1"/>
          </p:cNvSpPr>
          <p:nvPr/>
        </p:nvSpPr>
        <p:spPr bwMode="auto">
          <a:xfrm>
            <a:off x="1595438" y="-7954406"/>
            <a:ext cx="812459" cy="53860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FFFFFF"/>
                </a:solidFill>
                <a:effectLst/>
                <a:latin typeface="ui-sans-serif"/>
                <a:hlinkClick r:id="rId7"/>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54">
            <a:extLst>
              <a:ext uri="{FF2B5EF4-FFF2-40B4-BE49-F238E27FC236}">
                <a16:creationId xmlns:a16="http://schemas.microsoft.com/office/drawing/2014/main" id="{7364E2FE-D374-BAA4-67BB-49533DD0EAE8}"/>
              </a:ext>
            </a:extLst>
          </p:cNvPr>
          <p:cNvSpPr/>
          <p:nvPr/>
        </p:nvSpPr>
        <p:spPr>
          <a:xfrm>
            <a:off x="11928764" y="3628028"/>
            <a:ext cx="263236" cy="3229972"/>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077" name="TextBox 2076">
            <a:extLst>
              <a:ext uri="{FF2B5EF4-FFF2-40B4-BE49-F238E27FC236}">
                <a16:creationId xmlns:a16="http://schemas.microsoft.com/office/drawing/2014/main" id="{FE017684-8C68-A16A-8CE0-C84D37D697B5}"/>
              </a:ext>
            </a:extLst>
          </p:cNvPr>
          <p:cNvSpPr txBox="1"/>
          <p:nvPr/>
        </p:nvSpPr>
        <p:spPr>
          <a:xfrm>
            <a:off x="3526971" y="365760"/>
            <a:ext cx="0" cy="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5" name="Rectangle 4">
            <a:extLst>
              <a:ext uri="{FF2B5EF4-FFF2-40B4-BE49-F238E27FC236}">
                <a16:creationId xmlns:a16="http://schemas.microsoft.com/office/drawing/2014/main" id="{348E608A-71F6-2BC3-F0C8-0A7FA6A1CE51}"/>
              </a:ext>
            </a:extLst>
          </p:cNvPr>
          <p:cNvSpPr/>
          <p:nvPr/>
        </p:nvSpPr>
        <p:spPr>
          <a:xfrm>
            <a:off x="11928764" y="3425260"/>
            <a:ext cx="263236" cy="3229972"/>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12" name="TextBox 11">
            <a:extLst>
              <a:ext uri="{FF2B5EF4-FFF2-40B4-BE49-F238E27FC236}">
                <a16:creationId xmlns:a16="http://schemas.microsoft.com/office/drawing/2014/main" id="{E4396216-578D-2AEB-351F-6507CCE9A197}"/>
              </a:ext>
            </a:extLst>
          </p:cNvPr>
          <p:cNvSpPr txBox="1"/>
          <p:nvPr/>
        </p:nvSpPr>
        <p:spPr>
          <a:xfrm>
            <a:off x="11999495" y="5390147"/>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13" name="Rounded Rectangle 12">
            <a:extLst>
              <a:ext uri="{FF2B5EF4-FFF2-40B4-BE49-F238E27FC236}">
                <a16:creationId xmlns:a16="http://schemas.microsoft.com/office/drawing/2014/main" id="{0EA298CB-6FD6-561B-76C1-722A9E011FF6}"/>
              </a:ext>
            </a:extLst>
          </p:cNvPr>
          <p:cNvSpPr/>
          <p:nvPr/>
        </p:nvSpPr>
        <p:spPr>
          <a:xfrm>
            <a:off x="1673418" y="2217059"/>
            <a:ext cx="2680138" cy="472965"/>
          </a:xfrm>
          <a:prstGeom prst="roundRect">
            <a:avLst/>
          </a:prstGeom>
          <a:solidFill>
            <a:srgbClr val="B71C1C"/>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dirty="0">
                <a:solidFill>
                  <a:schemeClr val="bg1"/>
                </a:solidFill>
              </a:rPr>
              <a:t>Development</a:t>
            </a:r>
          </a:p>
        </p:txBody>
      </p:sp>
      <p:sp>
        <p:nvSpPr>
          <p:cNvPr id="14" name="Rounded Rectangle 13">
            <a:extLst>
              <a:ext uri="{FF2B5EF4-FFF2-40B4-BE49-F238E27FC236}">
                <a16:creationId xmlns:a16="http://schemas.microsoft.com/office/drawing/2014/main" id="{CD22B77C-E42A-6DD0-0515-9BDD1F579222}"/>
              </a:ext>
            </a:extLst>
          </p:cNvPr>
          <p:cNvSpPr/>
          <p:nvPr/>
        </p:nvSpPr>
        <p:spPr>
          <a:xfrm>
            <a:off x="7948815" y="2228934"/>
            <a:ext cx="2680138" cy="472965"/>
          </a:xfrm>
          <a:prstGeom prst="roundRect">
            <a:avLst/>
          </a:prstGeom>
          <a:solidFill>
            <a:srgbClr val="B71C1C"/>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dirty="0">
                <a:solidFill>
                  <a:schemeClr val="bg1"/>
                </a:solidFill>
              </a:rPr>
              <a:t>Production</a:t>
            </a:r>
          </a:p>
        </p:txBody>
      </p:sp>
      <p:sp>
        <p:nvSpPr>
          <p:cNvPr id="15" name="TextBox 14">
            <a:extLst>
              <a:ext uri="{FF2B5EF4-FFF2-40B4-BE49-F238E27FC236}">
                <a16:creationId xmlns:a16="http://schemas.microsoft.com/office/drawing/2014/main" id="{3AFE9620-4DC9-B2E5-F7DD-1952D540ED0C}"/>
              </a:ext>
            </a:extLst>
          </p:cNvPr>
          <p:cNvSpPr txBox="1"/>
          <p:nvPr/>
        </p:nvSpPr>
        <p:spPr>
          <a:xfrm>
            <a:off x="1106274" y="4034071"/>
            <a:ext cx="3880395" cy="127096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GB" sz="1600" b="1" dirty="0">
                <a:solidFill>
                  <a:srgbClr val="575757"/>
                </a:solidFill>
              </a:rPr>
              <a:t>Docker-compose</a:t>
            </a:r>
            <a:r>
              <a:rPr lang="en-GB" sz="1400" b="1" dirty="0">
                <a:solidFill>
                  <a:srgbClr val="575757"/>
                </a:solidFill>
              </a:rPr>
              <a:t> </a:t>
            </a:r>
          </a:p>
          <a:p>
            <a:pPr algn="ctr"/>
            <a:r>
              <a:rPr lang="en-GB" sz="1400" dirty="0">
                <a:solidFill>
                  <a:srgbClr val="575757"/>
                </a:solidFill>
              </a:rPr>
              <a:t>-&gt; single-node setup</a:t>
            </a:r>
          </a:p>
          <a:p>
            <a:endParaRPr lang="en-GB" sz="1400" dirty="0">
              <a:solidFill>
                <a:srgbClr val="575757"/>
              </a:solidFill>
            </a:endParaRPr>
          </a:p>
          <a:p>
            <a:pPr algn="ctr"/>
            <a:r>
              <a:rPr lang="en-GB" sz="1400" dirty="0">
                <a:solidFill>
                  <a:srgbClr val="575757"/>
                </a:solidFill>
              </a:rPr>
              <a:t>all services: network, volumes, env</a:t>
            </a:r>
          </a:p>
        </p:txBody>
      </p:sp>
      <p:sp>
        <p:nvSpPr>
          <p:cNvPr id="17" name="TextBox 16">
            <a:extLst>
              <a:ext uri="{FF2B5EF4-FFF2-40B4-BE49-F238E27FC236}">
                <a16:creationId xmlns:a16="http://schemas.microsoft.com/office/drawing/2014/main" id="{A95B77C8-0DB7-22F2-C891-5F260D5F2617}"/>
              </a:ext>
            </a:extLst>
          </p:cNvPr>
          <p:cNvSpPr txBox="1"/>
          <p:nvPr/>
        </p:nvSpPr>
        <p:spPr>
          <a:xfrm>
            <a:off x="7844154" y="2966221"/>
            <a:ext cx="2943203" cy="52420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GB" sz="1600" b="1" dirty="0">
                <a:solidFill>
                  <a:srgbClr val="2C2C2C"/>
                </a:solidFill>
              </a:rPr>
              <a:t>Kubernetes Clusters</a:t>
            </a:r>
          </a:p>
        </p:txBody>
      </p:sp>
      <p:pic>
        <p:nvPicPr>
          <p:cNvPr id="23" name="Picture 22">
            <a:extLst>
              <a:ext uri="{FF2B5EF4-FFF2-40B4-BE49-F238E27FC236}">
                <a16:creationId xmlns:a16="http://schemas.microsoft.com/office/drawing/2014/main" id="{3B4C49A6-946E-D229-59DF-8786F85F34AC}"/>
              </a:ext>
            </a:extLst>
          </p:cNvPr>
          <p:cNvPicPr>
            <a:picLocks noChangeAspect="1"/>
          </p:cNvPicPr>
          <p:nvPr/>
        </p:nvPicPr>
        <p:blipFill>
          <a:blip r:embed="rId8"/>
          <a:stretch>
            <a:fillRect/>
          </a:stretch>
        </p:blipFill>
        <p:spPr>
          <a:xfrm>
            <a:off x="2591850" y="3019370"/>
            <a:ext cx="877226" cy="877226"/>
          </a:xfrm>
          <a:prstGeom prst="rect">
            <a:avLst/>
          </a:prstGeom>
          <a:noFill/>
        </p:spPr>
      </p:pic>
      <p:cxnSp>
        <p:nvCxnSpPr>
          <p:cNvPr id="25" name="Straight Arrow Connector 24">
            <a:extLst>
              <a:ext uri="{FF2B5EF4-FFF2-40B4-BE49-F238E27FC236}">
                <a16:creationId xmlns:a16="http://schemas.microsoft.com/office/drawing/2014/main" id="{65938451-D1BD-A361-F26C-90B089107477}"/>
              </a:ext>
            </a:extLst>
          </p:cNvPr>
          <p:cNvCxnSpPr>
            <a:cxnSpLocks/>
          </p:cNvCxnSpPr>
          <p:nvPr/>
        </p:nvCxnSpPr>
        <p:spPr>
          <a:xfrm>
            <a:off x="5217570" y="4033318"/>
            <a:ext cx="1749652" cy="0"/>
          </a:xfrm>
          <a:prstGeom prst="straightConnector1">
            <a:avLst/>
          </a:prstGeom>
          <a:ln w="9525" cap="rnd">
            <a:solidFill>
              <a:srgbClr val="B71C1C"/>
            </a:solidFill>
            <a:prstDash val="solid"/>
            <a:round/>
            <a:tailEnd type="triangle"/>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F8568C87-A089-F42E-0D7E-B8282C557527}"/>
              </a:ext>
            </a:extLst>
          </p:cNvPr>
          <p:cNvPicPr>
            <a:picLocks noChangeAspect="1"/>
          </p:cNvPicPr>
          <p:nvPr/>
        </p:nvPicPr>
        <p:blipFill>
          <a:blip r:embed="rId9"/>
          <a:stretch>
            <a:fillRect/>
          </a:stretch>
        </p:blipFill>
        <p:spPr>
          <a:xfrm>
            <a:off x="8141459" y="3516990"/>
            <a:ext cx="308518" cy="309600"/>
          </a:xfrm>
          <a:prstGeom prst="rect">
            <a:avLst/>
          </a:prstGeom>
          <a:noFill/>
        </p:spPr>
      </p:pic>
      <p:pic>
        <p:nvPicPr>
          <p:cNvPr id="27" name="Picture 2">
            <a:extLst>
              <a:ext uri="{FF2B5EF4-FFF2-40B4-BE49-F238E27FC236}">
                <a16:creationId xmlns:a16="http://schemas.microsoft.com/office/drawing/2014/main" id="{9B5D175D-8073-F1AB-0F1C-14C3BA128D3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22662" y="3523638"/>
            <a:ext cx="308518" cy="308518"/>
          </a:xfrm>
          <a:prstGeom prst="rect">
            <a:avLst/>
          </a:prstGeom>
          <a:noFill/>
        </p:spPr>
      </p:pic>
      <p:pic>
        <p:nvPicPr>
          <p:cNvPr id="28" name="Picture 27">
            <a:extLst>
              <a:ext uri="{FF2B5EF4-FFF2-40B4-BE49-F238E27FC236}">
                <a16:creationId xmlns:a16="http://schemas.microsoft.com/office/drawing/2014/main" id="{046C2B72-8248-E4B2-9DC3-673DBA346021}"/>
              </a:ext>
            </a:extLst>
          </p:cNvPr>
          <p:cNvPicPr>
            <a:picLocks noChangeAspect="1"/>
          </p:cNvPicPr>
          <p:nvPr/>
        </p:nvPicPr>
        <p:blipFill>
          <a:blip r:embed="rId11">
            <a:extLst>
              <a:ext uri="{BEBA8EAE-BF5A-486C-A8C5-ECC9F3942E4B}">
                <a14:imgProps xmlns:a14="http://schemas.microsoft.com/office/drawing/2010/main">
                  <a14:imgLayer r:embed="rId12">
                    <a14:imgEffect>
                      <a14:artisticMarker/>
                    </a14:imgEffect>
                    <a14:imgEffect>
                      <a14:sharpenSoften amount="-25000"/>
                    </a14:imgEffect>
                    <a14:imgEffect>
                      <a14:colorTemperature colorTemp="5900"/>
                    </a14:imgEffect>
                    <a14:imgEffect>
                      <a14:saturation sat="300000"/>
                    </a14:imgEffect>
                    <a14:imgEffect>
                      <a14:brightnessContrast bright="-20000"/>
                    </a14:imgEffect>
                  </a14:imgLayer>
                </a14:imgProps>
              </a:ext>
            </a:extLst>
          </a:blip>
          <a:stretch>
            <a:fillRect/>
          </a:stretch>
        </p:blipFill>
        <p:spPr>
          <a:xfrm>
            <a:off x="9503865" y="3523638"/>
            <a:ext cx="324000" cy="324000"/>
          </a:xfrm>
          <a:prstGeom prst="rect">
            <a:avLst/>
          </a:prstGeom>
          <a:noFill/>
        </p:spPr>
      </p:pic>
      <p:pic>
        <p:nvPicPr>
          <p:cNvPr id="29" name="Picture 28">
            <a:extLst>
              <a:ext uri="{FF2B5EF4-FFF2-40B4-BE49-F238E27FC236}">
                <a16:creationId xmlns:a16="http://schemas.microsoft.com/office/drawing/2014/main" id="{6ACBF480-70F1-68AB-9D3A-3DC5C0D5589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200550" y="3516990"/>
            <a:ext cx="309600" cy="309600"/>
          </a:xfrm>
          <a:prstGeom prst="rect">
            <a:avLst/>
          </a:prstGeom>
          <a:noFill/>
        </p:spPr>
      </p:pic>
      <p:sp>
        <p:nvSpPr>
          <p:cNvPr id="31" name="TextBox 30">
            <a:extLst>
              <a:ext uri="{FF2B5EF4-FFF2-40B4-BE49-F238E27FC236}">
                <a16:creationId xmlns:a16="http://schemas.microsoft.com/office/drawing/2014/main" id="{9B4FF338-67DA-60A3-C8C9-7836176263E4}"/>
              </a:ext>
            </a:extLst>
          </p:cNvPr>
          <p:cNvSpPr txBox="1"/>
          <p:nvPr/>
        </p:nvSpPr>
        <p:spPr>
          <a:xfrm>
            <a:off x="5102462" y="3670947"/>
            <a:ext cx="2040610" cy="30851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GB" sz="1600" dirty="0">
                <a:solidFill>
                  <a:srgbClr val="B71C1C"/>
                </a:solidFill>
              </a:rPr>
              <a:t>Scale and Automate</a:t>
            </a:r>
          </a:p>
        </p:txBody>
      </p:sp>
      <p:sp>
        <p:nvSpPr>
          <p:cNvPr id="33" name="TextBox 32">
            <a:extLst>
              <a:ext uri="{FF2B5EF4-FFF2-40B4-BE49-F238E27FC236}">
                <a16:creationId xmlns:a16="http://schemas.microsoft.com/office/drawing/2014/main" id="{3B58918D-03D4-9F82-F17C-922FCEFB3CEE}"/>
              </a:ext>
            </a:extLst>
          </p:cNvPr>
          <p:cNvSpPr txBox="1"/>
          <p:nvPr/>
        </p:nvSpPr>
        <p:spPr>
          <a:xfrm>
            <a:off x="7844154" y="4127161"/>
            <a:ext cx="2943203" cy="95410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400" dirty="0">
                <a:solidFill>
                  <a:srgbClr val="2C2C2C"/>
                </a:solidFill>
                <a:effectLst/>
              </a:rPr>
              <a:t>Deployments → Pods (replicas)</a:t>
            </a:r>
          </a:p>
          <a:p>
            <a:r>
              <a:rPr lang="en-GB" sz="1400" dirty="0">
                <a:solidFill>
                  <a:srgbClr val="2C2C2C"/>
                </a:solidFill>
                <a:effectLst/>
              </a:rPr>
              <a:t>Services → </a:t>
            </a:r>
            <a:r>
              <a:rPr lang="en-GB" sz="1400" dirty="0" err="1">
                <a:solidFill>
                  <a:srgbClr val="2C2C2C"/>
                </a:solidFill>
                <a:effectLst/>
              </a:rPr>
              <a:t>ClusterIP</a:t>
            </a:r>
            <a:r>
              <a:rPr lang="en-GB" sz="1400" dirty="0">
                <a:solidFill>
                  <a:srgbClr val="2C2C2C"/>
                </a:solidFill>
                <a:effectLst/>
              </a:rPr>
              <a:t> / Ingress</a:t>
            </a:r>
          </a:p>
          <a:p>
            <a:r>
              <a:rPr lang="en-GB" sz="1400" dirty="0">
                <a:solidFill>
                  <a:srgbClr val="2C2C2C"/>
                </a:solidFill>
                <a:effectLst/>
              </a:rPr>
              <a:t>HPA → </a:t>
            </a:r>
            <a:r>
              <a:rPr lang="en-GB" sz="1400" dirty="0" err="1">
                <a:solidFill>
                  <a:srgbClr val="2C2C2C"/>
                </a:solidFill>
                <a:effectLst/>
              </a:rPr>
              <a:t>autoscale</a:t>
            </a:r>
            <a:r>
              <a:rPr lang="en-GB" sz="1400" dirty="0">
                <a:solidFill>
                  <a:srgbClr val="2C2C2C"/>
                </a:solidFill>
                <a:effectLst/>
              </a:rPr>
              <a:t> Stream Processor</a:t>
            </a:r>
          </a:p>
          <a:p>
            <a:r>
              <a:rPr lang="en-GB" sz="1400" dirty="0">
                <a:solidFill>
                  <a:srgbClr val="2C2C2C"/>
                </a:solidFill>
                <a:effectLst/>
              </a:rPr>
              <a:t>Deployments → Pods (replicas)</a:t>
            </a:r>
          </a:p>
        </p:txBody>
      </p:sp>
      <p:sp>
        <p:nvSpPr>
          <p:cNvPr id="34" name="Rounded Rectangle 33">
            <a:extLst>
              <a:ext uri="{FF2B5EF4-FFF2-40B4-BE49-F238E27FC236}">
                <a16:creationId xmlns:a16="http://schemas.microsoft.com/office/drawing/2014/main" id="{F430E11B-1E76-EAF4-0F6B-874310BA26CC}"/>
              </a:ext>
            </a:extLst>
          </p:cNvPr>
          <p:cNvSpPr/>
          <p:nvPr/>
        </p:nvSpPr>
        <p:spPr>
          <a:xfrm>
            <a:off x="910988" y="2088220"/>
            <a:ext cx="4191474" cy="3518835"/>
          </a:xfrm>
          <a:prstGeom prst="roundRect">
            <a:avLst/>
          </a:prstGeom>
          <a:no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a:solidFill>
                <a:schemeClr val="bg1"/>
              </a:solidFill>
            </a:endParaRPr>
          </a:p>
        </p:txBody>
      </p:sp>
      <p:sp>
        <p:nvSpPr>
          <p:cNvPr id="35" name="Rounded Rectangle 34">
            <a:extLst>
              <a:ext uri="{FF2B5EF4-FFF2-40B4-BE49-F238E27FC236}">
                <a16:creationId xmlns:a16="http://schemas.microsoft.com/office/drawing/2014/main" id="{8517A8FF-016C-6A30-6B1C-A17D21BBFDD5}"/>
              </a:ext>
            </a:extLst>
          </p:cNvPr>
          <p:cNvSpPr/>
          <p:nvPr/>
        </p:nvSpPr>
        <p:spPr>
          <a:xfrm>
            <a:off x="7125626" y="2088219"/>
            <a:ext cx="4191474" cy="3518835"/>
          </a:xfrm>
          <a:prstGeom prst="roundRect">
            <a:avLst/>
          </a:prstGeom>
          <a:no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dirty="0">
              <a:solidFill>
                <a:schemeClr val="bg1"/>
              </a:solidFill>
            </a:endParaRPr>
          </a:p>
        </p:txBody>
      </p:sp>
      <p:sp>
        <p:nvSpPr>
          <p:cNvPr id="38" name="TextBox 37">
            <a:extLst>
              <a:ext uri="{FF2B5EF4-FFF2-40B4-BE49-F238E27FC236}">
                <a16:creationId xmlns:a16="http://schemas.microsoft.com/office/drawing/2014/main" id="{22B1E16D-C0C2-3C20-8633-96A417ECA0F8}"/>
              </a:ext>
            </a:extLst>
          </p:cNvPr>
          <p:cNvSpPr txBox="1"/>
          <p:nvPr/>
        </p:nvSpPr>
        <p:spPr>
          <a:xfrm>
            <a:off x="631062" y="1290546"/>
            <a:ext cx="6096000" cy="33855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600" dirty="0">
                <a:solidFill>
                  <a:srgbClr val="2C2C2C"/>
                </a:solidFill>
                <a:effectLst/>
              </a:rPr>
              <a:t>From local prototyping to scalable cloud deployment.</a:t>
            </a:r>
          </a:p>
        </p:txBody>
      </p:sp>
    </p:spTree>
    <p:extLst>
      <p:ext uri="{BB962C8B-B14F-4D97-AF65-F5344CB8AC3E}">
        <p14:creationId xmlns:p14="http://schemas.microsoft.com/office/powerpoint/2010/main" val="3812655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10" name="Object 9"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hidden="1"/>
          <p:cNvSpPr/>
          <p:nvPr>
            <p:custDataLst>
              <p:tags r:id="rId2"/>
            </p:custDataLst>
          </p:nvPr>
        </p:nvSpPr>
        <p:spPr bwMode="gray">
          <a:xfrm>
            <a:off x="0" y="0"/>
            <a:ext cx="158750" cy="158750"/>
          </a:xfrm>
          <a:prstGeom prst="rect">
            <a:avLst/>
          </a:prstGeom>
          <a:solidFill>
            <a:scrgbClr r="0" g="0" b="0"/>
          </a:solid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none" lIns="0" tIns="0" rIns="0" bIns="0" numCol="1" spcCol="0" rtlCol="0" anchor="ctr" anchorCtr="0">
            <a:noAutofit/>
          </a:bodyPr>
          <a:lstStyle/>
          <a:p>
            <a:pPr algn="ctr">
              <a:spcBef>
                <a:spcPct val="0"/>
              </a:spcBef>
              <a:spcAft>
                <a:spcPct val="0"/>
              </a:spcAft>
              <a:buClr>
                <a:srgbClr val="86163D"/>
              </a:buClr>
              <a:buSzPct val="120000"/>
            </a:pPr>
            <a:endParaRPr lang="en-US" sz="1600" dirty="0">
              <a:solidFill>
                <a:srgbClr val="6E6F73"/>
              </a:solidFill>
              <a:latin typeface="Trebuchet MS" panose="020B0603020202020204" pitchFamily="34" charset="0"/>
              <a:sym typeface="Trebuchet MS" panose="020B0603020202020204" pitchFamily="34" charset="0"/>
            </a:endParaRPr>
          </a:p>
        </p:txBody>
      </p:sp>
      <p:sp>
        <p:nvSpPr>
          <p:cNvPr id="3" name="Title 2"/>
          <p:cNvSpPr>
            <a:spLocks noGrp="1"/>
          </p:cNvSpPr>
          <p:nvPr>
            <p:ph type="title"/>
          </p:nvPr>
        </p:nvSpPr>
        <p:spPr>
          <a:xfrm>
            <a:off x="630000" y="622300"/>
            <a:ext cx="7506610" cy="470898"/>
          </a:xfrm>
          <a:noFill/>
        </p:spPr>
        <p:txBody>
          <a:bodyPr wrap="square">
            <a:spAutoFit/>
          </a:bodyPr>
          <a:lstStyle/>
          <a:p>
            <a:r>
              <a:rPr lang="en-GB" dirty="0">
                <a:solidFill>
                  <a:srgbClr val="B71C1C"/>
                </a:solidFill>
              </a:rPr>
              <a:t>Performance and Scalability</a:t>
            </a:r>
            <a:endParaRPr lang="en-US" dirty="0">
              <a:solidFill>
                <a:srgbClr val="B71C1C"/>
              </a:solidFill>
            </a:endParaRPr>
          </a:p>
        </p:txBody>
      </p:sp>
      <p:sp>
        <p:nvSpPr>
          <p:cNvPr id="51" name="TextBox 50">
            <a:extLst>
              <a:ext uri="{FF2B5EF4-FFF2-40B4-BE49-F238E27FC236}">
                <a16:creationId xmlns:a16="http://schemas.microsoft.com/office/drawing/2014/main" id="{9D57C27F-0886-C29E-DCAB-2D22FD23D5A2}"/>
              </a:ext>
            </a:extLst>
          </p:cNvPr>
          <p:cNvSpPr txBox="1"/>
          <p:nvPr/>
        </p:nvSpPr>
        <p:spPr>
          <a:xfrm>
            <a:off x="10464839" y="9870667"/>
            <a:ext cx="81774" cy="45719"/>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300" dirty="0">
                <a:solidFill>
                  <a:srgbClr val="2C2C2C"/>
                </a:solidFill>
              </a:rPr>
              <a:t>Storage Layer</a:t>
            </a:r>
          </a:p>
        </p:txBody>
      </p:sp>
      <p:sp>
        <p:nvSpPr>
          <p:cNvPr id="54" name="Rectangle 8">
            <a:extLst>
              <a:ext uri="{FF2B5EF4-FFF2-40B4-BE49-F238E27FC236}">
                <a16:creationId xmlns:a16="http://schemas.microsoft.com/office/drawing/2014/main" id="{E2008EEF-022D-C171-BB60-3E2BBC779ED8}"/>
              </a:ext>
            </a:extLst>
          </p:cNvPr>
          <p:cNvSpPr>
            <a:spLocks noChangeArrowheads="1"/>
          </p:cNvSpPr>
          <p:nvPr/>
        </p:nvSpPr>
        <p:spPr bwMode="auto">
          <a:xfrm>
            <a:off x="1595438" y="-7954406"/>
            <a:ext cx="812459" cy="53860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FFFFFF"/>
                </a:solidFill>
                <a:effectLst/>
                <a:latin typeface="ui-sans-serif"/>
                <a:hlinkClick r:id="rId7"/>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54">
            <a:extLst>
              <a:ext uri="{FF2B5EF4-FFF2-40B4-BE49-F238E27FC236}">
                <a16:creationId xmlns:a16="http://schemas.microsoft.com/office/drawing/2014/main" id="{7364E2FE-D374-BAA4-67BB-49533DD0EAE8}"/>
              </a:ext>
            </a:extLst>
          </p:cNvPr>
          <p:cNvSpPr/>
          <p:nvPr/>
        </p:nvSpPr>
        <p:spPr>
          <a:xfrm>
            <a:off x="11928764" y="3628028"/>
            <a:ext cx="263236" cy="3229972"/>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077" name="TextBox 2076">
            <a:extLst>
              <a:ext uri="{FF2B5EF4-FFF2-40B4-BE49-F238E27FC236}">
                <a16:creationId xmlns:a16="http://schemas.microsoft.com/office/drawing/2014/main" id="{FE017684-8C68-A16A-8CE0-C84D37D697B5}"/>
              </a:ext>
            </a:extLst>
          </p:cNvPr>
          <p:cNvSpPr txBox="1"/>
          <p:nvPr/>
        </p:nvSpPr>
        <p:spPr>
          <a:xfrm>
            <a:off x="3526971" y="365760"/>
            <a:ext cx="0" cy="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2" name="Rectangle 1">
            <a:extLst>
              <a:ext uri="{FF2B5EF4-FFF2-40B4-BE49-F238E27FC236}">
                <a16:creationId xmlns:a16="http://schemas.microsoft.com/office/drawing/2014/main" id="{F98F2334-7F78-91FD-A7F4-D2C70795A9FC}"/>
              </a:ext>
            </a:extLst>
          </p:cNvPr>
          <p:cNvSpPr/>
          <p:nvPr/>
        </p:nvSpPr>
        <p:spPr>
          <a:xfrm>
            <a:off x="11928764" y="3425260"/>
            <a:ext cx="263236" cy="3229972"/>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pic>
        <p:nvPicPr>
          <p:cNvPr id="5122" name="Picture 2" descr="Story Pin image">
            <a:extLst>
              <a:ext uri="{FF2B5EF4-FFF2-40B4-BE49-F238E27FC236}">
                <a16:creationId xmlns:a16="http://schemas.microsoft.com/office/drawing/2014/main" id="{B7147C72-A872-A9AD-C295-95F3B101C4AB}"/>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8575" r="6826"/>
          <a:stretch/>
        </p:blipFill>
        <p:spPr bwMode="auto">
          <a:xfrm>
            <a:off x="8932399" y="0"/>
            <a:ext cx="3262155"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ED72294-1B46-B408-99E7-4174C9B73BB1}"/>
              </a:ext>
            </a:extLst>
          </p:cNvPr>
          <p:cNvSpPr/>
          <p:nvPr/>
        </p:nvSpPr>
        <p:spPr bwMode="black">
          <a:xfrm rot="16200000">
            <a:off x="7142783" y="1794184"/>
            <a:ext cx="6858000" cy="3262153"/>
          </a:xfrm>
          <a:prstGeom prst="rect">
            <a:avLst/>
          </a:prstGeom>
          <a:gradFill flip="none" rotWithShape="1">
            <a:gsLst>
              <a:gs pos="0">
                <a:srgbClr val="480B22">
                  <a:alpha val="80000"/>
                </a:srgbClr>
              </a:gs>
              <a:gs pos="100000">
                <a:srgbClr val="D0164B">
                  <a:lumMod val="70000"/>
                  <a:alpha val="80000"/>
                </a:srgb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6" name="ee4pContent1">
            <a:extLst>
              <a:ext uri="{FF2B5EF4-FFF2-40B4-BE49-F238E27FC236}">
                <a16:creationId xmlns:a16="http://schemas.microsoft.com/office/drawing/2014/main" id="{062BC19D-D94D-ED17-42A2-DBF907DA7A07}"/>
              </a:ext>
            </a:extLst>
          </p:cNvPr>
          <p:cNvSpPr txBox="1"/>
          <p:nvPr/>
        </p:nvSpPr>
        <p:spPr>
          <a:xfrm>
            <a:off x="635710" y="3592128"/>
            <a:ext cx="1501371" cy="430887"/>
          </a:xfrm>
          <a:prstGeom prst="rect">
            <a:avLst/>
          </a:prstGeom>
        </p:spPr>
        <p:txBody>
          <a:bodyPr vert="horz" wrap="square" lIns="0" tIns="0" rIns="0" bIns="0" rtlCol="0">
            <a:spAutoFit/>
          </a:bodyPr>
          <a:lstStyle>
            <a:lvl1pPr lvl="0" indent="0">
              <a:lnSpc>
                <a:spcPct val="110000"/>
              </a:lnSpc>
              <a:spcBef>
                <a:spcPts val="600"/>
              </a:spcBef>
              <a:spcAft>
                <a:spcPts val="300"/>
              </a:spcAft>
              <a:buFont typeface="Arial" panose="020B0604020202020204" pitchFamily="34" charset="0"/>
              <a:buChar char="​"/>
              <a:defRPr lang="en-US" sz="1200">
                <a:latin typeface="Trebuchet MS" panose="020B0603020202020204" pitchFamily="34" charset="0"/>
                <a:sym typeface="Trebuchet MS" panose="020B0603020202020204" pitchFamily="34" charset="0"/>
              </a:defRPr>
            </a:lvl1pPr>
            <a:lvl2pPr marL="284400" lvl="1" indent="-172800">
              <a:lnSpc>
                <a:spcPct val="90000"/>
              </a:lnSpc>
              <a:spcBef>
                <a:spcPts val="0"/>
              </a:spcBef>
              <a:spcAft>
                <a:spcPts val="300"/>
              </a:spcAft>
              <a:buClr>
                <a:schemeClr val="tx2"/>
              </a:buClr>
              <a:buFont typeface="Arial" panose="020B0604020202020204" pitchFamily="34" charset="0"/>
              <a:buChar char="•"/>
              <a:defRPr lang="en-US" sz="1200">
                <a:latin typeface="Trebuchet MS" panose="020B0603020202020204" pitchFamily="34" charset="0"/>
                <a:sym typeface="Trebuchet MS" panose="020B0603020202020204" pitchFamily="34" charset="0"/>
              </a:defRPr>
            </a:lvl2pPr>
            <a:lvl3pPr marL="511200" lvl="2" indent="-165600">
              <a:lnSpc>
                <a:spcPct val="90000"/>
              </a:lnSpc>
              <a:spcBef>
                <a:spcPts val="0"/>
              </a:spcBef>
              <a:spcAft>
                <a:spcPts val="300"/>
              </a:spcAft>
              <a:buClr>
                <a:schemeClr val="tx2"/>
              </a:buClr>
              <a:buFont typeface="Trebuchet MS" panose="020B0603020202020204" pitchFamily="34" charset="0"/>
              <a:buChar char="–"/>
              <a:defRPr lang="en-US" sz="1200">
                <a:latin typeface="Trebuchet MS" panose="020B0603020202020204" pitchFamily="34" charset="0"/>
                <a:sym typeface="Trebuchet MS" panose="020B0603020202020204" pitchFamily="34" charset="0"/>
              </a:defRPr>
            </a:lvl3pPr>
            <a:lvl4pPr marL="0" lvl="3" indent="0">
              <a:lnSpc>
                <a:spcPct val="110000"/>
              </a:lnSpc>
              <a:spcBef>
                <a:spcPts val="300"/>
              </a:spcBef>
              <a:spcAft>
                <a:spcPts val="300"/>
              </a:spcAft>
              <a:buClr>
                <a:schemeClr val="tx2"/>
              </a:buClr>
              <a:buFont typeface="Arial" panose="020B0604020202020204" pitchFamily="34" charset="0"/>
              <a:buChar char="​"/>
              <a:defRPr lang="en-US" sz="1600">
                <a:solidFill>
                  <a:schemeClr val="tx2"/>
                </a:solidFill>
                <a:latin typeface="Trebuchet MS" panose="020B0603020202020204" pitchFamily="34" charset="0"/>
                <a:sym typeface="Trebuchet MS" panose="020B0603020202020204" pitchFamily="34" charset="0"/>
              </a:defRPr>
            </a:lvl4pPr>
            <a:lvl5pPr marL="0" lvl="4" indent="0">
              <a:lnSpc>
                <a:spcPct val="100000"/>
              </a:lnSpc>
              <a:spcBef>
                <a:spcPts val="0"/>
              </a:spcBef>
              <a:spcAft>
                <a:spcPts val="300"/>
              </a:spcAft>
              <a:buClrTx/>
              <a:buFont typeface="Arial" panose="020B0604020202020204" pitchFamily="34" charset="0"/>
              <a:buChar char="​"/>
              <a:defRPr lang="en-US" sz="1600" b="1" smtClean="0">
                <a:latin typeface="Trebuchet MS" panose="020B0603020202020204" pitchFamily="34" charset="0"/>
                <a:sym typeface="Trebuchet MS" panose="020B0603020202020204" pitchFamily="34" charset="0"/>
              </a:defRPr>
            </a:lvl5pPr>
            <a:lvl6pPr marL="269875" lvl="5" indent="-152400">
              <a:lnSpc>
                <a:spcPct val="90000"/>
              </a:lnSpc>
              <a:spcBef>
                <a:spcPts val="0"/>
              </a:spcBef>
              <a:spcAft>
                <a:spcPts val="600"/>
              </a:spcAft>
              <a:buClr>
                <a:schemeClr val="tx2"/>
              </a:buClr>
              <a:buFont typeface="Arial" panose="020B0604020202020204" pitchFamily="34" charset="0"/>
              <a:buChar char="•"/>
              <a:defRPr lang="en-US" sz="1600" smtClean="0">
                <a:latin typeface="Trebuchet MS" panose="020B0603020202020204" pitchFamily="34" charset="0"/>
                <a:sym typeface="Trebuchet MS" panose="020B0603020202020204" pitchFamily="34" charset="0"/>
              </a:defRPr>
            </a:lvl6pPr>
            <a:lvl7pPr marL="0" lvl="6" indent="0">
              <a:lnSpc>
                <a:spcPct val="90000"/>
              </a:lnSpc>
              <a:spcBef>
                <a:spcPts val="900"/>
              </a:spcBef>
              <a:spcAft>
                <a:spcPts val="900"/>
              </a:spcAft>
              <a:buFont typeface="Arial" panose="020B0604020202020204" pitchFamily="34" charset="0"/>
              <a:buChar char="​"/>
              <a:defRPr lang="en-US" sz="4400" baseline="0" smtClean="0">
                <a:latin typeface="Trebuchet MS" panose="020B0603020202020204" pitchFamily="34" charset="0"/>
                <a:sym typeface="Trebuchet MS" panose="020B0603020202020204" pitchFamily="34" charset="0"/>
              </a:defRPr>
            </a:lvl7pPr>
            <a:lvl8pPr marL="0" lvl="7" indent="0">
              <a:lnSpc>
                <a:spcPct val="90000"/>
              </a:lnSpc>
              <a:spcBef>
                <a:spcPts val="900"/>
              </a:spcBef>
              <a:spcAft>
                <a:spcPts val="0"/>
              </a:spcAft>
              <a:buFont typeface="Arial" panose="020B0604020202020204" pitchFamily="34" charset="0"/>
              <a:buChar char="​"/>
              <a:defRPr lang="en-US" sz="5400" baseline="0" smtClean="0">
                <a:solidFill>
                  <a:schemeClr val="tx2"/>
                </a:solidFill>
                <a:latin typeface="Trebuchet MS" panose="020B0603020202020204" pitchFamily="34" charset="0"/>
                <a:sym typeface="Trebuchet MS" panose="020B0603020202020204" pitchFamily="34" charset="0"/>
              </a:defRPr>
            </a:lvl8pPr>
            <a:lvl9pPr marL="0" lvl="8" indent="0">
              <a:lnSpc>
                <a:spcPct val="100000"/>
              </a:lnSpc>
              <a:spcBef>
                <a:spcPts val="0"/>
              </a:spcBef>
              <a:spcAft>
                <a:spcPts val="900"/>
              </a:spcAft>
              <a:buFont typeface="Arial" panose="020B0604020202020204" pitchFamily="34" charset="0"/>
              <a:buChar char="​"/>
              <a:defRPr lang="en-US" sz="2400" baseline="0" dirty="0">
                <a:solidFill>
                  <a:schemeClr val="tx2"/>
                </a:solidFill>
                <a:latin typeface="Trebuchet MS" panose="020B0603020202020204" pitchFamily="34" charset="0"/>
                <a:sym typeface="Trebuchet MS" panose="020B0603020202020204" pitchFamily="34" charset="0"/>
              </a:defRPr>
            </a:lvl9pPr>
          </a:lstStyle>
          <a:p>
            <a:pPr algn="ctr">
              <a:lnSpc>
                <a:spcPct val="100000"/>
              </a:lnSpc>
              <a:spcBef>
                <a:spcPts val="0"/>
              </a:spcBef>
              <a:spcAft>
                <a:spcPts val="0"/>
              </a:spcAft>
              <a:buSzPct val="100000"/>
              <a:buFont typeface="Trebuchet MS" panose="020B0603020202020204" pitchFamily="34" charset="0"/>
              <a:buChar char="​"/>
            </a:pPr>
            <a:r>
              <a:rPr lang="en-GB" sz="1400" dirty="0">
                <a:solidFill>
                  <a:srgbClr val="2C2C2C"/>
                </a:solidFill>
              </a:rPr>
              <a:t>~300 000 events / s (single CPU)</a:t>
            </a:r>
            <a:endParaRPr lang="en-US" sz="1400" dirty="0">
              <a:solidFill>
                <a:srgbClr val="2C2C2C"/>
              </a:solidFill>
            </a:endParaRPr>
          </a:p>
        </p:txBody>
      </p:sp>
      <p:sp>
        <p:nvSpPr>
          <p:cNvPr id="7" name="ee4pContent2">
            <a:extLst>
              <a:ext uri="{FF2B5EF4-FFF2-40B4-BE49-F238E27FC236}">
                <a16:creationId xmlns:a16="http://schemas.microsoft.com/office/drawing/2014/main" id="{D9616897-58F7-AE45-D070-5DE64DC516D5}"/>
              </a:ext>
            </a:extLst>
          </p:cNvPr>
          <p:cNvSpPr txBox="1"/>
          <p:nvPr/>
        </p:nvSpPr>
        <p:spPr>
          <a:xfrm>
            <a:off x="2709652" y="3592128"/>
            <a:ext cx="1501371" cy="215444"/>
          </a:xfrm>
          <a:prstGeom prst="rect">
            <a:avLst/>
          </a:prstGeom>
        </p:spPr>
        <p:txBody>
          <a:bodyPr vert="horz" wrap="square" lIns="0" tIns="0" rIns="0" bIns="0" rtlCol="0">
            <a:spAutoFit/>
          </a:bodyPr>
          <a:lstStyle>
            <a:lvl1pPr lvl="0" indent="0">
              <a:lnSpc>
                <a:spcPct val="110000"/>
              </a:lnSpc>
              <a:spcBef>
                <a:spcPts val="600"/>
              </a:spcBef>
              <a:spcAft>
                <a:spcPts val="300"/>
              </a:spcAft>
              <a:buFont typeface="Arial" panose="020B0604020202020204" pitchFamily="34" charset="0"/>
              <a:buChar char="​"/>
              <a:defRPr lang="en-US" sz="1200">
                <a:latin typeface="Trebuchet MS" panose="020B0603020202020204" pitchFamily="34" charset="0"/>
                <a:sym typeface="Trebuchet MS" panose="020B0603020202020204" pitchFamily="34" charset="0"/>
              </a:defRPr>
            </a:lvl1pPr>
            <a:lvl2pPr marL="284400" lvl="1" indent="-172800">
              <a:lnSpc>
                <a:spcPct val="90000"/>
              </a:lnSpc>
              <a:spcBef>
                <a:spcPts val="0"/>
              </a:spcBef>
              <a:spcAft>
                <a:spcPts val="300"/>
              </a:spcAft>
              <a:buClr>
                <a:schemeClr val="tx2"/>
              </a:buClr>
              <a:buFont typeface="Arial" panose="020B0604020202020204" pitchFamily="34" charset="0"/>
              <a:buChar char="•"/>
              <a:defRPr lang="en-US" sz="1200">
                <a:latin typeface="Trebuchet MS" panose="020B0603020202020204" pitchFamily="34" charset="0"/>
                <a:sym typeface="Trebuchet MS" panose="020B0603020202020204" pitchFamily="34" charset="0"/>
              </a:defRPr>
            </a:lvl2pPr>
            <a:lvl3pPr marL="511200" lvl="2" indent="-165600">
              <a:lnSpc>
                <a:spcPct val="90000"/>
              </a:lnSpc>
              <a:spcBef>
                <a:spcPts val="0"/>
              </a:spcBef>
              <a:spcAft>
                <a:spcPts val="300"/>
              </a:spcAft>
              <a:buClr>
                <a:schemeClr val="tx2"/>
              </a:buClr>
              <a:buFont typeface="Trebuchet MS" panose="020B0603020202020204" pitchFamily="34" charset="0"/>
              <a:buChar char="–"/>
              <a:defRPr lang="en-US" sz="1200">
                <a:latin typeface="Trebuchet MS" panose="020B0603020202020204" pitchFamily="34" charset="0"/>
                <a:sym typeface="Trebuchet MS" panose="020B0603020202020204" pitchFamily="34" charset="0"/>
              </a:defRPr>
            </a:lvl3pPr>
            <a:lvl4pPr marL="0" lvl="3" indent="0">
              <a:lnSpc>
                <a:spcPct val="110000"/>
              </a:lnSpc>
              <a:spcBef>
                <a:spcPts val="300"/>
              </a:spcBef>
              <a:spcAft>
                <a:spcPts val="300"/>
              </a:spcAft>
              <a:buClr>
                <a:schemeClr val="tx2"/>
              </a:buClr>
              <a:buFont typeface="Arial" panose="020B0604020202020204" pitchFamily="34" charset="0"/>
              <a:buChar char="​"/>
              <a:defRPr lang="en-US" sz="1600">
                <a:solidFill>
                  <a:schemeClr val="tx2"/>
                </a:solidFill>
                <a:latin typeface="Trebuchet MS" panose="020B0603020202020204" pitchFamily="34" charset="0"/>
                <a:sym typeface="Trebuchet MS" panose="020B0603020202020204" pitchFamily="34" charset="0"/>
              </a:defRPr>
            </a:lvl4pPr>
            <a:lvl5pPr marL="0" lvl="4" indent="0">
              <a:lnSpc>
                <a:spcPct val="100000"/>
              </a:lnSpc>
              <a:spcBef>
                <a:spcPts val="0"/>
              </a:spcBef>
              <a:spcAft>
                <a:spcPts val="300"/>
              </a:spcAft>
              <a:buClrTx/>
              <a:buFont typeface="Arial" panose="020B0604020202020204" pitchFamily="34" charset="0"/>
              <a:buChar char="​"/>
              <a:defRPr lang="en-US" sz="1600" b="1" smtClean="0">
                <a:latin typeface="Trebuchet MS" panose="020B0603020202020204" pitchFamily="34" charset="0"/>
                <a:sym typeface="Trebuchet MS" panose="020B0603020202020204" pitchFamily="34" charset="0"/>
              </a:defRPr>
            </a:lvl5pPr>
            <a:lvl6pPr marL="269875" lvl="5" indent="-152400">
              <a:lnSpc>
                <a:spcPct val="90000"/>
              </a:lnSpc>
              <a:spcBef>
                <a:spcPts val="0"/>
              </a:spcBef>
              <a:spcAft>
                <a:spcPts val="600"/>
              </a:spcAft>
              <a:buClr>
                <a:schemeClr val="tx2"/>
              </a:buClr>
              <a:buFont typeface="Arial" panose="020B0604020202020204" pitchFamily="34" charset="0"/>
              <a:buChar char="•"/>
              <a:defRPr lang="en-US" sz="1600" smtClean="0">
                <a:latin typeface="Trebuchet MS" panose="020B0603020202020204" pitchFamily="34" charset="0"/>
                <a:sym typeface="Trebuchet MS" panose="020B0603020202020204" pitchFamily="34" charset="0"/>
              </a:defRPr>
            </a:lvl6pPr>
            <a:lvl7pPr marL="0" lvl="6" indent="0">
              <a:lnSpc>
                <a:spcPct val="90000"/>
              </a:lnSpc>
              <a:spcBef>
                <a:spcPts val="900"/>
              </a:spcBef>
              <a:spcAft>
                <a:spcPts val="900"/>
              </a:spcAft>
              <a:buFont typeface="Arial" panose="020B0604020202020204" pitchFamily="34" charset="0"/>
              <a:buChar char="​"/>
              <a:defRPr lang="en-US" sz="4400" baseline="0" smtClean="0">
                <a:latin typeface="Trebuchet MS" panose="020B0603020202020204" pitchFamily="34" charset="0"/>
                <a:sym typeface="Trebuchet MS" panose="020B0603020202020204" pitchFamily="34" charset="0"/>
              </a:defRPr>
            </a:lvl7pPr>
            <a:lvl8pPr marL="0" lvl="7" indent="0">
              <a:lnSpc>
                <a:spcPct val="90000"/>
              </a:lnSpc>
              <a:spcBef>
                <a:spcPts val="900"/>
              </a:spcBef>
              <a:spcAft>
                <a:spcPts val="0"/>
              </a:spcAft>
              <a:buFont typeface="Arial" panose="020B0604020202020204" pitchFamily="34" charset="0"/>
              <a:buChar char="​"/>
              <a:defRPr lang="en-US" sz="5400" baseline="0" smtClean="0">
                <a:solidFill>
                  <a:schemeClr val="tx2"/>
                </a:solidFill>
                <a:latin typeface="Trebuchet MS" panose="020B0603020202020204" pitchFamily="34" charset="0"/>
                <a:sym typeface="Trebuchet MS" panose="020B0603020202020204" pitchFamily="34" charset="0"/>
              </a:defRPr>
            </a:lvl8pPr>
            <a:lvl9pPr marL="0" lvl="8" indent="0">
              <a:lnSpc>
                <a:spcPct val="100000"/>
              </a:lnSpc>
              <a:spcBef>
                <a:spcPts val="0"/>
              </a:spcBef>
              <a:spcAft>
                <a:spcPts val="900"/>
              </a:spcAft>
              <a:buFont typeface="Arial" panose="020B0604020202020204" pitchFamily="34" charset="0"/>
              <a:buChar char="​"/>
              <a:defRPr lang="en-US" sz="2400" baseline="0" dirty="0">
                <a:solidFill>
                  <a:schemeClr val="tx2"/>
                </a:solidFill>
                <a:latin typeface="Trebuchet MS" panose="020B0603020202020204" pitchFamily="34" charset="0"/>
                <a:sym typeface="Trebuchet MS" panose="020B0603020202020204" pitchFamily="34" charset="0"/>
              </a:defRPr>
            </a:lvl9pPr>
          </a:lstStyle>
          <a:p>
            <a:pPr>
              <a:lnSpc>
                <a:spcPct val="100000"/>
              </a:lnSpc>
              <a:spcBef>
                <a:spcPts val="0"/>
              </a:spcBef>
              <a:spcAft>
                <a:spcPts val="0"/>
              </a:spcAft>
              <a:buSzPct val="100000"/>
              <a:buFont typeface="Trebuchet MS" panose="020B0603020202020204" pitchFamily="34" charset="0"/>
              <a:buChar char="​"/>
            </a:pPr>
            <a:r>
              <a:rPr lang="en-GB" sz="1400" dirty="0">
                <a:solidFill>
                  <a:srgbClr val="2C2C2C"/>
                </a:solidFill>
              </a:rPr>
              <a:t>&lt; 1 </a:t>
            </a:r>
            <a:r>
              <a:rPr lang="en-GB" sz="1400" dirty="0" err="1">
                <a:solidFill>
                  <a:srgbClr val="2C2C2C"/>
                </a:solidFill>
              </a:rPr>
              <a:t>ms</a:t>
            </a:r>
            <a:r>
              <a:rPr lang="en-GB" sz="1400" dirty="0">
                <a:solidFill>
                  <a:srgbClr val="2C2C2C"/>
                </a:solidFill>
              </a:rPr>
              <a:t> end-to-end</a:t>
            </a:r>
            <a:endParaRPr lang="en-US" sz="1400" dirty="0">
              <a:solidFill>
                <a:srgbClr val="2C2C2C"/>
              </a:solidFill>
            </a:endParaRPr>
          </a:p>
        </p:txBody>
      </p:sp>
      <p:sp>
        <p:nvSpPr>
          <p:cNvPr id="9" name="ee4pContent3">
            <a:extLst>
              <a:ext uri="{FF2B5EF4-FFF2-40B4-BE49-F238E27FC236}">
                <a16:creationId xmlns:a16="http://schemas.microsoft.com/office/drawing/2014/main" id="{F9399F65-D56E-9508-D0D5-F9EFD6BDFBC6}"/>
              </a:ext>
            </a:extLst>
          </p:cNvPr>
          <p:cNvSpPr txBox="1"/>
          <p:nvPr/>
        </p:nvSpPr>
        <p:spPr>
          <a:xfrm>
            <a:off x="4783594" y="3592128"/>
            <a:ext cx="1499478" cy="430887"/>
          </a:xfrm>
          <a:prstGeom prst="rect">
            <a:avLst/>
          </a:prstGeom>
        </p:spPr>
        <p:txBody>
          <a:bodyPr vert="horz" wrap="square" lIns="0" tIns="0" rIns="0" bIns="0" rtlCol="0">
            <a:spAutoFit/>
          </a:bodyPr>
          <a:lstStyle>
            <a:lvl1pPr lvl="0" indent="0">
              <a:lnSpc>
                <a:spcPct val="110000"/>
              </a:lnSpc>
              <a:spcBef>
                <a:spcPts val="600"/>
              </a:spcBef>
              <a:spcAft>
                <a:spcPts val="300"/>
              </a:spcAft>
              <a:buFont typeface="Arial" panose="020B0604020202020204" pitchFamily="34" charset="0"/>
              <a:buChar char="​"/>
              <a:defRPr lang="en-US" sz="1200">
                <a:latin typeface="Trebuchet MS" panose="020B0603020202020204" pitchFamily="34" charset="0"/>
                <a:sym typeface="Trebuchet MS" panose="020B0603020202020204" pitchFamily="34" charset="0"/>
              </a:defRPr>
            </a:lvl1pPr>
            <a:lvl2pPr marL="284400" lvl="1" indent="-172800">
              <a:lnSpc>
                <a:spcPct val="90000"/>
              </a:lnSpc>
              <a:spcBef>
                <a:spcPts val="0"/>
              </a:spcBef>
              <a:spcAft>
                <a:spcPts val="300"/>
              </a:spcAft>
              <a:buClr>
                <a:schemeClr val="tx2"/>
              </a:buClr>
              <a:buFont typeface="Arial" panose="020B0604020202020204" pitchFamily="34" charset="0"/>
              <a:buChar char="•"/>
              <a:defRPr lang="en-US" sz="1200">
                <a:latin typeface="Trebuchet MS" panose="020B0603020202020204" pitchFamily="34" charset="0"/>
                <a:sym typeface="Trebuchet MS" panose="020B0603020202020204" pitchFamily="34" charset="0"/>
              </a:defRPr>
            </a:lvl2pPr>
            <a:lvl3pPr marL="511200" lvl="2" indent="-165600">
              <a:lnSpc>
                <a:spcPct val="90000"/>
              </a:lnSpc>
              <a:spcBef>
                <a:spcPts val="0"/>
              </a:spcBef>
              <a:spcAft>
                <a:spcPts val="300"/>
              </a:spcAft>
              <a:buClr>
                <a:schemeClr val="tx2"/>
              </a:buClr>
              <a:buFont typeface="Trebuchet MS" panose="020B0603020202020204" pitchFamily="34" charset="0"/>
              <a:buChar char="–"/>
              <a:defRPr lang="en-US" sz="1200">
                <a:latin typeface="Trebuchet MS" panose="020B0603020202020204" pitchFamily="34" charset="0"/>
                <a:sym typeface="Trebuchet MS" panose="020B0603020202020204" pitchFamily="34" charset="0"/>
              </a:defRPr>
            </a:lvl3pPr>
            <a:lvl4pPr marL="0" lvl="3" indent="0">
              <a:lnSpc>
                <a:spcPct val="110000"/>
              </a:lnSpc>
              <a:spcBef>
                <a:spcPts val="300"/>
              </a:spcBef>
              <a:spcAft>
                <a:spcPts val="300"/>
              </a:spcAft>
              <a:buClr>
                <a:schemeClr val="tx2"/>
              </a:buClr>
              <a:buFont typeface="Arial" panose="020B0604020202020204" pitchFamily="34" charset="0"/>
              <a:buChar char="​"/>
              <a:defRPr lang="en-US" sz="1600">
                <a:solidFill>
                  <a:schemeClr val="tx2"/>
                </a:solidFill>
                <a:latin typeface="Trebuchet MS" panose="020B0603020202020204" pitchFamily="34" charset="0"/>
                <a:sym typeface="Trebuchet MS" panose="020B0603020202020204" pitchFamily="34" charset="0"/>
              </a:defRPr>
            </a:lvl4pPr>
            <a:lvl5pPr marL="0" lvl="4" indent="0">
              <a:lnSpc>
                <a:spcPct val="100000"/>
              </a:lnSpc>
              <a:spcBef>
                <a:spcPts val="0"/>
              </a:spcBef>
              <a:spcAft>
                <a:spcPts val="300"/>
              </a:spcAft>
              <a:buClrTx/>
              <a:buFont typeface="Arial" panose="020B0604020202020204" pitchFamily="34" charset="0"/>
              <a:buChar char="​"/>
              <a:defRPr lang="en-US" sz="1600" b="1" smtClean="0">
                <a:latin typeface="Trebuchet MS" panose="020B0603020202020204" pitchFamily="34" charset="0"/>
                <a:sym typeface="Trebuchet MS" panose="020B0603020202020204" pitchFamily="34" charset="0"/>
              </a:defRPr>
            </a:lvl5pPr>
            <a:lvl6pPr marL="269875" lvl="5" indent="-152400">
              <a:lnSpc>
                <a:spcPct val="90000"/>
              </a:lnSpc>
              <a:spcBef>
                <a:spcPts val="0"/>
              </a:spcBef>
              <a:spcAft>
                <a:spcPts val="600"/>
              </a:spcAft>
              <a:buClr>
                <a:schemeClr val="tx2"/>
              </a:buClr>
              <a:buFont typeface="Arial" panose="020B0604020202020204" pitchFamily="34" charset="0"/>
              <a:buChar char="•"/>
              <a:defRPr lang="en-US" sz="1600" smtClean="0">
                <a:latin typeface="Trebuchet MS" panose="020B0603020202020204" pitchFamily="34" charset="0"/>
                <a:sym typeface="Trebuchet MS" panose="020B0603020202020204" pitchFamily="34" charset="0"/>
              </a:defRPr>
            </a:lvl6pPr>
            <a:lvl7pPr marL="0" lvl="6" indent="0">
              <a:lnSpc>
                <a:spcPct val="90000"/>
              </a:lnSpc>
              <a:spcBef>
                <a:spcPts val="900"/>
              </a:spcBef>
              <a:spcAft>
                <a:spcPts val="900"/>
              </a:spcAft>
              <a:buFont typeface="Arial" panose="020B0604020202020204" pitchFamily="34" charset="0"/>
              <a:buChar char="​"/>
              <a:defRPr lang="en-US" sz="4400" baseline="0" smtClean="0">
                <a:latin typeface="Trebuchet MS" panose="020B0603020202020204" pitchFamily="34" charset="0"/>
                <a:sym typeface="Trebuchet MS" panose="020B0603020202020204" pitchFamily="34" charset="0"/>
              </a:defRPr>
            </a:lvl7pPr>
            <a:lvl8pPr marL="0" lvl="7" indent="0">
              <a:lnSpc>
                <a:spcPct val="90000"/>
              </a:lnSpc>
              <a:spcBef>
                <a:spcPts val="900"/>
              </a:spcBef>
              <a:spcAft>
                <a:spcPts val="0"/>
              </a:spcAft>
              <a:buFont typeface="Arial" panose="020B0604020202020204" pitchFamily="34" charset="0"/>
              <a:buChar char="​"/>
              <a:defRPr lang="en-US" sz="5400" baseline="0" smtClean="0">
                <a:solidFill>
                  <a:schemeClr val="tx2"/>
                </a:solidFill>
                <a:latin typeface="Trebuchet MS" panose="020B0603020202020204" pitchFamily="34" charset="0"/>
                <a:sym typeface="Trebuchet MS" panose="020B0603020202020204" pitchFamily="34" charset="0"/>
              </a:defRPr>
            </a:lvl8pPr>
            <a:lvl9pPr marL="0" lvl="8" indent="0">
              <a:lnSpc>
                <a:spcPct val="100000"/>
              </a:lnSpc>
              <a:spcBef>
                <a:spcPts val="0"/>
              </a:spcBef>
              <a:spcAft>
                <a:spcPts val="900"/>
              </a:spcAft>
              <a:buFont typeface="Arial" panose="020B0604020202020204" pitchFamily="34" charset="0"/>
              <a:buChar char="​"/>
              <a:defRPr lang="en-US" sz="2400" baseline="0" dirty="0">
                <a:solidFill>
                  <a:schemeClr val="tx2"/>
                </a:solidFill>
                <a:latin typeface="Trebuchet MS" panose="020B0603020202020204" pitchFamily="34" charset="0"/>
                <a:sym typeface="Trebuchet MS" panose="020B0603020202020204" pitchFamily="34" charset="0"/>
              </a:defRPr>
            </a:lvl9pPr>
          </a:lstStyle>
          <a:p>
            <a:pPr algn="ctr">
              <a:lnSpc>
                <a:spcPct val="100000"/>
              </a:lnSpc>
              <a:spcBef>
                <a:spcPts val="0"/>
              </a:spcBef>
              <a:spcAft>
                <a:spcPts val="0"/>
              </a:spcAft>
              <a:buSzPct val="100000"/>
              <a:buFont typeface="Trebuchet MS" panose="020B0603020202020204" pitchFamily="34" charset="0"/>
              <a:buChar char="​"/>
            </a:pPr>
            <a:r>
              <a:rPr lang="en-GB" sz="1400" dirty="0"/>
              <a:t>99.9 % (4 / 4 services UP)</a:t>
            </a:r>
            <a:endParaRPr lang="en-US" sz="1400" dirty="0">
              <a:solidFill>
                <a:srgbClr val="2C2C2C"/>
              </a:solidFill>
            </a:endParaRPr>
          </a:p>
        </p:txBody>
      </p:sp>
      <p:sp>
        <p:nvSpPr>
          <p:cNvPr id="11" name="ee4pContent4">
            <a:extLst>
              <a:ext uri="{FF2B5EF4-FFF2-40B4-BE49-F238E27FC236}">
                <a16:creationId xmlns:a16="http://schemas.microsoft.com/office/drawing/2014/main" id="{5C0A04F3-9B2E-B77A-83EB-67237C6894A0}"/>
              </a:ext>
            </a:extLst>
          </p:cNvPr>
          <p:cNvSpPr txBox="1"/>
          <p:nvPr/>
        </p:nvSpPr>
        <p:spPr>
          <a:xfrm>
            <a:off x="6855643" y="3592128"/>
            <a:ext cx="1501371" cy="430887"/>
          </a:xfrm>
          <a:prstGeom prst="rect">
            <a:avLst/>
          </a:prstGeom>
        </p:spPr>
        <p:txBody>
          <a:bodyPr vert="horz" wrap="square" lIns="0" tIns="0" rIns="0" bIns="0" rtlCol="0">
            <a:spAutoFit/>
          </a:bodyPr>
          <a:lstStyle>
            <a:lvl1pPr lvl="0" indent="0">
              <a:lnSpc>
                <a:spcPct val="110000"/>
              </a:lnSpc>
              <a:spcBef>
                <a:spcPts val="600"/>
              </a:spcBef>
              <a:spcAft>
                <a:spcPts val="300"/>
              </a:spcAft>
              <a:buFont typeface="Arial" panose="020B0604020202020204" pitchFamily="34" charset="0"/>
              <a:buChar char="​"/>
              <a:defRPr lang="en-US" sz="1200">
                <a:latin typeface="Trebuchet MS" panose="020B0603020202020204" pitchFamily="34" charset="0"/>
                <a:sym typeface="Trebuchet MS" panose="020B0603020202020204" pitchFamily="34" charset="0"/>
              </a:defRPr>
            </a:lvl1pPr>
            <a:lvl2pPr marL="284400" lvl="1" indent="-172800">
              <a:lnSpc>
                <a:spcPct val="90000"/>
              </a:lnSpc>
              <a:spcBef>
                <a:spcPts val="0"/>
              </a:spcBef>
              <a:spcAft>
                <a:spcPts val="300"/>
              </a:spcAft>
              <a:buClr>
                <a:schemeClr val="tx2"/>
              </a:buClr>
              <a:buFont typeface="Arial" panose="020B0604020202020204" pitchFamily="34" charset="0"/>
              <a:buChar char="•"/>
              <a:defRPr lang="en-US" sz="1200">
                <a:latin typeface="Trebuchet MS" panose="020B0603020202020204" pitchFamily="34" charset="0"/>
                <a:sym typeface="Trebuchet MS" panose="020B0603020202020204" pitchFamily="34" charset="0"/>
              </a:defRPr>
            </a:lvl2pPr>
            <a:lvl3pPr marL="511200" lvl="2" indent="-165600">
              <a:lnSpc>
                <a:spcPct val="90000"/>
              </a:lnSpc>
              <a:spcBef>
                <a:spcPts val="0"/>
              </a:spcBef>
              <a:spcAft>
                <a:spcPts val="300"/>
              </a:spcAft>
              <a:buClr>
                <a:schemeClr val="tx2"/>
              </a:buClr>
              <a:buFont typeface="Trebuchet MS" panose="020B0603020202020204" pitchFamily="34" charset="0"/>
              <a:buChar char="–"/>
              <a:defRPr lang="en-US" sz="1200">
                <a:latin typeface="Trebuchet MS" panose="020B0603020202020204" pitchFamily="34" charset="0"/>
                <a:sym typeface="Trebuchet MS" panose="020B0603020202020204" pitchFamily="34" charset="0"/>
              </a:defRPr>
            </a:lvl3pPr>
            <a:lvl4pPr marL="0" lvl="3" indent="0">
              <a:lnSpc>
                <a:spcPct val="110000"/>
              </a:lnSpc>
              <a:spcBef>
                <a:spcPts val="300"/>
              </a:spcBef>
              <a:spcAft>
                <a:spcPts val="300"/>
              </a:spcAft>
              <a:buClr>
                <a:schemeClr val="tx2"/>
              </a:buClr>
              <a:buFont typeface="Arial" panose="020B0604020202020204" pitchFamily="34" charset="0"/>
              <a:buChar char="​"/>
              <a:defRPr lang="en-US" sz="1600">
                <a:solidFill>
                  <a:schemeClr val="tx2"/>
                </a:solidFill>
                <a:latin typeface="Trebuchet MS" panose="020B0603020202020204" pitchFamily="34" charset="0"/>
                <a:sym typeface="Trebuchet MS" panose="020B0603020202020204" pitchFamily="34" charset="0"/>
              </a:defRPr>
            </a:lvl4pPr>
            <a:lvl5pPr marL="0" lvl="4" indent="0">
              <a:lnSpc>
                <a:spcPct val="100000"/>
              </a:lnSpc>
              <a:spcBef>
                <a:spcPts val="0"/>
              </a:spcBef>
              <a:spcAft>
                <a:spcPts val="300"/>
              </a:spcAft>
              <a:buClrTx/>
              <a:buFont typeface="Arial" panose="020B0604020202020204" pitchFamily="34" charset="0"/>
              <a:buChar char="​"/>
              <a:defRPr lang="en-US" sz="1600" b="1" smtClean="0">
                <a:latin typeface="Trebuchet MS" panose="020B0603020202020204" pitchFamily="34" charset="0"/>
                <a:sym typeface="Trebuchet MS" panose="020B0603020202020204" pitchFamily="34" charset="0"/>
              </a:defRPr>
            </a:lvl5pPr>
            <a:lvl6pPr marL="269875" lvl="5" indent="-152400">
              <a:lnSpc>
                <a:spcPct val="90000"/>
              </a:lnSpc>
              <a:spcBef>
                <a:spcPts val="0"/>
              </a:spcBef>
              <a:spcAft>
                <a:spcPts val="600"/>
              </a:spcAft>
              <a:buClr>
                <a:schemeClr val="tx2"/>
              </a:buClr>
              <a:buFont typeface="Arial" panose="020B0604020202020204" pitchFamily="34" charset="0"/>
              <a:buChar char="•"/>
              <a:defRPr lang="en-US" sz="1600" smtClean="0">
                <a:latin typeface="Trebuchet MS" panose="020B0603020202020204" pitchFamily="34" charset="0"/>
                <a:sym typeface="Trebuchet MS" panose="020B0603020202020204" pitchFamily="34" charset="0"/>
              </a:defRPr>
            </a:lvl6pPr>
            <a:lvl7pPr marL="0" lvl="6" indent="0">
              <a:lnSpc>
                <a:spcPct val="90000"/>
              </a:lnSpc>
              <a:spcBef>
                <a:spcPts val="900"/>
              </a:spcBef>
              <a:spcAft>
                <a:spcPts val="900"/>
              </a:spcAft>
              <a:buFont typeface="Arial" panose="020B0604020202020204" pitchFamily="34" charset="0"/>
              <a:buChar char="​"/>
              <a:defRPr lang="en-US" sz="4400" baseline="0" smtClean="0">
                <a:latin typeface="Trebuchet MS" panose="020B0603020202020204" pitchFamily="34" charset="0"/>
                <a:sym typeface="Trebuchet MS" panose="020B0603020202020204" pitchFamily="34" charset="0"/>
              </a:defRPr>
            </a:lvl7pPr>
            <a:lvl8pPr marL="0" lvl="7" indent="0">
              <a:lnSpc>
                <a:spcPct val="90000"/>
              </a:lnSpc>
              <a:spcBef>
                <a:spcPts val="900"/>
              </a:spcBef>
              <a:spcAft>
                <a:spcPts val="0"/>
              </a:spcAft>
              <a:buFont typeface="Arial" panose="020B0604020202020204" pitchFamily="34" charset="0"/>
              <a:buChar char="​"/>
              <a:defRPr lang="en-US" sz="5400" baseline="0" smtClean="0">
                <a:solidFill>
                  <a:schemeClr val="tx2"/>
                </a:solidFill>
                <a:latin typeface="Trebuchet MS" panose="020B0603020202020204" pitchFamily="34" charset="0"/>
                <a:sym typeface="Trebuchet MS" panose="020B0603020202020204" pitchFamily="34" charset="0"/>
              </a:defRPr>
            </a:lvl8pPr>
            <a:lvl9pPr marL="0" lvl="8" indent="0">
              <a:lnSpc>
                <a:spcPct val="100000"/>
              </a:lnSpc>
              <a:spcBef>
                <a:spcPts val="0"/>
              </a:spcBef>
              <a:spcAft>
                <a:spcPts val="900"/>
              </a:spcAft>
              <a:buFont typeface="Arial" panose="020B0604020202020204" pitchFamily="34" charset="0"/>
              <a:buChar char="​"/>
              <a:defRPr lang="en-US" sz="2400" baseline="0" dirty="0">
                <a:solidFill>
                  <a:schemeClr val="tx2"/>
                </a:solidFill>
                <a:latin typeface="Trebuchet MS" panose="020B0603020202020204" pitchFamily="34" charset="0"/>
                <a:sym typeface="Trebuchet MS" panose="020B0603020202020204" pitchFamily="34" charset="0"/>
              </a:defRPr>
            </a:lvl9pPr>
          </a:lstStyle>
          <a:p>
            <a:pPr algn="ctr">
              <a:lnSpc>
                <a:spcPct val="100000"/>
              </a:lnSpc>
              <a:spcBef>
                <a:spcPts val="0"/>
              </a:spcBef>
              <a:spcAft>
                <a:spcPts val="0"/>
              </a:spcAft>
              <a:buSzPct val="100000"/>
              <a:buFont typeface="Trebuchet MS" panose="020B0603020202020204" pitchFamily="34" charset="0"/>
              <a:buChar char="​"/>
            </a:pPr>
            <a:r>
              <a:rPr lang="en-GB" sz="1400" dirty="0"/>
              <a:t>~58 % under peak load</a:t>
            </a:r>
            <a:endParaRPr lang="en-US" sz="1400" dirty="0">
              <a:solidFill>
                <a:srgbClr val="2C2C2C"/>
              </a:solidFill>
            </a:endParaRPr>
          </a:p>
        </p:txBody>
      </p:sp>
      <p:sp>
        <p:nvSpPr>
          <p:cNvPr id="12" name="ee4pHeader1">
            <a:extLst>
              <a:ext uri="{FF2B5EF4-FFF2-40B4-BE49-F238E27FC236}">
                <a16:creationId xmlns:a16="http://schemas.microsoft.com/office/drawing/2014/main" id="{1EAE8DBE-3FA6-191E-DD2A-FD78240F2AAC}"/>
              </a:ext>
            </a:extLst>
          </p:cNvPr>
          <p:cNvSpPr txBox="1"/>
          <p:nvPr/>
        </p:nvSpPr>
        <p:spPr>
          <a:xfrm>
            <a:off x="635710" y="2954163"/>
            <a:ext cx="1929384" cy="246221"/>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Throughput</a:t>
            </a:r>
            <a:endParaRPr lang="en-US" sz="1600" dirty="0">
              <a:solidFill>
                <a:srgbClr val="B71C1C"/>
              </a:solidFill>
              <a:latin typeface="Trebuchet MS" panose="020B0603020202020204" pitchFamily="34" charset="0"/>
            </a:endParaRPr>
          </a:p>
        </p:txBody>
      </p:sp>
      <p:sp>
        <p:nvSpPr>
          <p:cNvPr id="13" name="ee4pHeader2">
            <a:extLst>
              <a:ext uri="{FF2B5EF4-FFF2-40B4-BE49-F238E27FC236}">
                <a16:creationId xmlns:a16="http://schemas.microsoft.com/office/drawing/2014/main" id="{C25AE434-A26E-17D7-029C-7592570F61E2}"/>
              </a:ext>
            </a:extLst>
          </p:cNvPr>
          <p:cNvSpPr txBox="1"/>
          <p:nvPr/>
        </p:nvSpPr>
        <p:spPr>
          <a:xfrm>
            <a:off x="2631099" y="2954163"/>
            <a:ext cx="1929384" cy="246221"/>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Average Latency</a:t>
            </a:r>
            <a:endParaRPr lang="en-US" sz="1600" dirty="0">
              <a:solidFill>
                <a:srgbClr val="B71C1C"/>
              </a:solidFill>
              <a:latin typeface="Trebuchet MS" panose="020B0603020202020204" pitchFamily="34" charset="0"/>
            </a:endParaRPr>
          </a:p>
        </p:txBody>
      </p:sp>
      <p:sp>
        <p:nvSpPr>
          <p:cNvPr id="14" name="ee4pHeader3">
            <a:extLst>
              <a:ext uri="{FF2B5EF4-FFF2-40B4-BE49-F238E27FC236}">
                <a16:creationId xmlns:a16="http://schemas.microsoft.com/office/drawing/2014/main" id="{DFCB85CC-10D1-CBDA-2F17-6B8A9ADA0010}"/>
              </a:ext>
            </a:extLst>
          </p:cNvPr>
          <p:cNvSpPr txBox="1"/>
          <p:nvPr/>
        </p:nvSpPr>
        <p:spPr>
          <a:xfrm>
            <a:off x="4626488" y="2954163"/>
            <a:ext cx="1929384" cy="246221"/>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Availability</a:t>
            </a:r>
            <a:endParaRPr lang="en-US" sz="1600" dirty="0">
              <a:solidFill>
                <a:srgbClr val="B71C1C"/>
              </a:solidFill>
              <a:latin typeface="Trebuchet MS" panose="020B0603020202020204" pitchFamily="34" charset="0"/>
            </a:endParaRPr>
          </a:p>
        </p:txBody>
      </p:sp>
      <p:sp>
        <p:nvSpPr>
          <p:cNvPr id="15" name="ee4pHeader4">
            <a:extLst>
              <a:ext uri="{FF2B5EF4-FFF2-40B4-BE49-F238E27FC236}">
                <a16:creationId xmlns:a16="http://schemas.microsoft.com/office/drawing/2014/main" id="{8FAE2B14-2CE1-6527-72A5-74704650BD22}"/>
              </a:ext>
            </a:extLst>
          </p:cNvPr>
          <p:cNvSpPr txBox="1"/>
          <p:nvPr/>
        </p:nvSpPr>
        <p:spPr>
          <a:xfrm>
            <a:off x="6621878" y="2954163"/>
            <a:ext cx="1929384" cy="492443"/>
          </a:xfrm>
          <a:prstGeom prst="rect">
            <a:avLst/>
          </a:prstGeom>
          <a:noFill/>
        </p:spPr>
        <p:txBody>
          <a:bodyPr wrap="square" lIns="0" tIns="0" rIns="0" bIns="0" rtlCol="0" anchor="b" anchorCtr="0">
            <a:spAutoFit/>
          </a:bodyPr>
          <a:lstStyle/>
          <a:p>
            <a:pPr algn="ctr">
              <a:buSzPct val="100000"/>
              <a:buFont typeface="Trebuchet MS" panose="020B0603020202020204" pitchFamily="34" charset="0"/>
              <a:buChar char="​"/>
            </a:pPr>
            <a:r>
              <a:rPr lang="en-GB" sz="1600" dirty="0">
                <a:solidFill>
                  <a:srgbClr val="B71C1C"/>
                </a:solidFill>
              </a:rPr>
              <a:t>CPU Usage Under Load</a:t>
            </a:r>
            <a:endParaRPr lang="en-US" sz="1600" dirty="0">
              <a:solidFill>
                <a:srgbClr val="B71C1C"/>
              </a:solidFill>
              <a:latin typeface="Trebuchet MS" panose="020B0603020202020204" pitchFamily="34" charset="0"/>
            </a:endParaRPr>
          </a:p>
        </p:txBody>
      </p:sp>
      <p:pic>
        <p:nvPicPr>
          <p:cNvPr id="16" name="Picture 15">
            <a:extLst>
              <a:ext uri="{FF2B5EF4-FFF2-40B4-BE49-F238E27FC236}">
                <a16:creationId xmlns:a16="http://schemas.microsoft.com/office/drawing/2014/main" id="{0F6B18BF-E8FD-D43D-60C6-AE7F180A8701}"/>
              </a:ext>
            </a:extLst>
          </p:cNvPr>
          <p:cNvPicPr>
            <a:picLocks noChangeAspect="1"/>
          </p:cNvPicPr>
          <p:nvPr/>
        </p:nvPicPr>
        <p:blipFill>
          <a:blip r:embed="rId9"/>
          <a:stretch>
            <a:fillRect/>
          </a:stretch>
        </p:blipFill>
        <p:spPr>
          <a:xfrm>
            <a:off x="1208289" y="1924162"/>
            <a:ext cx="740497" cy="740497"/>
          </a:xfrm>
          <a:prstGeom prst="rect">
            <a:avLst/>
          </a:prstGeom>
        </p:spPr>
      </p:pic>
      <p:pic>
        <p:nvPicPr>
          <p:cNvPr id="17" name="Picture 16">
            <a:extLst>
              <a:ext uri="{FF2B5EF4-FFF2-40B4-BE49-F238E27FC236}">
                <a16:creationId xmlns:a16="http://schemas.microsoft.com/office/drawing/2014/main" id="{1F5ED026-0F1D-CDA8-A125-C1DDB36D3200}"/>
              </a:ext>
            </a:extLst>
          </p:cNvPr>
          <p:cNvPicPr>
            <a:picLocks noChangeAspect="1"/>
          </p:cNvPicPr>
          <p:nvPr/>
        </p:nvPicPr>
        <p:blipFill>
          <a:blip r:embed="rId10"/>
          <a:stretch>
            <a:fillRect/>
          </a:stretch>
        </p:blipFill>
        <p:spPr>
          <a:xfrm>
            <a:off x="3227381" y="1939143"/>
            <a:ext cx="740497" cy="740497"/>
          </a:xfrm>
          <a:prstGeom prst="rect">
            <a:avLst/>
          </a:prstGeom>
        </p:spPr>
      </p:pic>
      <p:pic>
        <p:nvPicPr>
          <p:cNvPr id="18" name="Picture 17">
            <a:extLst>
              <a:ext uri="{FF2B5EF4-FFF2-40B4-BE49-F238E27FC236}">
                <a16:creationId xmlns:a16="http://schemas.microsoft.com/office/drawing/2014/main" id="{E22DD0DD-2339-214D-39EA-87C47F73F4F8}"/>
              </a:ext>
            </a:extLst>
          </p:cNvPr>
          <p:cNvPicPr>
            <a:picLocks noChangeAspect="1"/>
          </p:cNvPicPr>
          <p:nvPr/>
        </p:nvPicPr>
        <p:blipFill>
          <a:blip r:embed="rId11"/>
          <a:stretch>
            <a:fillRect/>
          </a:stretch>
        </p:blipFill>
        <p:spPr>
          <a:xfrm>
            <a:off x="5246473" y="1941988"/>
            <a:ext cx="740497" cy="740497"/>
          </a:xfrm>
          <a:prstGeom prst="rect">
            <a:avLst/>
          </a:prstGeom>
        </p:spPr>
      </p:pic>
      <p:pic>
        <p:nvPicPr>
          <p:cNvPr id="19" name="Picture 18">
            <a:extLst>
              <a:ext uri="{FF2B5EF4-FFF2-40B4-BE49-F238E27FC236}">
                <a16:creationId xmlns:a16="http://schemas.microsoft.com/office/drawing/2014/main" id="{1A4AB542-57EC-25D7-3E4F-260B36C6ECA8}"/>
              </a:ext>
            </a:extLst>
          </p:cNvPr>
          <p:cNvPicPr>
            <a:picLocks noChangeAspect="1"/>
          </p:cNvPicPr>
          <p:nvPr/>
        </p:nvPicPr>
        <p:blipFill>
          <a:blip r:embed="rId12"/>
          <a:stretch>
            <a:fillRect/>
          </a:stretch>
        </p:blipFill>
        <p:spPr>
          <a:xfrm>
            <a:off x="7265566" y="1939143"/>
            <a:ext cx="787580" cy="787580"/>
          </a:xfrm>
          <a:prstGeom prst="rect">
            <a:avLst/>
          </a:prstGeom>
        </p:spPr>
      </p:pic>
      <p:sp>
        <p:nvSpPr>
          <p:cNvPr id="29" name="TextBox 28">
            <a:extLst>
              <a:ext uri="{FF2B5EF4-FFF2-40B4-BE49-F238E27FC236}">
                <a16:creationId xmlns:a16="http://schemas.microsoft.com/office/drawing/2014/main" id="{CE6AF530-36A0-0366-6E08-C84611DC0C20}"/>
              </a:ext>
            </a:extLst>
          </p:cNvPr>
          <p:cNvSpPr txBox="1"/>
          <p:nvPr/>
        </p:nvSpPr>
        <p:spPr>
          <a:xfrm>
            <a:off x="628650" y="4691043"/>
            <a:ext cx="8368606" cy="1771703"/>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30000"/>
              </a:lnSpc>
              <a:spcAft>
                <a:spcPts val="600"/>
              </a:spcAft>
            </a:pPr>
            <a:r>
              <a:rPr lang="en-GB" sz="1400" b="1" dirty="0">
                <a:solidFill>
                  <a:srgbClr val="2C2C2C"/>
                </a:solidFill>
              </a:rPr>
              <a:t>Scalability Features:</a:t>
            </a:r>
            <a:endParaRPr lang="en-GB" sz="1400" dirty="0">
              <a:solidFill>
                <a:srgbClr val="2C2C2C"/>
              </a:solidFill>
            </a:endParaRPr>
          </a:p>
          <a:p>
            <a:pPr marL="285750" indent="-285750">
              <a:lnSpc>
                <a:spcPct val="130000"/>
              </a:lnSpc>
              <a:spcAft>
                <a:spcPts val="600"/>
              </a:spcAft>
              <a:buFont typeface="Arial" panose="020B0604020202020204" pitchFamily="34" charset="0"/>
              <a:buChar char="•"/>
            </a:pPr>
            <a:r>
              <a:rPr lang="en-GB" sz="1400" b="1" dirty="0">
                <a:solidFill>
                  <a:srgbClr val="2C2C2C"/>
                </a:solidFill>
              </a:rPr>
              <a:t>Horizontal Scaling (HPA):</a:t>
            </a:r>
            <a:r>
              <a:rPr lang="en-GB" sz="1400" dirty="0">
                <a:solidFill>
                  <a:srgbClr val="2C2C2C"/>
                </a:solidFill>
              </a:rPr>
              <a:t> Stream Processor auto-adds pods when CPU ≥ 60 %, scales down &lt; 40 %</a:t>
            </a:r>
          </a:p>
          <a:p>
            <a:pPr marL="285750" indent="-285750">
              <a:lnSpc>
                <a:spcPct val="130000"/>
              </a:lnSpc>
              <a:spcAft>
                <a:spcPts val="600"/>
              </a:spcAft>
              <a:buFont typeface="Arial" panose="020B0604020202020204" pitchFamily="34" charset="0"/>
              <a:buChar char="•"/>
            </a:pPr>
            <a:r>
              <a:rPr lang="en-GB" sz="1400" b="1" dirty="0">
                <a:solidFill>
                  <a:srgbClr val="2C2C2C"/>
                </a:solidFill>
              </a:rPr>
              <a:t>Vertical Scaling:</a:t>
            </a:r>
            <a:r>
              <a:rPr lang="en-GB" sz="1400" dirty="0">
                <a:solidFill>
                  <a:srgbClr val="2C2C2C"/>
                </a:solidFill>
              </a:rPr>
              <a:t> </a:t>
            </a:r>
            <a:r>
              <a:rPr lang="en-GB" sz="1400" dirty="0" err="1">
                <a:solidFill>
                  <a:srgbClr val="2C2C2C"/>
                </a:solidFill>
              </a:rPr>
              <a:t>Turnable</a:t>
            </a:r>
            <a:r>
              <a:rPr lang="en-GB" sz="1400" dirty="0">
                <a:solidFill>
                  <a:srgbClr val="2C2C2C"/>
                </a:solidFill>
              </a:rPr>
              <a:t> CPU/RAM per service in Kubernetes deployments</a:t>
            </a:r>
          </a:p>
          <a:p>
            <a:pPr marL="285750" indent="-285750">
              <a:lnSpc>
                <a:spcPct val="130000"/>
              </a:lnSpc>
              <a:spcAft>
                <a:spcPts val="600"/>
              </a:spcAft>
              <a:buFont typeface="Arial" panose="020B0604020202020204" pitchFamily="34" charset="0"/>
              <a:buChar char="•"/>
            </a:pPr>
            <a:r>
              <a:rPr lang="en-GB" sz="1400" b="1" dirty="0">
                <a:solidFill>
                  <a:srgbClr val="2C2C2C"/>
                </a:solidFill>
              </a:rPr>
              <a:t>Caching &amp; Storage:</a:t>
            </a:r>
            <a:r>
              <a:rPr lang="en-GB" sz="1400" dirty="0">
                <a:solidFill>
                  <a:srgbClr val="2C2C2C"/>
                </a:solidFill>
              </a:rPr>
              <a:t> Redis buffers ingestion; PostgreSQL stores processed data reliably</a:t>
            </a:r>
          </a:p>
          <a:p>
            <a:pPr marL="285750" indent="-285750">
              <a:lnSpc>
                <a:spcPct val="130000"/>
              </a:lnSpc>
              <a:spcAft>
                <a:spcPts val="600"/>
              </a:spcAft>
              <a:buFont typeface="Arial" panose="020B0604020202020204" pitchFamily="34" charset="0"/>
              <a:buChar char="•"/>
            </a:pPr>
            <a:r>
              <a:rPr lang="en-GB" sz="1400" b="1" dirty="0">
                <a:solidFill>
                  <a:srgbClr val="2C2C2C"/>
                </a:solidFill>
              </a:rPr>
              <a:t>Load Balancing:</a:t>
            </a:r>
            <a:r>
              <a:rPr lang="en-GB" sz="1400" dirty="0">
                <a:solidFill>
                  <a:srgbClr val="2C2C2C"/>
                </a:solidFill>
              </a:rPr>
              <a:t> Kubernetes services distribute traffic evenly</a:t>
            </a:r>
          </a:p>
        </p:txBody>
      </p:sp>
    </p:spTree>
    <p:extLst>
      <p:ext uri="{BB962C8B-B14F-4D97-AF65-F5344CB8AC3E}">
        <p14:creationId xmlns:p14="http://schemas.microsoft.com/office/powerpoint/2010/main" val="3549899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10" name="Object 9"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hidden="1"/>
          <p:cNvSpPr/>
          <p:nvPr>
            <p:custDataLst>
              <p:tags r:id="rId2"/>
            </p:custDataLst>
          </p:nvPr>
        </p:nvSpPr>
        <p:spPr bwMode="gray">
          <a:xfrm>
            <a:off x="0" y="0"/>
            <a:ext cx="158750" cy="158750"/>
          </a:xfrm>
          <a:prstGeom prst="rect">
            <a:avLst/>
          </a:prstGeom>
          <a:solidFill>
            <a:scrgbClr r="0" g="0" b="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none" lIns="0" tIns="0" rIns="0" bIns="0" numCol="1" spcCol="0" rtlCol="0" anchor="ctr" anchorCtr="0">
            <a:noAutofit/>
          </a:bodyPr>
          <a:lstStyle/>
          <a:p>
            <a:pPr algn="ctr">
              <a:spcBef>
                <a:spcPct val="0"/>
              </a:spcBef>
              <a:spcAft>
                <a:spcPct val="0"/>
              </a:spcAft>
              <a:buClr>
                <a:srgbClr val="86163D"/>
              </a:buClr>
              <a:buSzPct val="120000"/>
            </a:pPr>
            <a:endParaRPr lang="en-US" sz="1600" dirty="0">
              <a:solidFill>
                <a:srgbClr val="6E6F73"/>
              </a:solidFill>
              <a:latin typeface="Trebuchet MS" panose="020B0603020202020204" pitchFamily="34" charset="0"/>
              <a:sym typeface="Trebuchet MS" panose="020B0603020202020204" pitchFamily="34" charset="0"/>
            </a:endParaRPr>
          </a:p>
        </p:txBody>
      </p:sp>
      <p:sp>
        <p:nvSpPr>
          <p:cNvPr id="3" name="Title 2"/>
          <p:cNvSpPr>
            <a:spLocks noGrp="1"/>
          </p:cNvSpPr>
          <p:nvPr>
            <p:ph type="title"/>
          </p:nvPr>
        </p:nvSpPr>
        <p:spPr>
          <a:xfrm>
            <a:off x="4274354" y="622300"/>
            <a:ext cx="7152613" cy="470898"/>
          </a:xfrm>
          <a:noFill/>
        </p:spPr>
        <p:txBody>
          <a:bodyPr wrap="square">
            <a:spAutoFit/>
          </a:bodyPr>
          <a:lstStyle/>
          <a:p>
            <a:r>
              <a:rPr lang="en-GB" dirty="0">
                <a:solidFill>
                  <a:srgbClr val="B71C1C"/>
                </a:solidFill>
              </a:rPr>
              <a:t>Conclusion and Next Step</a:t>
            </a:r>
            <a:endParaRPr lang="en-US" dirty="0">
              <a:solidFill>
                <a:srgbClr val="B71C1C"/>
              </a:solidFill>
            </a:endParaRPr>
          </a:p>
        </p:txBody>
      </p:sp>
      <p:sp>
        <p:nvSpPr>
          <p:cNvPr id="51" name="TextBox 50">
            <a:extLst>
              <a:ext uri="{FF2B5EF4-FFF2-40B4-BE49-F238E27FC236}">
                <a16:creationId xmlns:a16="http://schemas.microsoft.com/office/drawing/2014/main" id="{9D57C27F-0886-C29E-DCAB-2D22FD23D5A2}"/>
              </a:ext>
            </a:extLst>
          </p:cNvPr>
          <p:cNvSpPr txBox="1"/>
          <p:nvPr/>
        </p:nvSpPr>
        <p:spPr>
          <a:xfrm>
            <a:off x="10464839" y="9870667"/>
            <a:ext cx="81774" cy="45719"/>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300" dirty="0">
                <a:solidFill>
                  <a:srgbClr val="2C2C2C"/>
                </a:solidFill>
              </a:rPr>
              <a:t>Storage Layer</a:t>
            </a:r>
          </a:p>
        </p:txBody>
      </p:sp>
      <p:sp>
        <p:nvSpPr>
          <p:cNvPr id="54" name="Rectangle 8">
            <a:extLst>
              <a:ext uri="{FF2B5EF4-FFF2-40B4-BE49-F238E27FC236}">
                <a16:creationId xmlns:a16="http://schemas.microsoft.com/office/drawing/2014/main" id="{E2008EEF-022D-C171-BB60-3E2BBC779ED8}"/>
              </a:ext>
            </a:extLst>
          </p:cNvPr>
          <p:cNvSpPr>
            <a:spLocks noChangeArrowheads="1"/>
          </p:cNvSpPr>
          <p:nvPr/>
        </p:nvSpPr>
        <p:spPr bwMode="auto">
          <a:xfrm>
            <a:off x="1595438" y="-7954406"/>
            <a:ext cx="812459" cy="538609"/>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FFFFFF"/>
                </a:solidFill>
                <a:effectLst/>
                <a:latin typeface="ui-sans-serif"/>
                <a:hlinkClick r:id="rId7"/>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54">
            <a:extLst>
              <a:ext uri="{FF2B5EF4-FFF2-40B4-BE49-F238E27FC236}">
                <a16:creationId xmlns:a16="http://schemas.microsoft.com/office/drawing/2014/main" id="{7364E2FE-D374-BAA4-67BB-49533DD0EAE8}"/>
              </a:ext>
            </a:extLst>
          </p:cNvPr>
          <p:cNvSpPr/>
          <p:nvPr/>
        </p:nvSpPr>
        <p:spPr>
          <a:xfrm>
            <a:off x="11928764" y="3628028"/>
            <a:ext cx="263236" cy="3229972"/>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077" name="TextBox 2076">
            <a:extLst>
              <a:ext uri="{FF2B5EF4-FFF2-40B4-BE49-F238E27FC236}">
                <a16:creationId xmlns:a16="http://schemas.microsoft.com/office/drawing/2014/main" id="{FE017684-8C68-A16A-8CE0-C84D37D697B5}"/>
              </a:ext>
            </a:extLst>
          </p:cNvPr>
          <p:cNvSpPr txBox="1"/>
          <p:nvPr/>
        </p:nvSpPr>
        <p:spPr>
          <a:xfrm>
            <a:off x="3526971" y="365760"/>
            <a:ext cx="0" cy="0"/>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2" name="Rectangle 1">
            <a:extLst>
              <a:ext uri="{FF2B5EF4-FFF2-40B4-BE49-F238E27FC236}">
                <a16:creationId xmlns:a16="http://schemas.microsoft.com/office/drawing/2014/main" id="{F98F2334-7F78-91FD-A7F4-D2C70795A9FC}"/>
              </a:ext>
            </a:extLst>
          </p:cNvPr>
          <p:cNvSpPr/>
          <p:nvPr/>
        </p:nvSpPr>
        <p:spPr>
          <a:xfrm>
            <a:off x="11928764" y="3425260"/>
            <a:ext cx="263236" cy="3229972"/>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pic>
        <p:nvPicPr>
          <p:cNvPr id="7170" name="Picture 2" descr="Story Pin image">
            <a:extLst>
              <a:ext uri="{FF2B5EF4-FFF2-40B4-BE49-F238E27FC236}">
                <a16:creationId xmlns:a16="http://schemas.microsoft.com/office/drawing/2014/main" id="{756A4489-7B31-E97B-5B5D-B9EEE1D0F57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1482" y="-716981"/>
            <a:ext cx="418306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is may contain: a person holding up a checkered flag next to a race car on the track">
            <a:extLst>
              <a:ext uri="{FF2B5EF4-FFF2-40B4-BE49-F238E27FC236}">
                <a16:creationId xmlns:a16="http://schemas.microsoft.com/office/drawing/2014/main" id="{1D1B7373-04A8-54C3-6FCF-FAC7B4CA196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3740"/>
            <a:ext cx="385762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AACFB02-0CF0-77A1-0E06-984AC6391889}"/>
              </a:ext>
            </a:extLst>
          </p:cNvPr>
          <p:cNvSpPr/>
          <p:nvPr/>
        </p:nvSpPr>
        <p:spPr bwMode="black">
          <a:xfrm rot="5400000">
            <a:off x="-1500187" y="1516516"/>
            <a:ext cx="6858000" cy="3857625"/>
          </a:xfrm>
          <a:prstGeom prst="rect">
            <a:avLst/>
          </a:prstGeom>
          <a:gradFill flip="none" rotWithShape="1">
            <a:gsLst>
              <a:gs pos="0">
                <a:srgbClr val="480B22">
                  <a:alpha val="80000"/>
                </a:srgbClr>
              </a:gs>
              <a:gs pos="100000">
                <a:srgbClr val="D0164B">
                  <a:lumMod val="70000"/>
                  <a:alpha val="80000"/>
                </a:srgb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6" name="TextBox 5">
            <a:extLst>
              <a:ext uri="{FF2B5EF4-FFF2-40B4-BE49-F238E27FC236}">
                <a16:creationId xmlns:a16="http://schemas.microsoft.com/office/drawing/2014/main" id="{8820096E-26D3-ED36-0057-0DF869862EEE}"/>
              </a:ext>
            </a:extLst>
          </p:cNvPr>
          <p:cNvSpPr txBox="1"/>
          <p:nvPr/>
        </p:nvSpPr>
        <p:spPr>
          <a:xfrm>
            <a:off x="4630763" y="2910792"/>
            <a:ext cx="3105685" cy="281506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285750" indent="-285750">
              <a:lnSpc>
                <a:spcPct val="130000"/>
              </a:lnSpc>
              <a:spcAft>
                <a:spcPts val="600"/>
              </a:spcAft>
              <a:buFont typeface="Wingdings" pitchFamily="2" charset="2"/>
              <a:buChar char="ü"/>
            </a:pPr>
            <a:r>
              <a:rPr lang="en-GB" sz="1400" dirty="0">
                <a:solidFill>
                  <a:srgbClr val="2C2C2C"/>
                </a:solidFill>
              </a:rPr>
              <a:t>Fully containerized and automated F1 analytics platform</a:t>
            </a:r>
          </a:p>
          <a:p>
            <a:pPr marL="285750" indent="-285750">
              <a:lnSpc>
                <a:spcPct val="130000"/>
              </a:lnSpc>
              <a:spcAft>
                <a:spcPts val="600"/>
              </a:spcAft>
              <a:buFont typeface="Wingdings" pitchFamily="2" charset="2"/>
              <a:buChar char="ü"/>
            </a:pPr>
            <a:r>
              <a:rPr lang="en-GB" sz="1400" dirty="0">
                <a:solidFill>
                  <a:srgbClr val="2C2C2C"/>
                </a:solidFill>
              </a:rPr>
              <a:t>Real-time anomaly detection and performance scoring</a:t>
            </a:r>
          </a:p>
          <a:p>
            <a:pPr marL="285750" indent="-285750">
              <a:lnSpc>
                <a:spcPct val="130000"/>
              </a:lnSpc>
              <a:spcAft>
                <a:spcPts val="600"/>
              </a:spcAft>
              <a:buFont typeface="Wingdings" pitchFamily="2" charset="2"/>
              <a:buChar char="ü"/>
            </a:pPr>
            <a:r>
              <a:rPr lang="en-GB" sz="1400" dirty="0">
                <a:solidFill>
                  <a:srgbClr val="2C2C2C"/>
                </a:solidFill>
              </a:rPr>
              <a:t>End-to-end observability with Prometheus &amp; Grafana</a:t>
            </a:r>
          </a:p>
          <a:p>
            <a:pPr marL="285750" indent="-285750">
              <a:lnSpc>
                <a:spcPct val="130000"/>
              </a:lnSpc>
              <a:spcAft>
                <a:spcPts val="600"/>
              </a:spcAft>
              <a:buFont typeface="Wingdings" pitchFamily="2" charset="2"/>
              <a:buChar char="ü"/>
            </a:pPr>
            <a:r>
              <a:rPr lang="en-GB" sz="1400" dirty="0">
                <a:solidFill>
                  <a:srgbClr val="2C2C2C"/>
                </a:solidFill>
              </a:rPr>
              <a:t>Scalable architecture for continuous telemetry and batch analytics</a:t>
            </a:r>
          </a:p>
        </p:txBody>
      </p:sp>
      <p:sp>
        <p:nvSpPr>
          <p:cNvPr id="7" name="TextBox 6">
            <a:extLst>
              <a:ext uri="{FF2B5EF4-FFF2-40B4-BE49-F238E27FC236}">
                <a16:creationId xmlns:a16="http://schemas.microsoft.com/office/drawing/2014/main" id="{BC2DD999-EBB4-1EF8-0D47-2235111B4010}"/>
              </a:ext>
            </a:extLst>
          </p:cNvPr>
          <p:cNvSpPr txBox="1"/>
          <p:nvPr/>
        </p:nvSpPr>
        <p:spPr>
          <a:xfrm>
            <a:off x="8296849" y="3231081"/>
            <a:ext cx="3105685" cy="217796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285750" indent="-285750">
              <a:lnSpc>
                <a:spcPct val="130000"/>
              </a:lnSpc>
              <a:spcAft>
                <a:spcPts val="600"/>
              </a:spcAft>
              <a:buFont typeface="System Font Regular"/>
              <a:buChar char="⇾"/>
            </a:pPr>
            <a:r>
              <a:rPr lang="en-GB" sz="1400" dirty="0">
                <a:solidFill>
                  <a:srgbClr val="2C2C2C"/>
                </a:solidFill>
              </a:rPr>
              <a:t>Integrate predictive models (tire degradation, race strategy optimization)</a:t>
            </a:r>
          </a:p>
          <a:p>
            <a:pPr marL="285750" indent="-285750">
              <a:lnSpc>
                <a:spcPct val="130000"/>
              </a:lnSpc>
              <a:spcAft>
                <a:spcPts val="600"/>
              </a:spcAft>
              <a:buFont typeface="System Font Regular"/>
              <a:buChar char="⇾"/>
            </a:pPr>
            <a:r>
              <a:rPr lang="en-GB" sz="1400" dirty="0">
                <a:solidFill>
                  <a:srgbClr val="2C2C2C"/>
                </a:solidFill>
              </a:rPr>
              <a:t>Extend to multi-race analytics for trend insights</a:t>
            </a:r>
          </a:p>
          <a:p>
            <a:pPr marL="285750" indent="-285750">
              <a:lnSpc>
                <a:spcPct val="130000"/>
              </a:lnSpc>
              <a:spcAft>
                <a:spcPts val="600"/>
              </a:spcAft>
              <a:buFont typeface="System Font Regular"/>
              <a:buChar char="⇾"/>
            </a:pPr>
            <a:r>
              <a:rPr lang="en-GB" sz="1400" dirty="0">
                <a:solidFill>
                  <a:srgbClr val="2C2C2C"/>
                </a:solidFill>
              </a:rPr>
              <a:t>Deploy on cloud infrastructure for scalability &amp; collaboration</a:t>
            </a:r>
          </a:p>
        </p:txBody>
      </p:sp>
      <p:pic>
        <p:nvPicPr>
          <p:cNvPr id="11" name="Picture 10">
            <a:extLst>
              <a:ext uri="{FF2B5EF4-FFF2-40B4-BE49-F238E27FC236}">
                <a16:creationId xmlns:a16="http://schemas.microsoft.com/office/drawing/2014/main" id="{64373FB4-185C-80D2-5E7D-F7D67CB3F2A0}"/>
              </a:ext>
            </a:extLst>
          </p:cNvPr>
          <p:cNvPicPr>
            <a:picLocks noChangeAspect="1"/>
          </p:cNvPicPr>
          <p:nvPr/>
        </p:nvPicPr>
        <p:blipFill>
          <a:blip r:embed="rId10"/>
          <a:stretch>
            <a:fillRect/>
          </a:stretch>
        </p:blipFill>
        <p:spPr>
          <a:xfrm>
            <a:off x="9397007" y="2217030"/>
            <a:ext cx="783589" cy="783589"/>
          </a:xfrm>
          <a:prstGeom prst="rect">
            <a:avLst/>
          </a:prstGeom>
        </p:spPr>
      </p:pic>
      <p:pic>
        <p:nvPicPr>
          <p:cNvPr id="13" name="Picture 12">
            <a:extLst>
              <a:ext uri="{FF2B5EF4-FFF2-40B4-BE49-F238E27FC236}">
                <a16:creationId xmlns:a16="http://schemas.microsoft.com/office/drawing/2014/main" id="{4D83B60D-40A6-99BB-3D7F-F02E01A55E2D}"/>
              </a:ext>
            </a:extLst>
          </p:cNvPr>
          <p:cNvPicPr>
            <a:picLocks noChangeAspect="1"/>
          </p:cNvPicPr>
          <p:nvPr/>
        </p:nvPicPr>
        <p:blipFill>
          <a:blip r:embed="rId11"/>
          <a:stretch>
            <a:fillRect/>
          </a:stretch>
        </p:blipFill>
        <p:spPr>
          <a:xfrm>
            <a:off x="5787623" y="2081701"/>
            <a:ext cx="783589" cy="783589"/>
          </a:xfrm>
          <a:prstGeom prst="rect">
            <a:avLst/>
          </a:prstGeom>
        </p:spPr>
      </p:pic>
      <p:sp>
        <p:nvSpPr>
          <p:cNvPr id="15" name="TextBox 14">
            <a:extLst>
              <a:ext uri="{FF2B5EF4-FFF2-40B4-BE49-F238E27FC236}">
                <a16:creationId xmlns:a16="http://schemas.microsoft.com/office/drawing/2014/main" id="{45275C18-76B8-3D1F-46D5-A0499DB45D91}"/>
              </a:ext>
            </a:extLst>
          </p:cNvPr>
          <p:cNvSpPr txBox="1"/>
          <p:nvPr/>
        </p:nvSpPr>
        <p:spPr>
          <a:xfrm>
            <a:off x="4274354" y="1330147"/>
            <a:ext cx="7288996" cy="338554"/>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600" dirty="0">
                <a:solidFill>
                  <a:srgbClr val="2C2C2C"/>
                </a:solidFill>
              </a:rPr>
              <a:t>From raw telemetry to race intelligence — in real time.</a:t>
            </a:r>
          </a:p>
        </p:txBody>
      </p:sp>
    </p:spTree>
    <p:extLst>
      <p:ext uri="{BB962C8B-B14F-4D97-AF65-F5344CB8AC3E}">
        <p14:creationId xmlns:p14="http://schemas.microsoft.com/office/powerpoint/2010/main" val="1973924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 name="EE4P_STYLE_ID" val="39dcc26a-7131-49f4-a9eb-1c0521500c03"/>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9.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Z41W7HSrTdeHvSWLAKAM5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Z41W7HSrTdeHvSWLAKAM5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Z41W7HSrTdeHvSWLAKAM5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Z41W7HSrTdeHvSWLAKAM5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Z41W7HSrTdeHvSWLAKAM5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Z41W7HSrTdeHvSWLAKAM5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Z41W7HSrTdeHvSWLAKAM5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Z41W7HSrTdeHvSWLAKAM5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Z41W7HSrTdeHvSWLAKAM5A"/>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Z41W7HSrTdeHvSWLAKAM5A"/>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Z41W7HSrTdeHvSWLAKAM5A"/>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4501</TotalTime>
  <Words>2487</Words>
  <Application>Microsoft Macintosh PowerPoint</Application>
  <PresentationFormat>Widescreen</PresentationFormat>
  <Paragraphs>274</Paragraphs>
  <Slides>12</Slides>
  <Notes>12</Notes>
  <HiddenSlides>0</HiddenSlides>
  <MMClips>0</MMClips>
  <ScaleCrop>false</ScaleCrop>
  <HeadingPairs>
    <vt:vector size="10"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12</vt:i4>
      </vt:variant>
      <vt:variant>
        <vt:lpstr>Custom Shows</vt:lpstr>
      </vt:variant>
      <vt:variant>
        <vt:i4>1</vt:i4>
      </vt:variant>
    </vt:vector>
  </HeadingPairs>
  <TitlesOfParts>
    <vt:vector size="20" baseType="lpstr">
      <vt:lpstr>Arial</vt:lpstr>
      <vt:lpstr>System Font Regular</vt:lpstr>
      <vt:lpstr>Trebuchet MS</vt:lpstr>
      <vt:lpstr>ui-sans-serif</vt:lpstr>
      <vt:lpstr>Wingdings</vt:lpstr>
      <vt:lpstr>BCG Grid 16:9</vt:lpstr>
      <vt:lpstr>think-cell Slide</vt:lpstr>
      <vt:lpstr> F1 Race Strategy Platform </vt:lpstr>
      <vt:lpstr>F1 Smart race strategy platform</vt:lpstr>
      <vt:lpstr>Architecture overview</vt:lpstr>
      <vt:lpstr>Data flow and processing logic</vt:lpstr>
      <vt:lpstr>Workflow Automation (Apache Airflow)</vt:lpstr>
      <vt:lpstr>Data Models</vt:lpstr>
      <vt:lpstr>Observability Metrics Model</vt:lpstr>
      <vt:lpstr>Demo</vt:lpstr>
      <vt:lpstr>Grafana Dashboard</vt:lpstr>
      <vt:lpstr>Deployment and Orchestration</vt:lpstr>
      <vt:lpstr>Performance and Scalability</vt:lpstr>
      <vt:lpstr>Conclusion and Next Step</vt:lpstr>
      <vt:lpstr>Format Guide Workshop</vt:lpstr>
    </vt:vector>
  </TitlesOfParts>
  <Company>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Slide Deck</dc:title>
  <dc:creator>Boston Consulting Group</dc:creator>
  <cp:lastModifiedBy>Elea Nizam</cp:lastModifiedBy>
  <cp:revision>465</cp:revision>
  <cp:lastPrinted>2016-04-06T18:59:25Z</cp:lastPrinted>
  <dcterms:created xsi:type="dcterms:W3CDTF">2016-11-04T11:46:04Z</dcterms:created>
  <dcterms:modified xsi:type="dcterms:W3CDTF">2025-10-21T15:01:13Z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2025-10-18T10:38:44Z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b3c33760-eecb-4217-837d-a96e903100eb</vt:lpwstr>
  </property>
  <property fmtid="{D5CDD505-2E9C-101B-9397-08002B2CF9AE}" pid="13" name="MSIP_Label_b0d5c4f4-7a29-4385-b7a5-afbe2154ae6f_ContentBits">
    <vt:lpwstr>0</vt:lpwstr>
  </property>
  <property fmtid="{D5CDD505-2E9C-101B-9397-08002B2CF9AE}" pid="14" name="MSIP_Label_b0d5c4f4-7a29-4385-b7a5-afbe2154ae6f_Tag">
    <vt:lpwstr>10, 3, 0, 1</vt:lpwstr>
  </property>
</Properties>
</file>