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1"/>
  </p:sldMasterIdLst>
  <p:notesMasterIdLst>
    <p:notesMasterId r:id="rId7"/>
  </p:notesMasterIdLst>
  <p:handoutMasterIdLst>
    <p:handoutMasterId r:id="rId8"/>
  </p:handoutMasterIdLst>
  <p:sldIdLst>
    <p:sldId id="534" r:id="rId2"/>
    <p:sldId id="527" r:id="rId3"/>
    <p:sldId id="529" r:id="rId4"/>
    <p:sldId id="530" r:id="rId5"/>
    <p:sldId id="531" r:id="rId6"/>
  </p:sldIdLst>
  <p:sldSz cx="12192000" cy="6858000"/>
  <p:notesSz cx="6950075" cy="9236075"/>
  <p:custShowLst>
    <p:custShow name="Format Guide Workshop" id="0">
      <p:sldLst/>
    </p:custShow>
  </p:custShowLst>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2709" userDrawn="1">
          <p15:clr>
            <a:srgbClr val="A4A3A4"/>
          </p15:clr>
        </p15:guide>
        <p15:guide id="5" pos="6185" userDrawn="1">
          <p15:clr>
            <a:srgbClr val="A4A3A4"/>
          </p15:clr>
        </p15:guide>
        <p15:guide id="7" pos="1894" userDrawn="1">
          <p15:clr>
            <a:srgbClr val="A4A3A4"/>
          </p15:clr>
        </p15:guide>
        <p15:guide id="8" pos="8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2C2C"/>
    <a:srgbClr val="B71C1C"/>
    <a:srgbClr val="7D0D2D"/>
    <a:srgbClr val="480B22"/>
    <a:srgbClr val="F2F2F2"/>
    <a:srgbClr val="7B1113"/>
    <a:srgbClr val="FF2428"/>
    <a:srgbClr val="550B22"/>
    <a:srgbClr val="75102D"/>
    <a:srgbClr val="8712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3" autoAdjust="0"/>
    <p:restoredTop sz="87985" autoAdjust="0"/>
  </p:normalViewPr>
  <p:slideViewPr>
    <p:cSldViewPr>
      <p:cViewPr varScale="1">
        <p:scale>
          <a:sx n="97" d="100"/>
          <a:sy n="97" d="100"/>
        </p:scale>
        <p:origin x="1040" y="184"/>
      </p:cViewPr>
      <p:guideLst>
        <p:guide orient="horz" pos="2709"/>
        <p:guide pos="6185"/>
        <p:guide pos="1894"/>
        <p:guide pos="896"/>
      </p:guideLst>
    </p:cSldViewPr>
  </p:slideViewPr>
  <p:outlineViewPr>
    <p:cViewPr>
      <p:scale>
        <a:sx n="33" d="100"/>
        <a:sy n="33" d="100"/>
      </p:scale>
      <p:origin x="0" y="0"/>
    </p:cViewPr>
  </p:outlineViewPr>
  <p:notesTextViewPr>
    <p:cViewPr>
      <p:scale>
        <a:sx n="180" d="100"/>
        <a:sy n="180" d="100"/>
      </p:scale>
      <p:origin x="0" y="0"/>
    </p:cViewPr>
  </p:notesTextViewPr>
  <p:sorterViewPr>
    <p:cViewPr>
      <p:scale>
        <a:sx n="66" d="100"/>
        <a:sy n="66" d="100"/>
      </p:scale>
      <p:origin x="0" y="0"/>
    </p:cViewPr>
  </p:sorterViewPr>
  <p:notesViewPr>
    <p:cSldViewPr>
      <p:cViewPr>
        <p:scale>
          <a:sx n="75" d="100"/>
          <a:sy n="75" d="100"/>
        </p:scale>
        <p:origin x="4120" y="520"/>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10/21/25</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10/21/25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r>
              <a:rPr lang="en-US" dirty="0"/>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37427033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4.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8.png"/><Relationship Id="rId4" Type="http://schemas.openxmlformats.org/officeDocument/2006/relationships/image" Target="../media/image7.em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0.jp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2.xml"/><Relationship Id="rId7" Type="http://schemas.openxmlformats.org/officeDocument/2006/relationships/image" Target="../media/image2.emf"/><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image" Target="../media/image10.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5.png"/><Relationship Id="rId4" Type="http://schemas.openxmlformats.org/officeDocument/2006/relationships/image" Target="../media/image7.emf"/></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10.jp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8.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9.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730489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2" name="Picture 1" descr="A race car in a tunnel&#10;&#10;AI-generated content may be incorrect.">
            <a:extLst>
              <a:ext uri="{FF2B5EF4-FFF2-40B4-BE49-F238E27FC236}">
                <a16:creationId xmlns:a16="http://schemas.microsoft.com/office/drawing/2014/main" id="{5BB8E4FA-5040-6B53-B4F8-22FE622A5E74}"/>
              </a:ext>
            </a:extLst>
          </p:cNvPr>
          <p:cNvPicPr>
            <a:picLocks noChangeAspect="1"/>
          </p:cNvPicPr>
          <p:nvPr userDrawn="1"/>
        </p:nvPicPr>
        <p:blipFill>
          <a:blip r:embed="rId6"/>
          <a:srcRect t="31891" r="10348" b="795"/>
          <a:stretch>
            <a:fillRect/>
          </a:stretch>
        </p:blipFill>
        <p:spPr>
          <a:xfrm>
            <a:off x="-1" y="0"/>
            <a:ext cx="12192001" cy="5230917"/>
          </a:xfrm>
          <a:prstGeom prst="rect">
            <a:avLst/>
          </a:prstGeom>
        </p:spPr>
      </p:pic>
      <p:sp>
        <p:nvSpPr>
          <p:cNvPr id="5" name="Rectangle 4">
            <a:extLst>
              <a:ext uri="{FF2B5EF4-FFF2-40B4-BE49-F238E27FC236}">
                <a16:creationId xmlns:a16="http://schemas.microsoft.com/office/drawing/2014/main" id="{AEA89FA2-644C-661B-58BC-70008AE67C68}"/>
              </a:ext>
            </a:extLst>
          </p:cNvPr>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6" name="Picture 5">
            <a:extLst>
              <a:ext uri="{FF2B5EF4-FFF2-40B4-BE49-F238E27FC236}">
                <a16:creationId xmlns:a16="http://schemas.microsoft.com/office/drawing/2014/main" id="{17416635-F903-A530-8624-70C888DCA6BC}"/>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sp>
        <p:nvSpPr>
          <p:cNvPr id="7" name="Picture Placeholder 8">
            <a:extLst>
              <a:ext uri="{FF2B5EF4-FFF2-40B4-BE49-F238E27FC236}">
                <a16:creationId xmlns:a16="http://schemas.microsoft.com/office/drawing/2014/main" id="{28A2942E-B023-1ABA-CB8D-9637B97D3EF2}"/>
              </a:ext>
            </a:extLst>
          </p:cNvPr>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8" name="Rectangle 7">
            <a:extLst>
              <a:ext uri="{FF2B5EF4-FFF2-40B4-BE49-F238E27FC236}">
                <a16:creationId xmlns:a16="http://schemas.microsoft.com/office/drawing/2014/main" id="{16AD5E64-BA34-4FC2-6B0B-A7C11157BAEF}"/>
              </a:ext>
            </a:extLst>
          </p:cNvPr>
          <p:cNvSpPr/>
          <p:nvPr userDrawn="1"/>
        </p:nvSpPr>
        <p:spPr bwMode="black">
          <a:xfrm>
            <a:off x="630936" y="626200"/>
            <a:ext cx="8125200" cy="5529600"/>
          </a:xfrm>
          <a:prstGeom prst="rect">
            <a:avLst/>
          </a:prstGeom>
          <a:gradFill flip="none" rotWithShape="1">
            <a:gsLst>
              <a:gs pos="0">
                <a:srgbClr val="480B22">
                  <a:alpha val="80000"/>
                </a:srgbClr>
              </a:gs>
              <a:gs pos="100000">
                <a:srgbClr val="D0164B">
                  <a:lumMod val="70000"/>
                  <a:alpha val="80000"/>
                </a:srgb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9" name="Text Placeholder 6">
            <a:extLst>
              <a:ext uri="{FF2B5EF4-FFF2-40B4-BE49-F238E27FC236}">
                <a16:creationId xmlns:a16="http://schemas.microsoft.com/office/drawing/2014/main" id="{9F4495A3-5AB7-8513-9371-11B6CD1C4B76}"/>
              </a:ext>
            </a:extLst>
          </p:cNvPr>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10" name="Subtitle 2">
            <a:extLst>
              <a:ext uri="{FF2B5EF4-FFF2-40B4-BE49-F238E27FC236}">
                <a16:creationId xmlns:a16="http://schemas.microsoft.com/office/drawing/2014/main" id="{6B9F98FC-CFBA-A824-6F89-4572C86F1FDC}"/>
              </a:ext>
            </a:extLst>
          </p:cNvPr>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Leveraging innovation to drive measurable race-day impact.</a:t>
            </a:r>
          </a:p>
        </p:txBody>
      </p:sp>
      <p:sp>
        <p:nvSpPr>
          <p:cNvPr id="11" name="Title 1">
            <a:extLst>
              <a:ext uri="{FF2B5EF4-FFF2-40B4-BE49-F238E27FC236}">
                <a16:creationId xmlns:a16="http://schemas.microsoft.com/office/drawing/2014/main" id="{7F2F135D-9AD0-495A-B068-A88F650FC7A2}"/>
              </a:ext>
            </a:extLst>
          </p:cNvPr>
          <p:cNvSpPr>
            <a:spLocks noGrp="1"/>
          </p:cNvSpPr>
          <p:nvPr>
            <p:ph type="ctrTitle" hasCustomPrompt="1"/>
          </p:nvPr>
        </p:nvSpPr>
        <p:spPr bwMode="ltGray">
          <a:xfrm>
            <a:off x="1117415" y="1886242"/>
            <a:ext cx="6868800" cy="3138423"/>
          </a:xfrm>
          <a:prstGeom prst="rect">
            <a:avLst/>
          </a:prstGeom>
        </p:spPr>
        <p:txBody>
          <a:bodyPr vert="horz"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Accelerating Scuderia Ferrari HP towards victory</a:t>
            </a:r>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2" name="TextBox 1">
            <a:extLst>
              <a:ext uri="{FF2B5EF4-FFF2-40B4-BE49-F238E27FC236}">
                <a16:creationId xmlns:a16="http://schemas.microsoft.com/office/drawing/2014/main" id="{2BAA4432-2568-F8E1-284B-893103D75D24}"/>
              </a:ext>
            </a:extLst>
          </p:cNvPr>
          <p:cNvSpPr txBox="1"/>
          <p:nvPr userDrawn="1"/>
        </p:nvSpPr>
        <p:spPr>
          <a:xfrm>
            <a:off x="971550" y="1457325"/>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0700033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rgbClr val="7D0D2D"/>
              </a:gs>
              <a:gs pos="100000">
                <a:srgbClr val="480B2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mn-lt"/>
                <a:sym typeface="Trebuchet MS" panose="020B0603020202020204" pitchFamily="34" charset="0"/>
              </a:rPr>
              <a:t>Copyright © 2018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2018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2018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Trebuchet MS" panose="020B0603020202020204" pitchFamily="34" charset="0"/>
                <a:sym typeface="Trebuchet MS" panose="020B0603020202020204" pitchFamily="34" charset="0"/>
              </a:rPr>
              <a:t>Copyright © 2018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lumMod val="50000"/>
                  </a:schemeClr>
                </a:solidFill>
                <a:latin typeface="+mn-lt"/>
                <a:sym typeface="Trebuchet MS" panose="020B0603020202020204" pitchFamily="34" charset="0"/>
              </a:rPr>
              <a:t>Copyright © 2018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dirty="0">
                <a:solidFill>
                  <a:schemeClr val="bg1"/>
                </a:solidFill>
                <a:latin typeface="Trebuchet MS" panose="020B0603020202020204" pitchFamily="34" charset="0"/>
                <a:sym typeface="Trebuchet MS" panose="020B0603020202020204" pitchFamily="34" charset="0"/>
              </a:rPr>
              <a:t>Copyright © 2018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0"/>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1" imgW="270" imgH="270" progId="TCLayout.ActiveDocument.1">
                  <p:embed/>
                </p:oleObj>
              </mc:Choice>
              <mc:Fallback>
                <p:oleObj name="think-cell Slide" r:id="rId71" imgW="270" imgH="270" progId="TCLayout.ActiveDocument.1">
                  <p:embed/>
                  <p:pic>
                    <p:nvPicPr>
                      <p:cNvPr id="0" name=""/>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185" r:id="rId10"/>
    <p:sldLayoutId id="2147485087" r:id="rId11"/>
    <p:sldLayoutId id="2147485112" r:id="rId12"/>
    <p:sldLayoutId id="2147485155" r:id="rId13"/>
    <p:sldLayoutId id="2147485164" r:id="rId14"/>
    <p:sldLayoutId id="2147485109" r:id="rId15"/>
    <p:sldLayoutId id="2147485165" r:id="rId16"/>
    <p:sldLayoutId id="2147485110" r:id="rId17"/>
    <p:sldLayoutId id="2147485166" r:id="rId18"/>
    <p:sldLayoutId id="2147485156" r:id="rId19"/>
    <p:sldLayoutId id="2147485167" r:id="rId20"/>
    <p:sldLayoutId id="2147485108" r:id="rId21"/>
    <p:sldLayoutId id="2147485107" r:id="rId22"/>
    <p:sldLayoutId id="2147485106" r:id="rId23"/>
    <p:sldLayoutId id="2147485090" r:id="rId24"/>
    <p:sldLayoutId id="2147485091" r:id="rId25"/>
    <p:sldLayoutId id="2147485092" r:id="rId26"/>
    <p:sldLayoutId id="2147485093" r:id="rId27"/>
    <p:sldLayoutId id="2147485116" r:id="rId28"/>
    <p:sldLayoutId id="2147485161" r:id="rId29"/>
    <p:sldLayoutId id="2147485159" r:id="rId30"/>
    <p:sldLayoutId id="2147485119" r:id="rId31"/>
    <p:sldLayoutId id="2147485184" r:id="rId32"/>
    <p:sldLayoutId id="2147485137" r:id="rId33"/>
    <p:sldLayoutId id="2147485120" r:id="rId34"/>
    <p:sldLayoutId id="2147485121" r:id="rId35"/>
    <p:sldLayoutId id="2147485141" r:id="rId36"/>
    <p:sldLayoutId id="2147485163" r:id="rId37"/>
    <p:sldLayoutId id="2147485139" r:id="rId38"/>
    <p:sldLayoutId id="2147485140" r:id="rId39"/>
    <p:sldLayoutId id="2147485122" r:id="rId40"/>
    <p:sldLayoutId id="2147485123" r:id="rId41"/>
    <p:sldLayoutId id="2147485151" r:id="rId42"/>
    <p:sldLayoutId id="2147485168" r:id="rId43"/>
    <p:sldLayoutId id="2147485127" r:id="rId44"/>
    <p:sldLayoutId id="2147485169" r:id="rId45"/>
    <p:sldLayoutId id="2147485126" r:id="rId46"/>
    <p:sldLayoutId id="2147485170" r:id="rId47"/>
    <p:sldLayoutId id="2147485153" r:id="rId48"/>
    <p:sldLayoutId id="2147485171" r:id="rId49"/>
    <p:sldLayoutId id="2147485128" r:id="rId50"/>
    <p:sldLayoutId id="2147485129" r:id="rId51"/>
    <p:sldLayoutId id="2147485130" r:id="rId52"/>
    <p:sldLayoutId id="2147485131" r:id="rId53"/>
    <p:sldLayoutId id="2147485145" r:id="rId54"/>
    <p:sldLayoutId id="2147485133" r:id="rId55"/>
    <p:sldLayoutId id="2147485144" r:id="rId56"/>
    <p:sldLayoutId id="2147485134" r:id="rId57"/>
    <p:sldLayoutId id="2147485146" r:id="rId58"/>
    <p:sldLayoutId id="2147485160" r:id="rId59"/>
    <p:sldLayoutId id="2147485172" r:id="rId60"/>
    <p:sldLayoutId id="2147485173" r:id="rId61"/>
    <p:sldLayoutId id="2147485174" r:id="rId62"/>
    <p:sldLayoutId id="2147485175" r:id="rId63"/>
    <p:sldLayoutId id="2147485176" r:id="rId64"/>
    <p:sldLayoutId id="2147485177" r:id="rId65"/>
    <p:sldLayoutId id="2147485178" r:id="rId66"/>
    <p:sldLayoutId id="2147485179" r:id="rId67"/>
    <p:sldLayoutId id="2147485180" r:id="rId68"/>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14.xml"/><Relationship Id="rId6" Type="http://schemas.openxmlformats.org/officeDocument/2006/relationships/image" Target="../media/image15.png"/><Relationship Id="rId5" Type="http://schemas.microsoft.com/office/2007/relationships/hdphoto" Target="../media/hdphoto1.wdp"/><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4294967295"/>
          </p:nvPr>
        </p:nvSpPr>
        <p:spPr>
          <a:xfrm>
            <a:off x="1117415" y="6207842"/>
            <a:ext cx="6868800" cy="327148"/>
          </a:xfrm>
        </p:spPr>
        <p:txBody>
          <a:bodyPr/>
          <a:lstStyle/>
          <a:p>
            <a:r>
              <a:rPr lang="en-US" dirty="0"/>
              <a:t>Enzo BERREUR, Leo WEISS, Elea NIZAM</a:t>
            </a:r>
          </a:p>
        </p:txBody>
      </p:sp>
      <p:sp>
        <p:nvSpPr>
          <p:cNvPr id="2" name="Title 1"/>
          <p:cNvSpPr>
            <a:spLocks noGrp="1"/>
          </p:cNvSpPr>
          <p:nvPr>
            <p:ph type="ctrTitle"/>
          </p:nvPr>
        </p:nvSpPr>
        <p:spPr>
          <a:xfrm>
            <a:off x="987426" y="1886242"/>
            <a:ext cx="7484634" cy="3138423"/>
          </a:xfrm>
        </p:spPr>
        <p:txBody>
          <a:bodyPr>
            <a:normAutofit/>
          </a:bodyPr>
          <a:lstStyle/>
          <a:p>
            <a:br>
              <a:rPr lang="en-US" dirty="0"/>
            </a:br>
            <a:r>
              <a:rPr lang="en-GB" dirty="0"/>
              <a:t>F1 Race Strategy Platform </a:t>
            </a:r>
            <a:endParaRPr lang="en-US" dirty="0"/>
          </a:p>
        </p:txBody>
      </p:sp>
      <p:sp>
        <p:nvSpPr>
          <p:cNvPr id="4" name="TextBox 3">
            <a:extLst>
              <a:ext uri="{FF2B5EF4-FFF2-40B4-BE49-F238E27FC236}">
                <a16:creationId xmlns:a16="http://schemas.microsoft.com/office/drawing/2014/main" id="{35989E96-B2F4-4D89-EDD5-BAF349031039}"/>
              </a:ext>
            </a:extLst>
          </p:cNvPr>
          <p:cNvSpPr txBox="1"/>
          <p:nvPr/>
        </p:nvSpPr>
        <p:spPr>
          <a:xfrm>
            <a:off x="2820692" y="991892"/>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6" name="TextBox 5">
            <a:extLst>
              <a:ext uri="{FF2B5EF4-FFF2-40B4-BE49-F238E27FC236}">
                <a16:creationId xmlns:a16="http://schemas.microsoft.com/office/drawing/2014/main" id="{98157101-CA62-ED1F-C8AE-A66014B21EAB}"/>
              </a:ext>
            </a:extLst>
          </p:cNvPr>
          <p:cNvSpPr txBox="1"/>
          <p:nvPr/>
        </p:nvSpPr>
        <p:spPr>
          <a:xfrm>
            <a:off x="1441342" y="573437"/>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7" name="TextBox 6">
            <a:extLst>
              <a:ext uri="{FF2B5EF4-FFF2-40B4-BE49-F238E27FC236}">
                <a16:creationId xmlns:a16="http://schemas.microsoft.com/office/drawing/2014/main" id="{F902BE47-D945-F72D-9D6F-0CCD77F96CD0}"/>
              </a:ext>
            </a:extLst>
          </p:cNvPr>
          <p:cNvSpPr txBox="1"/>
          <p:nvPr/>
        </p:nvSpPr>
        <p:spPr>
          <a:xfrm>
            <a:off x="898902" y="6075336"/>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9" name="TextBox 8">
            <a:extLst>
              <a:ext uri="{FF2B5EF4-FFF2-40B4-BE49-F238E27FC236}">
                <a16:creationId xmlns:a16="http://schemas.microsoft.com/office/drawing/2014/main" id="{66921B33-0155-4230-4F78-D8C2A1449506}"/>
              </a:ext>
            </a:extLst>
          </p:cNvPr>
          <p:cNvSpPr txBox="1"/>
          <p:nvPr/>
        </p:nvSpPr>
        <p:spPr>
          <a:xfrm>
            <a:off x="6761747" y="5526505"/>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10" name="TextBox 9">
            <a:extLst>
              <a:ext uri="{FF2B5EF4-FFF2-40B4-BE49-F238E27FC236}">
                <a16:creationId xmlns:a16="http://schemas.microsoft.com/office/drawing/2014/main" id="{A4851BA8-900A-3E0E-B052-5AD602AF5D99}"/>
              </a:ext>
            </a:extLst>
          </p:cNvPr>
          <p:cNvSpPr txBox="1"/>
          <p:nvPr/>
        </p:nvSpPr>
        <p:spPr>
          <a:xfrm>
            <a:off x="8229600" y="4211053"/>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11" name="TextBox 10">
            <a:extLst>
              <a:ext uri="{FF2B5EF4-FFF2-40B4-BE49-F238E27FC236}">
                <a16:creationId xmlns:a16="http://schemas.microsoft.com/office/drawing/2014/main" id="{56E412E5-2668-2722-1627-325931517EEE}"/>
              </a:ext>
            </a:extLst>
          </p:cNvPr>
          <p:cNvSpPr txBox="1"/>
          <p:nvPr/>
        </p:nvSpPr>
        <p:spPr>
          <a:xfrm>
            <a:off x="7740316" y="2935705"/>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3" name="Subtitle 3">
            <a:extLst>
              <a:ext uri="{FF2B5EF4-FFF2-40B4-BE49-F238E27FC236}">
                <a16:creationId xmlns:a16="http://schemas.microsoft.com/office/drawing/2014/main" id="{B6A511BC-5E09-85B3-7541-754722C0C417}"/>
              </a:ext>
            </a:extLst>
          </p:cNvPr>
          <p:cNvSpPr>
            <a:spLocks noGrp="1"/>
          </p:cNvSpPr>
          <p:nvPr>
            <p:ph type="subTitle" idx="1"/>
          </p:nvPr>
        </p:nvSpPr>
        <p:spPr>
          <a:xfrm>
            <a:off x="1117415" y="5495706"/>
            <a:ext cx="6868800" cy="436195"/>
          </a:xfrm>
        </p:spPr>
        <p:txBody>
          <a:bodyPr/>
          <a:lstStyle/>
          <a:p>
            <a:r>
              <a:rPr lang="en-GB" dirty="0"/>
              <a:t>Data Models</a:t>
            </a:r>
          </a:p>
        </p:txBody>
      </p:sp>
    </p:spTree>
    <p:extLst>
      <p:ext uri="{BB962C8B-B14F-4D97-AF65-F5344CB8AC3E}">
        <p14:creationId xmlns:p14="http://schemas.microsoft.com/office/powerpoint/2010/main" val="8940794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30E18-E7A9-A745-8BB7-9D1CB31C5D35}"/>
              </a:ext>
            </a:extLst>
          </p:cNvPr>
          <p:cNvSpPr>
            <a:spLocks noGrp="1"/>
          </p:cNvSpPr>
          <p:nvPr>
            <p:ph type="title"/>
          </p:nvPr>
        </p:nvSpPr>
        <p:spPr/>
        <p:txBody>
          <a:bodyPr/>
          <a:lstStyle/>
          <a:p>
            <a:r>
              <a:rPr lang="en-GB" dirty="0">
                <a:solidFill>
                  <a:srgbClr val="7D0D2D"/>
                </a:solidFill>
              </a:rPr>
              <a:t>Data Models Overview</a:t>
            </a:r>
          </a:p>
        </p:txBody>
      </p:sp>
      <p:sp>
        <p:nvSpPr>
          <p:cNvPr id="4" name="TextBox 3">
            <a:extLst>
              <a:ext uri="{FF2B5EF4-FFF2-40B4-BE49-F238E27FC236}">
                <a16:creationId xmlns:a16="http://schemas.microsoft.com/office/drawing/2014/main" id="{31C89F98-CE9B-CCBC-B89F-C548F74239AC}"/>
              </a:ext>
            </a:extLst>
          </p:cNvPr>
          <p:cNvSpPr txBox="1"/>
          <p:nvPr/>
        </p:nvSpPr>
        <p:spPr>
          <a:xfrm>
            <a:off x="630000" y="1448950"/>
            <a:ext cx="10933350" cy="425392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50000"/>
              </a:lnSpc>
            </a:pPr>
            <a:r>
              <a:rPr lang="en-GB" sz="1400" dirty="0">
                <a:solidFill>
                  <a:srgbClr val="2C2C2C"/>
                </a:solidFill>
              </a:rPr>
              <a:t>The platform relies on two complementary data flows:</a:t>
            </a:r>
          </a:p>
          <a:p>
            <a:pPr marL="742950" lvl="1" indent="-285750">
              <a:lnSpc>
                <a:spcPct val="150000"/>
              </a:lnSpc>
              <a:buFont typeface="Arial" panose="020B0604020202020204" pitchFamily="34" charset="0"/>
              <a:buChar char="•"/>
            </a:pPr>
            <a:r>
              <a:rPr lang="en-GB" sz="1400" b="1" dirty="0">
                <a:solidFill>
                  <a:srgbClr val="2C2C2C"/>
                </a:solidFill>
              </a:rPr>
              <a:t>Telemetry Data (business flow)</a:t>
            </a:r>
            <a:r>
              <a:rPr lang="en-GB" sz="1400" dirty="0">
                <a:solidFill>
                  <a:srgbClr val="2C2C2C"/>
                </a:solidFill>
              </a:rPr>
              <a:t> — real-time car data analysed and persisted in PostgreSQL.</a:t>
            </a:r>
          </a:p>
          <a:p>
            <a:pPr lvl="1">
              <a:lnSpc>
                <a:spcPct val="150000"/>
              </a:lnSpc>
            </a:pPr>
            <a:endParaRPr lang="en-GB" sz="1400" dirty="0">
              <a:solidFill>
                <a:srgbClr val="2C2C2C"/>
              </a:solidFill>
            </a:endParaRPr>
          </a:p>
          <a:p>
            <a:pPr lvl="1">
              <a:lnSpc>
                <a:spcPct val="150000"/>
              </a:lnSpc>
            </a:pPr>
            <a:endParaRPr lang="en-GB" sz="1400" dirty="0">
              <a:solidFill>
                <a:srgbClr val="2C2C2C"/>
              </a:solidFill>
            </a:endParaRPr>
          </a:p>
          <a:p>
            <a:pPr lvl="1">
              <a:lnSpc>
                <a:spcPct val="150000"/>
              </a:lnSpc>
            </a:pPr>
            <a:endParaRPr lang="en-GB" sz="1400" dirty="0">
              <a:solidFill>
                <a:srgbClr val="2C2C2C"/>
              </a:solidFill>
            </a:endParaRPr>
          </a:p>
          <a:p>
            <a:pPr lvl="1">
              <a:lnSpc>
                <a:spcPct val="150000"/>
              </a:lnSpc>
            </a:pPr>
            <a:endParaRPr lang="en-GB" sz="1400" dirty="0">
              <a:solidFill>
                <a:srgbClr val="2C2C2C"/>
              </a:solidFill>
            </a:endParaRPr>
          </a:p>
          <a:p>
            <a:pPr marL="742950" lvl="1" indent="-285750">
              <a:lnSpc>
                <a:spcPct val="150000"/>
              </a:lnSpc>
              <a:buFont typeface="Arial" panose="020B0604020202020204" pitchFamily="34" charset="0"/>
              <a:buChar char="•"/>
            </a:pPr>
            <a:r>
              <a:rPr lang="en-GB" sz="1400" b="1" dirty="0">
                <a:solidFill>
                  <a:srgbClr val="2C2C2C"/>
                </a:solidFill>
              </a:rPr>
              <a:t>Metrics Data (observability flow)</a:t>
            </a:r>
            <a:r>
              <a:rPr lang="en-GB" sz="1400" dirty="0">
                <a:solidFill>
                  <a:srgbClr val="2C2C2C"/>
                </a:solidFill>
              </a:rPr>
              <a:t> — Prometheus metrics ensuring system health and performance tracking.</a:t>
            </a:r>
          </a:p>
          <a:p>
            <a:pPr marL="742950" lvl="1" indent="-285750">
              <a:lnSpc>
                <a:spcPct val="150000"/>
              </a:lnSpc>
              <a:buFont typeface="Arial" panose="020B0604020202020204" pitchFamily="34" charset="0"/>
              <a:buChar char="•"/>
            </a:pPr>
            <a:endParaRPr lang="en-GB" sz="1400" dirty="0">
              <a:solidFill>
                <a:srgbClr val="2C2C2C"/>
              </a:solidFill>
            </a:endParaRPr>
          </a:p>
          <a:p>
            <a:pPr lvl="1">
              <a:lnSpc>
                <a:spcPct val="150000"/>
              </a:lnSpc>
            </a:pPr>
            <a:endParaRPr lang="en-GB" sz="1400" dirty="0">
              <a:solidFill>
                <a:srgbClr val="2C2C2C"/>
              </a:solidFill>
            </a:endParaRPr>
          </a:p>
          <a:p>
            <a:pPr lvl="1">
              <a:lnSpc>
                <a:spcPct val="150000"/>
              </a:lnSpc>
            </a:pPr>
            <a:endParaRPr lang="en-GB" sz="1400" dirty="0">
              <a:solidFill>
                <a:srgbClr val="2C2C2C"/>
              </a:solidFill>
            </a:endParaRPr>
          </a:p>
          <a:p>
            <a:pPr lvl="1">
              <a:lnSpc>
                <a:spcPct val="150000"/>
              </a:lnSpc>
            </a:pPr>
            <a:endParaRPr lang="en-GB" sz="1400" dirty="0">
              <a:solidFill>
                <a:srgbClr val="2C2C2C"/>
              </a:solidFill>
            </a:endParaRPr>
          </a:p>
          <a:p>
            <a:pPr>
              <a:lnSpc>
                <a:spcPct val="150000"/>
              </a:lnSpc>
            </a:pPr>
            <a:r>
              <a:rPr lang="en-GB" sz="1400" dirty="0">
                <a:solidFill>
                  <a:srgbClr val="2C2C2C"/>
                </a:solidFill>
              </a:rPr>
              <a:t>Logical models define how entities interact conceptually, while physical models show the actual SQL schema used by the Airflow DAGs.</a:t>
            </a:r>
          </a:p>
        </p:txBody>
      </p:sp>
      <p:sp>
        <p:nvSpPr>
          <p:cNvPr id="5" name="Rectangle 4">
            <a:extLst>
              <a:ext uri="{FF2B5EF4-FFF2-40B4-BE49-F238E27FC236}">
                <a16:creationId xmlns:a16="http://schemas.microsoft.com/office/drawing/2014/main" id="{4D8F79D3-2D6C-37CF-7F57-8296F8E5D6C7}"/>
              </a:ext>
            </a:extLst>
          </p:cNvPr>
          <p:cNvSpPr/>
          <p:nvPr/>
        </p:nvSpPr>
        <p:spPr>
          <a:xfrm>
            <a:off x="11928764" y="3425260"/>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6" name="Rounded Rectangle 5">
            <a:extLst>
              <a:ext uri="{FF2B5EF4-FFF2-40B4-BE49-F238E27FC236}">
                <a16:creationId xmlns:a16="http://schemas.microsoft.com/office/drawing/2014/main" id="{8B19FF27-305F-FD4C-BB4D-E1DF72B3D164}"/>
              </a:ext>
            </a:extLst>
          </p:cNvPr>
          <p:cNvSpPr/>
          <p:nvPr/>
        </p:nvSpPr>
        <p:spPr>
          <a:xfrm>
            <a:off x="7033006" y="2330883"/>
            <a:ext cx="1716261" cy="622905"/>
          </a:xfrm>
          <a:prstGeom prst="roundRect">
            <a:avLst/>
          </a:prstGeom>
          <a:solidFill>
            <a:schemeClr val="bg1"/>
          </a:solidFill>
          <a:ln w="9525"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7" name="TextBox 6">
            <a:extLst>
              <a:ext uri="{FF2B5EF4-FFF2-40B4-BE49-F238E27FC236}">
                <a16:creationId xmlns:a16="http://schemas.microsoft.com/office/drawing/2014/main" id="{4E8068B6-8452-F0DF-D0AA-DF1DEB605F3A}"/>
              </a:ext>
            </a:extLst>
          </p:cNvPr>
          <p:cNvSpPr txBox="1"/>
          <p:nvPr/>
        </p:nvSpPr>
        <p:spPr>
          <a:xfrm>
            <a:off x="7653826" y="2438642"/>
            <a:ext cx="991492"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PostgreSQL </a:t>
            </a:r>
          </a:p>
        </p:txBody>
      </p:sp>
      <p:pic>
        <p:nvPicPr>
          <p:cNvPr id="9" name="Picture 8">
            <a:extLst>
              <a:ext uri="{FF2B5EF4-FFF2-40B4-BE49-F238E27FC236}">
                <a16:creationId xmlns:a16="http://schemas.microsoft.com/office/drawing/2014/main" id="{5AB1D4D8-7AAF-6958-A81A-BA6B8371693A}"/>
              </a:ext>
            </a:extLst>
          </p:cNvPr>
          <p:cNvPicPr>
            <a:picLocks noChangeAspect="1"/>
          </p:cNvPicPr>
          <p:nvPr/>
        </p:nvPicPr>
        <p:blipFill>
          <a:blip r:embed="rId2"/>
          <a:stretch>
            <a:fillRect/>
          </a:stretch>
        </p:blipFill>
        <p:spPr>
          <a:xfrm>
            <a:off x="7205976" y="2481922"/>
            <a:ext cx="309600" cy="309600"/>
          </a:xfrm>
          <a:prstGeom prst="rect">
            <a:avLst/>
          </a:prstGeom>
        </p:spPr>
      </p:pic>
      <p:sp>
        <p:nvSpPr>
          <p:cNvPr id="14" name="Rounded Rectangle 13">
            <a:extLst>
              <a:ext uri="{FF2B5EF4-FFF2-40B4-BE49-F238E27FC236}">
                <a16:creationId xmlns:a16="http://schemas.microsoft.com/office/drawing/2014/main" id="{03CEECC0-6CCA-200B-A764-6C8B6E2F380F}"/>
              </a:ext>
            </a:extLst>
          </p:cNvPr>
          <p:cNvSpPr/>
          <p:nvPr/>
        </p:nvSpPr>
        <p:spPr>
          <a:xfrm>
            <a:off x="3362142" y="2336176"/>
            <a:ext cx="1716261" cy="622905"/>
          </a:xfrm>
          <a:prstGeom prst="roundRect">
            <a:avLst/>
          </a:prstGeom>
          <a:solidFill>
            <a:schemeClr val="bg1"/>
          </a:solidFill>
          <a:ln w="9525"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19" name="TextBox 18">
            <a:extLst>
              <a:ext uri="{FF2B5EF4-FFF2-40B4-BE49-F238E27FC236}">
                <a16:creationId xmlns:a16="http://schemas.microsoft.com/office/drawing/2014/main" id="{E4EF4FE7-9866-A275-D8EB-95921C405356}"/>
              </a:ext>
            </a:extLst>
          </p:cNvPr>
          <p:cNvSpPr txBox="1"/>
          <p:nvPr/>
        </p:nvSpPr>
        <p:spPr>
          <a:xfrm>
            <a:off x="4086911" y="2427931"/>
            <a:ext cx="991492"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Telemetry Data</a:t>
            </a:r>
          </a:p>
        </p:txBody>
      </p:sp>
      <p:pic>
        <p:nvPicPr>
          <p:cNvPr id="21" name="Picture 20">
            <a:extLst>
              <a:ext uri="{FF2B5EF4-FFF2-40B4-BE49-F238E27FC236}">
                <a16:creationId xmlns:a16="http://schemas.microsoft.com/office/drawing/2014/main" id="{CC64EEF9-7D3E-56E3-5E09-C70B09D5DACA}"/>
              </a:ext>
            </a:extLst>
          </p:cNvPr>
          <p:cNvPicPr>
            <a:picLocks noChangeAspect="1"/>
          </p:cNvPicPr>
          <p:nvPr/>
        </p:nvPicPr>
        <p:blipFill>
          <a:blip r:embed="rId3"/>
          <a:stretch>
            <a:fillRect/>
          </a:stretch>
        </p:blipFill>
        <p:spPr>
          <a:xfrm>
            <a:off x="3514879" y="2410855"/>
            <a:ext cx="413235" cy="413235"/>
          </a:xfrm>
          <a:prstGeom prst="rect">
            <a:avLst/>
          </a:prstGeom>
        </p:spPr>
      </p:pic>
      <p:cxnSp>
        <p:nvCxnSpPr>
          <p:cNvPr id="22" name="Straight Arrow Connector 21">
            <a:extLst>
              <a:ext uri="{FF2B5EF4-FFF2-40B4-BE49-F238E27FC236}">
                <a16:creationId xmlns:a16="http://schemas.microsoft.com/office/drawing/2014/main" id="{03A17E32-A6A3-BA83-4B7D-F5498ACA7DDC}"/>
              </a:ext>
            </a:extLst>
          </p:cNvPr>
          <p:cNvCxnSpPr>
            <a:cxnSpLocks/>
            <a:stCxn id="19" idx="3"/>
            <a:endCxn id="6" idx="1"/>
          </p:cNvCxnSpPr>
          <p:nvPr/>
        </p:nvCxnSpPr>
        <p:spPr>
          <a:xfrm>
            <a:off x="5078403" y="2626011"/>
            <a:ext cx="1954603" cy="0"/>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E7A268A-26AA-902A-B09C-F61FCD7FE8A6}"/>
              </a:ext>
            </a:extLst>
          </p:cNvPr>
          <p:cNvSpPr txBox="1"/>
          <p:nvPr/>
        </p:nvSpPr>
        <p:spPr>
          <a:xfrm>
            <a:off x="-356461" y="1022888"/>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28" name="Rounded Rectangle 27">
            <a:extLst>
              <a:ext uri="{FF2B5EF4-FFF2-40B4-BE49-F238E27FC236}">
                <a16:creationId xmlns:a16="http://schemas.microsoft.com/office/drawing/2014/main" id="{F467B6C8-BE47-6DD6-E440-5402470F394E}"/>
              </a:ext>
            </a:extLst>
          </p:cNvPr>
          <p:cNvSpPr/>
          <p:nvPr/>
        </p:nvSpPr>
        <p:spPr>
          <a:xfrm>
            <a:off x="5222124" y="4033726"/>
            <a:ext cx="1716261" cy="622905"/>
          </a:xfrm>
          <a:prstGeom prst="roundRect">
            <a:avLst/>
          </a:prstGeom>
          <a:solidFill>
            <a:schemeClr val="bg1"/>
          </a:solidFill>
          <a:ln w="9525"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9" name="TextBox 28">
            <a:extLst>
              <a:ext uri="{FF2B5EF4-FFF2-40B4-BE49-F238E27FC236}">
                <a16:creationId xmlns:a16="http://schemas.microsoft.com/office/drawing/2014/main" id="{B1446BAD-1CC0-E593-1BA2-1823BA26A160}"/>
              </a:ext>
            </a:extLst>
          </p:cNvPr>
          <p:cNvSpPr txBox="1"/>
          <p:nvPr/>
        </p:nvSpPr>
        <p:spPr>
          <a:xfrm>
            <a:off x="5842944" y="4141485"/>
            <a:ext cx="991492"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Prometheus</a:t>
            </a:r>
          </a:p>
        </p:txBody>
      </p:sp>
      <p:sp>
        <p:nvSpPr>
          <p:cNvPr id="31" name="Rounded Rectangle 30">
            <a:extLst>
              <a:ext uri="{FF2B5EF4-FFF2-40B4-BE49-F238E27FC236}">
                <a16:creationId xmlns:a16="http://schemas.microsoft.com/office/drawing/2014/main" id="{439C5BF4-D6D4-164D-8937-0134614ACD3C}"/>
              </a:ext>
            </a:extLst>
          </p:cNvPr>
          <p:cNvSpPr/>
          <p:nvPr/>
        </p:nvSpPr>
        <p:spPr>
          <a:xfrm>
            <a:off x="2494040" y="4033726"/>
            <a:ext cx="1716261" cy="622905"/>
          </a:xfrm>
          <a:prstGeom prst="roundRect">
            <a:avLst/>
          </a:prstGeom>
          <a:solidFill>
            <a:schemeClr val="bg1"/>
          </a:solidFill>
          <a:ln w="9525"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32" name="TextBox 31">
            <a:extLst>
              <a:ext uri="{FF2B5EF4-FFF2-40B4-BE49-F238E27FC236}">
                <a16:creationId xmlns:a16="http://schemas.microsoft.com/office/drawing/2014/main" id="{561EC03E-0EF8-E092-367D-F96611A7000B}"/>
              </a:ext>
            </a:extLst>
          </p:cNvPr>
          <p:cNvSpPr txBox="1"/>
          <p:nvPr/>
        </p:nvSpPr>
        <p:spPr>
          <a:xfrm>
            <a:off x="3218809" y="4141485"/>
            <a:ext cx="991492"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Metric Data</a:t>
            </a:r>
          </a:p>
        </p:txBody>
      </p:sp>
      <p:cxnSp>
        <p:nvCxnSpPr>
          <p:cNvPr id="34" name="Straight Arrow Connector 33">
            <a:extLst>
              <a:ext uri="{FF2B5EF4-FFF2-40B4-BE49-F238E27FC236}">
                <a16:creationId xmlns:a16="http://schemas.microsoft.com/office/drawing/2014/main" id="{41CBA438-1365-A2BD-8145-A65E70855DC2}"/>
              </a:ext>
            </a:extLst>
          </p:cNvPr>
          <p:cNvCxnSpPr>
            <a:cxnSpLocks/>
            <a:stCxn id="32" idx="3"/>
            <a:endCxn id="28" idx="1"/>
          </p:cNvCxnSpPr>
          <p:nvPr/>
        </p:nvCxnSpPr>
        <p:spPr>
          <a:xfrm>
            <a:off x="4210301" y="4339565"/>
            <a:ext cx="1011823" cy="0"/>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723CF10B-1AC3-246F-D353-034A92C2A245}"/>
              </a:ext>
            </a:extLst>
          </p:cNvPr>
          <p:cNvPicPr>
            <a:picLocks noChangeAspect="1"/>
          </p:cNvPicPr>
          <p:nvPr/>
        </p:nvPicPr>
        <p:blipFill>
          <a:blip r:embed="rId4"/>
          <a:stretch>
            <a:fillRect/>
          </a:stretch>
        </p:blipFill>
        <p:spPr>
          <a:xfrm>
            <a:off x="2701625" y="4146797"/>
            <a:ext cx="360000" cy="360000"/>
          </a:xfrm>
          <a:prstGeom prst="rect">
            <a:avLst/>
          </a:prstGeom>
        </p:spPr>
      </p:pic>
      <p:cxnSp>
        <p:nvCxnSpPr>
          <p:cNvPr id="39" name="Straight Arrow Connector 38">
            <a:extLst>
              <a:ext uri="{FF2B5EF4-FFF2-40B4-BE49-F238E27FC236}">
                <a16:creationId xmlns:a16="http://schemas.microsoft.com/office/drawing/2014/main" id="{6BA25D08-3B9D-DC3A-9856-A2611F7AF7D1}"/>
              </a:ext>
            </a:extLst>
          </p:cNvPr>
          <p:cNvCxnSpPr>
            <a:cxnSpLocks/>
            <a:stCxn id="28" idx="3"/>
            <a:endCxn id="41" idx="1"/>
          </p:cNvCxnSpPr>
          <p:nvPr/>
        </p:nvCxnSpPr>
        <p:spPr>
          <a:xfrm>
            <a:off x="6938385" y="4345179"/>
            <a:ext cx="978542" cy="556"/>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1" name="Rounded Rectangle 40">
            <a:extLst>
              <a:ext uri="{FF2B5EF4-FFF2-40B4-BE49-F238E27FC236}">
                <a16:creationId xmlns:a16="http://schemas.microsoft.com/office/drawing/2014/main" id="{222B28D1-6462-8C6D-405B-7ADDE4C5F8F9}"/>
              </a:ext>
            </a:extLst>
          </p:cNvPr>
          <p:cNvSpPr/>
          <p:nvPr/>
        </p:nvSpPr>
        <p:spPr>
          <a:xfrm>
            <a:off x="7916927" y="4034839"/>
            <a:ext cx="1703562" cy="621792"/>
          </a:xfrm>
          <a:prstGeom prst="roundRect">
            <a:avLst/>
          </a:prstGeom>
          <a:noFill/>
          <a:ln w="9525"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pic>
        <p:nvPicPr>
          <p:cNvPr id="42" name="Picture 41">
            <a:extLst>
              <a:ext uri="{FF2B5EF4-FFF2-40B4-BE49-F238E27FC236}">
                <a16:creationId xmlns:a16="http://schemas.microsoft.com/office/drawing/2014/main" id="{891AAD1D-9941-21CE-C43C-67A127B5823E}"/>
              </a:ext>
            </a:extLst>
          </p:cNvPr>
          <p:cNvPicPr>
            <a:picLocks noChangeAspect="1"/>
          </p:cNvPicPr>
          <p:nvPr/>
        </p:nvPicPr>
        <p:blipFill>
          <a:blip r:embed="rId5">
            <a:extLst>
              <a:ext uri="{BEBA8EAE-BF5A-486C-A8C5-ECC9F3942E4B}">
                <a14:imgProps xmlns:a14="http://schemas.microsoft.com/office/drawing/2010/main">
                  <a14:imgLayer r:embed="rId6">
                    <a14:imgEffect>
                      <a14:artisticMarker/>
                    </a14:imgEffect>
                    <a14:imgEffect>
                      <a14:sharpenSoften amount="-25000"/>
                    </a14:imgEffect>
                    <a14:imgEffect>
                      <a14:colorTemperature colorTemp="5900"/>
                    </a14:imgEffect>
                    <a14:imgEffect>
                      <a14:saturation sat="300000"/>
                    </a14:imgEffect>
                    <a14:imgEffect>
                      <a14:brightnessContrast bright="-20000"/>
                    </a14:imgEffect>
                  </a14:imgLayer>
                </a14:imgProps>
              </a:ext>
            </a:extLst>
          </a:blip>
          <a:stretch>
            <a:fillRect/>
          </a:stretch>
        </p:blipFill>
        <p:spPr>
          <a:xfrm>
            <a:off x="5377700" y="4133115"/>
            <a:ext cx="396157" cy="396157"/>
          </a:xfrm>
          <a:prstGeom prst="rect">
            <a:avLst/>
          </a:prstGeom>
          <a:noFill/>
        </p:spPr>
      </p:pic>
      <p:sp>
        <p:nvSpPr>
          <p:cNvPr id="45" name="TextBox 44">
            <a:extLst>
              <a:ext uri="{FF2B5EF4-FFF2-40B4-BE49-F238E27FC236}">
                <a16:creationId xmlns:a16="http://schemas.microsoft.com/office/drawing/2014/main" id="{2B684B38-AA47-EF30-6CFF-1AC4AD819DB6}"/>
              </a:ext>
            </a:extLst>
          </p:cNvPr>
          <p:cNvSpPr txBox="1"/>
          <p:nvPr/>
        </p:nvSpPr>
        <p:spPr>
          <a:xfrm>
            <a:off x="8469406" y="4130456"/>
            <a:ext cx="1037541"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Grafana</a:t>
            </a:r>
          </a:p>
          <a:p>
            <a:pPr algn="ctr"/>
            <a:r>
              <a:rPr lang="en-GB" sz="1200" dirty="0">
                <a:solidFill>
                  <a:srgbClr val="2C2C2C"/>
                </a:solidFill>
              </a:rPr>
              <a:t>(Monitoring)</a:t>
            </a:r>
          </a:p>
        </p:txBody>
      </p:sp>
      <p:pic>
        <p:nvPicPr>
          <p:cNvPr id="48" name="Picture 10">
            <a:extLst>
              <a:ext uri="{FF2B5EF4-FFF2-40B4-BE49-F238E27FC236}">
                <a16:creationId xmlns:a16="http://schemas.microsoft.com/office/drawing/2014/main" id="{19371983-6B29-BA76-1788-17F2FBDFF1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90355" y="4192535"/>
            <a:ext cx="339450" cy="339450"/>
          </a:xfrm>
          <a:prstGeom prst="rect">
            <a:avLst/>
          </a:prstGeom>
          <a:noFill/>
        </p:spPr>
      </p:pic>
    </p:spTree>
    <p:extLst>
      <p:ext uri="{BB962C8B-B14F-4D97-AF65-F5344CB8AC3E}">
        <p14:creationId xmlns:p14="http://schemas.microsoft.com/office/powerpoint/2010/main" val="318726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30E18-E7A9-A745-8BB7-9D1CB31C5D35}"/>
              </a:ext>
            </a:extLst>
          </p:cNvPr>
          <p:cNvSpPr>
            <a:spLocks noGrp="1"/>
          </p:cNvSpPr>
          <p:nvPr>
            <p:ph type="title"/>
          </p:nvPr>
        </p:nvSpPr>
        <p:spPr/>
        <p:txBody>
          <a:bodyPr/>
          <a:lstStyle/>
          <a:p>
            <a:r>
              <a:rPr lang="en-GB" dirty="0">
                <a:solidFill>
                  <a:srgbClr val="7D0D2D"/>
                </a:solidFill>
              </a:rPr>
              <a:t>Logical Data Model</a:t>
            </a:r>
          </a:p>
        </p:txBody>
      </p:sp>
      <p:sp>
        <p:nvSpPr>
          <p:cNvPr id="4" name="TextBox 3">
            <a:extLst>
              <a:ext uri="{FF2B5EF4-FFF2-40B4-BE49-F238E27FC236}">
                <a16:creationId xmlns:a16="http://schemas.microsoft.com/office/drawing/2014/main" id="{31C89F98-CE9B-CCBC-B89F-C548F74239AC}"/>
              </a:ext>
            </a:extLst>
          </p:cNvPr>
          <p:cNvSpPr txBox="1"/>
          <p:nvPr/>
        </p:nvSpPr>
        <p:spPr>
          <a:xfrm>
            <a:off x="3058143" y="5033699"/>
            <a:ext cx="8502795" cy="889346"/>
          </a:xfrm>
          <a:prstGeom prst="rect">
            <a:avLst/>
          </a:prstGeom>
          <a:solidFill>
            <a:schemeClr val="bg1"/>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indent="-171450">
              <a:lnSpc>
                <a:spcPct val="150000"/>
              </a:lnSpc>
              <a:buFont typeface="Arial" panose="020B0604020202020204" pitchFamily="34" charset="0"/>
              <a:buChar char="•"/>
            </a:pPr>
            <a:r>
              <a:rPr lang="en-GB" sz="1200" i="1" dirty="0" err="1">
                <a:solidFill>
                  <a:srgbClr val="2C2C2C"/>
                </a:solidFill>
              </a:rPr>
              <a:t>TelemetryData</a:t>
            </a:r>
            <a:r>
              <a:rPr lang="en-GB" sz="1200" i="1" dirty="0">
                <a:solidFill>
                  <a:srgbClr val="2C2C2C"/>
                </a:solidFill>
              </a:rPr>
              <a:t> → </a:t>
            </a:r>
            <a:r>
              <a:rPr lang="en-GB" sz="1200" i="1" dirty="0" err="1">
                <a:solidFill>
                  <a:srgbClr val="2C2C2C"/>
                </a:solidFill>
              </a:rPr>
              <a:t>AnomalyEvent</a:t>
            </a:r>
            <a:r>
              <a:rPr lang="en-GB" sz="1200" dirty="0">
                <a:solidFill>
                  <a:srgbClr val="2C2C2C"/>
                </a:solidFill>
              </a:rPr>
              <a:t>: 		one telemetry record can trigger several anomalies.</a:t>
            </a:r>
          </a:p>
          <a:p>
            <a:pPr marL="171450" indent="-171450">
              <a:lnSpc>
                <a:spcPct val="150000"/>
              </a:lnSpc>
              <a:buFont typeface="Arial" panose="020B0604020202020204" pitchFamily="34" charset="0"/>
              <a:buChar char="•"/>
            </a:pPr>
            <a:r>
              <a:rPr lang="en-GB" sz="1200" i="1" dirty="0" err="1">
                <a:solidFill>
                  <a:srgbClr val="2C2C2C"/>
                </a:solidFill>
              </a:rPr>
              <a:t>TelemetryData</a:t>
            </a:r>
            <a:r>
              <a:rPr lang="en-GB" sz="1200" i="1" dirty="0">
                <a:solidFill>
                  <a:srgbClr val="2C2C2C"/>
                </a:solidFill>
              </a:rPr>
              <a:t> → </a:t>
            </a:r>
            <a:r>
              <a:rPr lang="en-GB" sz="1200" i="1" dirty="0" err="1">
                <a:solidFill>
                  <a:srgbClr val="2C2C2C"/>
                </a:solidFill>
              </a:rPr>
              <a:t>PerformanceStrategyInsight</a:t>
            </a:r>
            <a:r>
              <a:rPr lang="en-GB" sz="1200" dirty="0">
                <a:solidFill>
                  <a:srgbClr val="2C2C2C"/>
                </a:solidFill>
              </a:rPr>
              <a:t>:      one record produces one performance insight.</a:t>
            </a:r>
          </a:p>
          <a:p>
            <a:pPr marL="171450" indent="-171450">
              <a:lnSpc>
                <a:spcPct val="150000"/>
              </a:lnSpc>
              <a:buFont typeface="Arial" panose="020B0604020202020204" pitchFamily="34" charset="0"/>
              <a:buChar char="•"/>
            </a:pPr>
            <a:r>
              <a:rPr lang="en-GB" sz="1200" i="1" dirty="0" err="1">
                <a:solidFill>
                  <a:srgbClr val="2C2C2C"/>
                </a:solidFill>
              </a:rPr>
              <a:t>AnomalyEvent</a:t>
            </a:r>
            <a:r>
              <a:rPr lang="en-GB" sz="1200" i="1" dirty="0">
                <a:solidFill>
                  <a:srgbClr val="2C2C2C"/>
                </a:solidFill>
              </a:rPr>
              <a:t> → </a:t>
            </a:r>
            <a:r>
              <a:rPr lang="en-GB" sz="1200" i="1" dirty="0" err="1">
                <a:solidFill>
                  <a:srgbClr val="2C2C2C"/>
                </a:solidFill>
              </a:rPr>
              <a:t>PerformanceStrategyInsight</a:t>
            </a:r>
            <a:r>
              <a:rPr lang="en-GB" sz="1200" dirty="0">
                <a:solidFill>
                  <a:srgbClr val="2C2C2C"/>
                </a:solidFill>
              </a:rPr>
              <a:t>:       anomalies influence the computed score.</a:t>
            </a:r>
          </a:p>
        </p:txBody>
      </p:sp>
      <p:sp>
        <p:nvSpPr>
          <p:cNvPr id="5" name="Rectangle 4">
            <a:extLst>
              <a:ext uri="{FF2B5EF4-FFF2-40B4-BE49-F238E27FC236}">
                <a16:creationId xmlns:a16="http://schemas.microsoft.com/office/drawing/2014/main" id="{4D8F79D3-2D6C-37CF-7F57-8296F8E5D6C7}"/>
              </a:ext>
            </a:extLst>
          </p:cNvPr>
          <p:cNvSpPr/>
          <p:nvPr/>
        </p:nvSpPr>
        <p:spPr>
          <a:xfrm>
            <a:off x="11928764" y="3425260"/>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7" name="TextBox 26">
            <a:extLst>
              <a:ext uri="{FF2B5EF4-FFF2-40B4-BE49-F238E27FC236}">
                <a16:creationId xmlns:a16="http://schemas.microsoft.com/office/drawing/2014/main" id="{EE7A268A-26AA-902A-B09C-F61FCD7FE8A6}"/>
              </a:ext>
            </a:extLst>
          </p:cNvPr>
          <p:cNvSpPr txBox="1"/>
          <p:nvPr/>
        </p:nvSpPr>
        <p:spPr>
          <a:xfrm>
            <a:off x="-356461" y="1022888"/>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3" name="Rounded Rectangle 2">
            <a:extLst>
              <a:ext uri="{FF2B5EF4-FFF2-40B4-BE49-F238E27FC236}">
                <a16:creationId xmlns:a16="http://schemas.microsoft.com/office/drawing/2014/main" id="{D18BDD1D-3B8B-A4B4-C0F0-FE55D77912CB}"/>
              </a:ext>
            </a:extLst>
          </p:cNvPr>
          <p:cNvSpPr/>
          <p:nvPr/>
        </p:nvSpPr>
        <p:spPr>
          <a:xfrm>
            <a:off x="681735" y="2627698"/>
            <a:ext cx="1703562" cy="621792"/>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8" name="TextBox 7">
            <a:extLst>
              <a:ext uri="{FF2B5EF4-FFF2-40B4-BE49-F238E27FC236}">
                <a16:creationId xmlns:a16="http://schemas.microsoft.com/office/drawing/2014/main" id="{C3D91443-6872-E433-B0FF-FA897050D3C9}"/>
              </a:ext>
            </a:extLst>
          </p:cNvPr>
          <p:cNvSpPr txBox="1"/>
          <p:nvPr/>
        </p:nvSpPr>
        <p:spPr>
          <a:xfrm>
            <a:off x="1238386" y="2697145"/>
            <a:ext cx="1174721"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rgbClr val="2C2C2C"/>
                </a:solidFill>
              </a:rPr>
              <a:t>Telemetry Data</a:t>
            </a:r>
          </a:p>
        </p:txBody>
      </p:sp>
      <p:sp>
        <p:nvSpPr>
          <p:cNvPr id="12" name="Rounded Rectangle 11">
            <a:extLst>
              <a:ext uri="{FF2B5EF4-FFF2-40B4-BE49-F238E27FC236}">
                <a16:creationId xmlns:a16="http://schemas.microsoft.com/office/drawing/2014/main" id="{C8E6D059-FA4B-A17F-4953-660436E58605}"/>
              </a:ext>
            </a:extLst>
          </p:cNvPr>
          <p:cNvSpPr/>
          <p:nvPr/>
        </p:nvSpPr>
        <p:spPr>
          <a:xfrm>
            <a:off x="678787" y="3729855"/>
            <a:ext cx="1703562" cy="621792"/>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13" name="TextBox 12">
            <a:extLst>
              <a:ext uri="{FF2B5EF4-FFF2-40B4-BE49-F238E27FC236}">
                <a16:creationId xmlns:a16="http://schemas.microsoft.com/office/drawing/2014/main" id="{E1C0AFA4-BFDC-2B98-A24F-0A739D870853}"/>
              </a:ext>
            </a:extLst>
          </p:cNvPr>
          <p:cNvSpPr txBox="1"/>
          <p:nvPr/>
        </p:nvSpPr>
        <p:spPr>
          <a:xfrm>
            <a:off x="1262734" y="3799302"/>
            <a:ext cx="1147425"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rgbClr val="2C2C2C"/>
                </a:solidFill>
              </a:rPr>
              <a:t>Anomaly Event</a:t>
            </a:r>
          </a:p>
        </p:txBody>
      </p:sp>
      <p:pic>
        <p:nvPicPr>
          <p:cNvPr id="18" name="Picture 17">
            <a:extLst>
              <a:ext uri="{FF2B5EF4-FFF2-40B4-BE49-F238E27FC236}">
                <a16:creationId xmlns:a16="http://schemas.microsoft.com/office/drawing/2014/main" id="{0A4466F3-374E-283C-A471-9A9C0192D1AC}"/>
              </a:ext>
            </a:extLst>
          </p:cNvPr>
          <p:cNvPicPr>
            <a:picLocks noChangeAspect="1"/>
          </p:cNvPicPr>
          <p:nvPr/>
        </p:nvPicPr>
        <p:blipFill>
          <a:blip r:embed="rId2"/>
          <a:stretch>
            <a:fillRect/>
          </a:stretch>
        </p:blipFill>
        <p:spPr>
          <a:xfrm>
            <a:off x="732828" y="3794335"/>
            <a:ext cx="475865" cy="475865"/>
          </a:xfrm>
          <a:prstGeom prst="rect">
            <a:avLst/>
          </a:prstGeom>
        </p:spPr>
      </p:pic>
      <p:sp>
        <p:nvSpPr>
          <p:cNvPr id="20" name="Rounded Rectangle 19">
            <a:extLst>
              <a:ext uri="{FF2B5EF4-FFF2-40B4-BE49-F238E27FC236}">
                <a16:creationId xmlns:a16="http://schemas.microsoft.com/office/drawing/2014/main" id="{B7D66797-E7E3-9E37-9544-1A2DA3A1EA69}"/>
              </a:ext>
            </a:extLst>
          </p:cNvPr>
          <p:cNvSpPr/>
          <p:nvPr/>
        </p:nvSpPr>
        <p:spPr>
          <a:xfrm>
            <a:off x="678327" y="4826859"/>
            <a:ext cx="1703562" cy="621792"/>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3" name="TextBox 22">
            <a:extLst>
              <a:ext uri="{FF2B5EF4-FFF2-40B4-BE49-F238E27FC236}">
                <a16:creationId xmlns:a16="http://schemas.microsoft.com/office/drawing/2014/main" id="{6273F9E7-BCBA-27FF-603A-9260F9558BB9}"/>
              </a:ext>
            </a:extLst>
          </p:cNvPr>
          <p:cNvSpPr txBox="1"/>
          <p:nvPr/>
        </p:nvSpPr>
        <p:spPr>
          <a:xfrm>
            <a:off x="1198768" y="4877030"/>
            <a:ext cx="1172509"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rgbClr val="2C2C2C"/>
                </a:solidFill>
              </a:rPr>
              <a:t>Performance Strategy Insight</a:t>
            </a:r>
          </a:p>
        </p:txBody>
      </p:sp>
      <p:pic>
        <p:nvPicPr>
          <p:cNvPr id="26" name="Picture 25">
            <a:extLst>
              <a:ext uri="{FF2B5EF4-FFF2-40B4-BE49-F238E27FC236}">
                <a16:creationId xmlns:a16="http://schemas.microsoft.com/office/drawing/2014/main" id="{BBB3929E-4D5D-45E4-038B-7698713F784A}"/>
              </a:ext>
            </a:extLst>
          </p:cNvPr>
          <p:cNvPicPr>
            <a:picLocks noChangeAspect="1"/>
          </p:cNvPicPr>
          <p:nvPr/>
        </p:nvPicPr>
        <p:blipFill>
          <a:blip r:embed="rId3"/>
          <a:stretch>
            <a:fillRect/>
          </a:stretch>
        </p:blipFill>
        <p:spPr>
          <a:xfrm>
            <a:off x="790303" y="4908246"/>
            <a:ext cx="408465" cy="408465"/>
          </a:xfrm>
          <a:prstGeom prst="rect">
            <a:avLst/>
          </a:prstGeom>
        </p:spPr>
      </p:pic>
      <p:cxnSp>
        <p:nvCxnSpPr>
          <p:cNvPr id="30" name="Straight Arrow Connector 29">
            <a:extLst>
              <a:ext uri="{FF2B5EF4-FFF2-40B4-BE49-F238E27FC236}">
                <a16:creationId xmlns:a16="http://schemas.microsoft.com/office/drawing/2014/main" id="{82A19A8B-569B-E4BF-CC62-9478B338FAB2}"/>
              </a:ext>
            </a:extLst>
          </p:cNvPr>
          <p:cNvCxnSpPr>
            <a:cxnSpLocks/>
            <a:stCxn id="3" idx="2"/>
            <a:endCxn id="12" idx="0"/>
          </p:cNvCxnSpPr>
          <p:nvPr/>
        </p:nvCxnSpPr>
        <p:spPr>
          <a:xfrm flipH="1">
            <a:off x="1530568" y="3249490"/>
            <a:ext cx="0" cy="480365"/>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DF7AA47-B1F1-74E8-A4D4-5AB89072CD4D}"/>
              </a:ext>
            </a:extLst>
          </p:cNvPr>
          <p:cNvCxnSpPr>
            <a:cxnSpLocks/>
            <a:stCxn id="12" idx="2"/>
            <a:endCxn id="20" idx="0"/>
          </p:cNvCxnSpPr>
          <p:nvPr/>
        </p:nvCxnSpPr>
        <p:spPr>
          <a:xfrm flipH="1">
            <a:off x="1530108" y="4351647"/>
            <a:ext cx="460" cy="475212"/>
          </a:xfrm>
          <a:prstGeom prst="straightConnector1">
            <a:avLst/>
          </a:prstGeom>
          <a:ln w="9525" cap="rnd">
            <a:solidFill>
              <a:schemeClr val="tx1">
                <a:lumMod val="75000"/>
              </a:schemeClr>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EAA1A289-239D-92A6-2D77-10D7B8F0C6A8}"/>
              </a:ext>
            </a:extLst>
          </p:cNvPr>
          <p:cNvSpPr txBox="1"/>
          <p:nvPr/>
        </p:nvSpPr>
        <p:spPr>
          <a:xfrm>
            <a:off x="1538428" y="3256262"/>
            <a:ext cx="831849"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chemeClr val="tx1">
                    <a:lumMod val="75000"/>
                  </a:schemeClr>
                </a:solidFill>
              </a:rPr>
              <a:t>1 -&gt; N</a:t>
            </a:r>
          </a:p>
        </p:txBody>
      </p:sp>
      <p:sp>
        <p:nvSpPr>
          <p:cNvPr id="49" name="TextBox 48">
            <a:extLst>
              <a:ext uri="{FF2B5EF4-FFF2-40B4-BE49-F238E27FC236}">
                <a16:creationId xmlns:a16="http://schemas.microsoft.com/office/drawing/2014/main" id="{11A65689-B636-EB24-E2F6-77B6909A71E1}"/>
              </a:ext>
            </a:extLst>
          </p:cNvPr>
          <p:cNvSpPr txBox="1"/>
          <p:nvPr/>
        </p:nvSpPr>
        <p:spPr>
          <a:xfrm>
            <a:off x="1538709" y="4351647"/>
            <a:ext cx="831849" cy="470898"/>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100" dirty="0">
                <a:solidFill>
                  <a:schemeClr val="tx1">
                    <a:lumMod val="75000"/>
                  </a:schemeClr>
                </a:solidFill>
              </a:rPr>
              <a:t>1 -&gt; 1</a:t>
            </a:r>
          </a:p>
        </p:txBody>
      </p:sp>
      <p:graphicFrame>
        <p:nvGraphicFramePr>
          <p:cNvPr id="51" name="Table 50">
            <a:extLst>
              <a:ext uri="{FF2B5EF4-FFF2-40B4-BE49-F238E27FC236}">
                <a16:creationId xmlns:a16="http://schemas.microsoft.com/office/drawing/2014/main" id="{2DAD585F-68AD-C680-723E-BD1863F95F20}"/>
              </a:ext>
            </a:extLst>
          </p:cNvPr>
          <p:cNvGraphicFramePr>
            <a:graphicFrameLocks noGrp="1"/>
          </p:cNvGraphicFramePr>
          <p:nvPr>
            <p:extLst>
              <p:ext uri="{D42A27DB-BD31-4B8C-83A1-F6EECF244321}">
                <p14:modId xmlns:p14="http://schemas.microsoft.com/office/powerpoint/2010/main" val="506859304"/>
              </p:ext>
            </p:extLst>
          </p:nvPr>
        </p:nvGraphicFramePr>
        <p:xfrm>
          <a:off x="3107920" y="2177933"/>
          <a:ext cx="8341011" cy="2323048"/>
        </p:xfrm>
        <a:graphic>
          <a:graphicData uri="http://schemas.openxmlformats.org/drawingml/2006/table">
            <a:tbl>
              <a:tblPr/>
              <a:tblGrid>
                <a:gridCol w="2294050">
                  <a:extLst>
                    <a:ext uri="{9D8B030D-6E8A-4147-A177-3AD203B41FA5}">
                      <a16:colId xmlns:a16="http://schemas.microsoft.com/office/drawing/2014/main" val="1326553694"/>
                    </a:ext>
                  </a:extLst>
                </a:gridCol>
                <a:gridCol w="6046961">
                  <a:extLst>
                    <a:ext uri="{9D8B030D-6E8A-4147-A177-3AD203B41FA5}">
                      <a16:colId xmlns:a16="http://schemas.microsoft.com/office/drawing/2014/main" val="3294611771"/>
                    </a:ext>
                  </a:extLst>
                </a:gridCol>
              </a:tblGrid>
              <a:tr h="596979">
                <a:tc>
                  <a:txBody>
                    <a:bodyPr/>
                    <a:lstStyle/>
                    <a:p>
                      <a:pPr algn="r"/>
                      <a:r>
                        <a:rPr lang="en-GB" sz="1200" b="1" dirty="0">
                          <a:solidFill>
                            <a:srgbClr val="2C2C2C"/>
                          </a:solidFill>
                        </a:rPr>
                        <a:t>Entity</a:t>
                      </a:r>
                    </a:p>
                  </a:txBody>
                  <a:tcPr anchor="ctr">
                    <a:lnL>
                      <a:noFill/>
                    </a:lnL>
                    <a:lnR w="12700" cap="flat" cmpd="sng" algn="ctr">
                      <a:solidFill>
                        <a:schemeClr val="tx1">
                          <a:lumMod val="60000"/>
                          <a:lumOff val="40000"/>
                        </a:schemeClr>
                      </a:solidFill>
                      <a:prstDash val="solid"/>
                      <a:round/>
                      <a:headEnd type="none" w="med" len="med"/>
                      <a:tailEnd type="none" w="med" len="med"/>
                    </a:lnR>
                    <a:lnT>
                      <a:noFill/>
                    </a:lnT>
                    <a:lnB w="12700" cap="flat" cmpd="sng" algn="ctr">
                      <a:solidFill>
                        <a:schemeClr val="tx1">
                          <a:lumMod val="60000"/>
                          <a:lumOff val="40000"/>
                        </a:schemeClr>
                      </a:solidFill>
                      <a:prstDash val="solid"/>
                      <a:round/>
                      <a:headEnd type="none" w="med" len="med"/>
                      <a:tailEnd type="none" w="med" len="med"/>
                    </a:lnB>
                  </a:tcPr>
                </a:tc>
                <a:tc>
                  <a:txBody>
                    <a:bodyPr/>
                    <a:lstStyle/>
                    <a:p>
                      <a:r>
                        <a:rPr lang="en-GB" sz="1200" b="1" dirty="0">
                          <a:solidFill>
                            <a:srgbClr val="2C2C2C"/>
                          </a:solidFill>
                        </a:rPr>
                        <a:t>Description</a:t>
                      </a:r>
                    </a:p>
                  </a:txBody>
                  <a:tcPr anchor="ctr">
                    <a:lnL w="12700" cap="flat" cmpd="sng" algn="ctr">
                      <a:solidFill>
                        <a:schemeClr val="tx1">
                          <a:lumMod val="60000"/>
                          <a:lumOff val="40000"/>
                        </a:schemeClr>
                      </a:solidFill>
                      <a:prstDash val="solid"/>
                      <a:round/>
                      <a:headEnd type="none" w="med" len="med"/>
                      <a:tailEnd type="none" w="med" len="med"/>
                    </a:lnL>
                    <a:lnR>
                      <a:noFill/>
                    </a:lnR>
                    <a:lnT>
                      <a:noFill/>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332745225"/>
                  </a:ext>
                </a:extLst>
              </a:tr>
              <a:tr h="422226">
                <a:tc>
                  <a:txBody>
                    <a:bodyPr/>
                    <a:lstStyle/>
                    <a:p>
                      <a:pPr algn="r"/>
                      <a:r>
                        <a:rPr lang="en-GB" sz="1200" b="0" dirty="0" err="1">
                          <a:solidFill>
                            <a:srgbClr val="2C2C2C"/>
                          </a:solidFill>
                        </a:rPr>
                        <a:t>TelemetryData</a:t>
                      </a:r>
                      <a:endParaRPr lang="en-GB" sz="1200" b="0" dirty="0">
                        <a:solidFill>
                          <a:srgbClr val="2C2C2C"/>
                        </a:solidFill>
                      </a:endParaRPr>
                    </a:p>
                  </a:txBody>
                  <a:tcPr anchor="ctr">
                    <a:lnL>
                      <a:noFill/>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r>
                        <a:rPr lang="en-GB" sz="1200" dirty="0">
                          <a:solidFill>
                            <a:srgbClr val="2C2C2C"/>
                          </a:solidFill>
                        </a:rPr>
                        <a:t>Describes the car’s state at a specific timestamp</a:t>
                      </a:r>
                      <a:endParaRPr lang="en-GB" sz="1200" b="0" dirty="0">
                        <a:solidFill>
                          <a:srgbClr val="2C2C2C"/>
                        </a:solidFill>
                      </a:endParaRPr>
                    </a:p>
                  </a:txBody>
                  <a:tcPr anchor="ctr">
                    <a:lnL w="12700" cap="flat" cmpd="sng" algn="ctr">
                      <a:solidFill>
                        <a:schemeClr val="tx1">
                          <a:lumMod val="60000"/>
                          <a:lumOff val="40000"/>
                        </a:schemeClr>
                      </a:solidFill>
                      <a:prstDash val="solid"/>
                      <a:round/>
                      <a:headEnd type="none" w="med" len="med"/>
                      <a:tailEnd type="none" w="med" len="med"/>
                    </a:lnL>
                    <a:lnR>
                      <a:noFill/>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551090705"/>
                  </a:ext>
                </a:extLst>
              </a:tr>
              <a:tr h="543268">
                <a:tc>
                  <a:txBody>
                    <a:bodyPr/>
                    <a:lstStyle/>
                    <a:p>
                      <a:pPr algn="r"/>
                      <a:r>
                        <a:rPr lang="en-GB" sz="1200" b="0" dirty="0" err="1">
                          <a:solidFill>
                            <a:srgbClr val="2C2C2C"/>
                          </a:solidFill>
                        </a:rPr>
                        <a:t>AnomalyEvent</a:t>
                      </a:r>
                      <a:endParaRPr lang="en-GB" sz="1200" b="0" dirty="0">
                        <a:solidFill>
                          <a:srgbClr val="2C2C2C"/>
                        </a:solidFill>
                      </a:endParaRPr>
                    </a:p>
                  </a:txBody>
                  <a:tcPr anchor="ctr">
                    <a:lnL>
                      <a:noFill/>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tc>
                  <a:txBody>
                    <a:bodyPr/>
                    <a:lstStyle/>
                    <a:p>
                      <a:r>
                        <a:rPr lang="en-GB" sz="1200" b="0" dirty="0">
                          <a:solidFill>
                            <a:srgbClr val="2C2C2C"/>
                          </a:solidFill>
                        </a:rPr>
                        <a:t>Generated by the Stream Processor when telemetry values exceed dynamic thresholds. </a:t>
                      </a:r>
                    </a:p>
                  </a:txBody>
                  <a:tcPr anchor="ctr">
                    <a:lnL w="12700" cap="flat" cmpd="sng" algn="ctr">
                      <a:solidFill>
                        <a:schemeClr val="tx1">
                          <a:lumMod val="60000"/>
                          <a:lumOff val="40000"/>
                        </a:schemeClr>
                      </a:solidFill>
                      <a:prstDash val="solid"/>
                      <a:round/>
                      <a:headEnd type="none" w="med" len="med"/>
                      <a:tailEnd type="none" w="med" len="med"/>
                    </a:lnL>
                    <a:lnR>
                      <a:noFill/>
                    </a:lnR>
                    <a:lnT w="12700" cap="flat" cmpd="sng" algn="ctr">
                      <a:solidFill>
                        <a:schemeClr val="tx1">
                          <a:lumMod val="60000"/>
                          <a:lumOff val="40000"/>
                        </a:schemeClr>
                      </a:solidFill>
                      <a:prstDash val="solid"/>
                      <a:round/>
                      <a:headEnd type="none" w="med" len="med"/>
                      <a:tailEnd type="none" w="med" len="med"/>
                    </a:lnT>
                    <a:lnB w="12700" cap="flat" cmpd="sng" algn="ctr">
                      <a:solidFill>
                        <a:schemeClr val="tx1">
                          <a:lumMod val="60000"/>
                          <a:lumOff val="40000"/>
                        </a:schemeClr>
                      </a:solidFill>
                      <a:prstDash val="solid"/>
                      <a:round/>
                      <a:headEnd type="none" w="med" len="med"/>
                      <a:tailEnd type="none" w="med" len="med"/>
                    </a:lnB>
                  </a:tcPr>
                </a:tc>
                <a:extLst>
                  <a:ext uri="{0D108BD9-81ED-4DB2-BD59-A6C34878D82A}">
                    <a16:rowId xmlns:a16="http://schemas.microsoft.com/office/drawing/2014/main" val="2653749953"/>
                  </a:ext>
                </a:extLst>
              </a:tr>
              <a:tr h="760575">
                <a:tc>
                  <a:txBody>
                    <a:bodyPr/>
                    <a:lstStyle/>
                    <a:p>
                      <a:pPr algn="r"/>
                      <a:r>
                        <a:rPr lang="en-GB" sz="1200" b="0" dirty="0" err="1">
                          <a:solidFill>
                            <a:srgbClr val="2C2C2C"/>
                          </a:solidFill>
                        </a:rPr>
                        <a:t>PerformanceStrategyInsight</a:t>
                      </a:r>
                      <a:endParaRPr lang="en-GB" sz="1200" b="0" dirty="0">
                        <a:solidFill>
                          <a:srgbClr val="2C2C2C"/>
                        </a:solidFill>
                      </a:endParaRPr>
                    </a:p>
                  </a:txBody>
                  <a:tcPr anchor="ctr">
                    <a:lnL>
                      <a:noFill/>
                    </a:lnL>
                    <a:lnR w="12700" cap="flat" cmpd="sng" algn="ctr">
                      <a:solidFill>
                        <a:schemeClr val="tx1">
                          <a:lumMod val="60000"/>
                          <a:lumOff val="40000"/>
                        </a:schemeClr>
                      </a:solidFill>
                      <a:prstDash val="solid"/>
                      <a:round/>
                      <a:headEnd type="none" w="med" len="med"/>
                      <a:tailEnd type="none" w="med" len="med"/>
                    </a:lnR>
                    <a:lnT w="12700" cap="flat" cmpd="sng" algn="ctr">
                      <a:solidFill>
                        <a:schemeClr val="tx1">
                          <a:lumMod val="60000"/>
                          <a:lumOff val="40000"/>
                        </a:schemeClr>
                      </a:solidFill>
                      <a:prstDash val="solid"/>
                      <a:round/>
                      <a:headEnd type="none" w="med" len="med"/>
                      <a:tailEnd type="none" w="med" len="med"/>
                    </a:lnT>
                    <a:lnB>
                      <a:noFill/>
                    </a:lnB>
                  </a:tcPr>
                </a:tc>
                <a:tc>
                  <a:txBody>
                    <a:bodyPr/>
                    <a:lstStyle/>
                    <a:p>
                      <a:r>
                        <a:rPr lang="en-GB" sz="1200" dirty="0">
                          <a:solidFill>
                            <a:srgbClr val="2C2C2C"/>
                          </a:solidFill>
                        </a:rPr>
                        <a:t>Synthesized insights produced by the Stream Processor. Combines telemetry and anomaly information to guide race decisions.</a:t>
                      </a:r>
                      <a:endParaRPr lang="en-GB" sz="1200" b="0" dirty="0">
                        <a:solidFill>
                          <a:srgbClr val="2C2C2C"/>
                        </a:solidFill>
                      </a:endParaRPr>
                    </a:p>
                  </a:txBody>
                  <a:tcPr anchor="ctr">
                    <a:lnL w="12700" cap="flat" cmpd="sng" algn="ctr">
                      <a:solidFill>
                        <a:schemeClr val="tx1">
                          <a:lumMod val="60000"/>
                          <a:lumOff val="40000"/>
                        </a:schemeClr>
                      </a:solidFill>
                      <a:prstDash val="solid"/>
                      <a:round/>
                      <a:headEnd type="none" w="med" len="med"/>
                      <a:tailEnd type="none" w="med" len="med"/>
                    </a:lnL>
                    <a:lnR>
                      <a:noFill/>
                    </a:lnR>
                    <a:lnT w="12700" cap="flat" cmpd="sng" algn="ctr">
                      <a:solidFill>
                        <a:schemeClr val="tx1">
                          <a:lumMod val="60000"/>
                          <a:lumOff val="40000"/>
                        </a:schemeClr>
                      </a:solidFill>
                      <a:prstDash val="solid"/>
                      <a:round/>
                      <a:headEnd type="none" w="med" len="med"/>
                      <a:tailEnd type="none" w="med" len="med"/>
                    </a:lnT>
                    <a:lnB>
                      <a:noFill/>
                    </a:lnB>
                  </a:tcPr>
                </a:tc>
                <a:extLst>
                  <a:ext uri="{0D108BD9-81ED-4DB2-BD59-A6C34878D82A}">
                    <a16:rowId xmlns:a16="http://schemas.microsoft.com/office/drawing/2014/main" val="3528948608"/>
                  </a:ext>
                </a:extLst>
              </a:tr>
            </a:tbl>
          </a:graphicData>
        </a:graphic>
      </p:graphicFrame>
      <p:sp>
        <p:nvSpPr>
          <p:cNvPr id="58" name="TextBox 57">
            <a:extLst>
              <a:ext uri="{FF2B5EF4-FFF2-40B4-BE49-F238E27FC236}">
                <a16:creationId xmlns:a16="http://schemas.microsoft.com/office/drawing/2014/main" id="{56A91249-A30D-B5A3-AF64-6729F23753CF}"/>
              </a:ext>
            </a:extLst>
          </p:cNvPr>
          <p:cNvSpPr txBox="1"/>
          <p:nvPr/>
        </p:nvSpPr>
        <p:spPr>
          <a:xfrm>
            <a:off x="628649" y="1378779"/>
            <a:ext cx="9546253" cy="30777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400" dirty="0">
                <a:solidFill>
                  <a:srgbClr val="2C2C2C"/>
                </a:solidFill>
              </a:rPr>
              <a:t>The logical model defines how core business entities interact within the F1 Race Strategy analytics pipeline.</a:t>
            </a:r>
          </a:p>
        </p:txBody>
      </p:sp>
      <p:pic>
        <p:nvPicPr>
          <p:cNvPr id="6" name="Picture 5">
            <a:extLst>
              <a:ext uri="{FF2B5EF4-FFF2-40B4-BE49-F238E27FC236}">
                <a16:creationId xmlns:a16="http://schemas.microsoft.com/office/drawing/2014/main" id="{F6F7DA2F-9D4A-5816-CE6E-66CAA7D3312F}"/>
              </a:ext>
            </a:extLst>
          </p:cNvPr>
          <p:cNvPicPr>
            <a:picLocks noChangeAspect="1"/>
          </p:cNvPicPr>
          <p:nvPr/>
        </p:nvPicPr>
        <p:blipFill>
          <a:blip r:embed="rId4"/>
          <a:stretch>
            <a:fillRect/>
          </a:stretch>
        </p:blipFill>
        <p:spPr>
          <a:xfrm>
            <a:off x="808289" y="2711682"/>
            <a:ext cx="413235" cy="413235"/>
          </a:xfrm>
          <a:prstGeom prst="rect">
            <a:avLst/>
          </a:prstGeom>
        </p:spPr>
      </p:pic>
    </p:spTree>
    <p:extLst>
      <p:ext uri="{BB962C8B-B14F-4D97-AF65-F5344CB8AC3E}">
        <p14:creationId xmlns:p14="http://schemas.microsoft.com/office/powerpoint/2010/main" val="10436483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D6727D3-9D6E-D5B1-F2B5-F6774DC3D650}"/>
              </a:ext>
            </a:extLst>
          </p:cNvPr>
          <p:cNvSpPr/>
          <p:nvPr/>
        </p:nvSpPr>
        <p:spPr bwMode="ltGray">
          <a:xfrm>
            <a:off x="8313656" y="-1309"/>
            <a:ext cx="3920499" cy="6859309"/>
          </a:xfrm>
          <a:prstGeom prst="rect">
            <a:avLst/>
          </a:prstGeom>
          <a:gradFill flip="none" rotWithShape="1">
            <a:gsLst>
              <a:gs pos="0">
                <a:srgbClr val="480B22"/>
              </a:gs>
              <a:gs pos="100000">
                <a:srgbClr val="7D0D2D">
                  <a:alpha val="90196"/>
                </a:srgbClr>
              </a:gs>
            </a:gsLst>
            <a:lin ang="10800000" scaled="1"/>
            <a:tileRect/>
          </a:gradFill>
          <a:ln w="127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2" name="Title 1">
            <a:extLst>
              <a:ext uri="{FF2B5EF4-FFF2-40B4-BE49-F238E27FC236}">
                <a16:creationId xmlns:a16="http://schemas.microsoft.com/office/drawing/2014/main" id="{5DA30E18-E7A9-A745-8BB7-9D1CB31C5D35}"/>
              </a:ext>
            </a:extLst>
          </p:cNvPr>
          <p:cNvSpPr>
            <a:spLocks noGrp="1"/>
          </p:cNvSpPr>
          <p:nvPr>
            <p:ph type="title"/>
          </p:nvPr>
        </p:nvSpPr>
        <p:spPr/>
        <p:txBody>
          <a:bodyPr/>
          <a:lstStyle/>
          <a:p>
            <a:r>
              <a:rPr lang="en-GB" dirty="0">
                <a:solidFill>
                  <a:srgbClr val="7D0D2D"/>
                </a:solidFill>
              </a:rPr>
              <a:t>Physical Data Model (PostgreSQL)</a:t>
            </a:r>
          </a:p>
        </p:txBody>
      </p:sp>
      <p:sp>
        <p:nvSpPr>
          <p:cNvPr id="3" name="Rounded Rectangle 2">
            <a:extLst>
              <a:ext uri="{FF2B5EF4-FFF2-40B4-BE49-F238E27FC236}">
                <a16:creationId xmlns:a16="http://schemas.microsoft.com/office/drawing/2014/main" id="{8BFA299B-BA83-9124-F549-186B618D0FD2}"/>
              </a:ext>
            </a:extLst>
          </p:cNvPr>
          <p:cNvSpPr/>
          <p:nvPr/>
        </p:nvSpPr>
        <p:spPr>
          <a:xfrm>
            <a:off x="9027823" y="340122"/>
            <a:ext cx="2611211" cy="1719785"/>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7" name="TextBox 6">
            <a:extLst>
              <a:ext uri="{FF2B5EF4-FFF2-40B4-BE49-F238E27FC236}">
                <a16:creationId xmlns:a16="http://schemas.microsoft.com/office/drawing/2014/main" id="{E71DE47C-B41A-58E5-94E6-745E21892DEC}"/>
              </a:ext>
            </a:extLst>
          </p:cNvPr>
          <p:cNvSpPr txBox="1"/>
          <p:nvPr/>
        </p:nvSpPr>
        <p:spPr>
          <a:xfrm>
            <a:off x="9027823" y="340122"/>
            <a:ext cx="2611211" cy="27699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200" dirty="0" err="1">
                <a:solidFill>
                  <a:srgbClr val="2C2C2C"/>
                </a:solidFill>
              </a:rPr>
              <a:t>telemetry_data</a:t>
            </a:r>
            <a:r>
              <a:rPr lang="en-GB" sz="1200" dirty="0">
                <a:solidFill>
                  <a:srgbClr val="2C2C2C"/>
                </a:solidFill>
              </a:rPr>
              <a:t> </a:t>
            </a:r>
          </a:p>
        </p:txBody>
      </p:sp>
      <p:cxnSp>
        <p:nvCxnSpPr>
          <p:cNvPr id="9" name="Straight Connector 8">
            <a:extLst>
              <a:ext uri="{FF2B5EF4-FFF2-40B4-BE49-F238E27FC236}">
                <a16:creationId xmlns:a16="http://schemas.microsoft.com/office/drawing/2014/main" id="{B2240E3D-ADD9-0352-C743-2380BDB69EE7}"/>
              </a:ext>
            </a:extLst>
          </p:cNvPr>
          <p:cNvCxnSpPr>
            <a:cxnSpLocks/>
          </p:cNvCxnSpPr>
          <p:nvPr/>
        </p:nvCxnSpPr>
        <p:spPr>
          <a:xfrm>
            <a:off x="9072146" y="617121"/>
            <a:ext cx="2530888" cy="0"/>
          </a:xfrm>
          <a:prstGeom prst="line">
            <a:avLst/>
          </a:prstGeom>
          <a:ln w="9525" cap="rnd">
            <a:solidFill>
              <a:srgbClr val="B71C1C"/>
            </a:solidFill>
            <a:prstDash val="solid"/>
            <a:roun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C789742-2F21-16D1-10A4-BB7A26CDEC63}"/>
              </a:ext>
            </a:extLst>
          </p:cNvPr>
          <p:cNvSpPr txBox="1"/>
          <p:nvPr/>
        </p:nvSpPr>
        <p:spPr>
          <a:xfrm>
            <a:off x="9026474" y="696531"/>
            <a:ext cx="2611211" cy="120032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200" dirty="0">
                <a:solidFill>
                  <a:srgbClr val="2C2C2C"/>
                </a:solidFill>
              </a:rPr>
              <a:t>id (PK)</a:t>
            </a:r>
          </a:p>
          <a:p>
            <a:r>
              <a:rPr lang="en-GB" sz="1200" dirty="0">
                <a:solidFill>
                  <a:srgbClr val="2C2C2C"/>
                </a:solidFill>
              </a:rPr>
              <a:t>timestamp</a:t>
            </a:r>
          </a:p>
          <a:p>
            <a:r>
              <a:rPr lang="en-GB" sz="1200" dirty="0" err="1">
                <a:solidFill>
                  <a:srgbClr val="2C2C2C"/>
                </a:solidFill>
              </a:rPr>
              <a:t>car_id</a:t>
            </a:r>
            <a:r>
              <a:rPr lang="en-GB" sz="1200" dirty="0">
                <a:solidFill>
                  <a:srgbClr val="2C2C2C"/>
                </a:solidFill>
              </a:rPr>
              <a:t>, team, driver</a:t>
            </a:r>
          </a:p>
          <a:p>
            <a:r>
              <a:rPr lang="en-GB" sz="1200" dirty="0" err="1">
                <a:solidFill>
                  <a:srgbClr val="2C2C2C"/>
                </a:solidFill>
              </a:rPr>
              <a:t>speed_kmh</a:t>
            </a:r>
            <a:r>
              <a:rPr lang="en-GB" sz="1200" dirty="0">
                <a:solidFill>
                  <a:srgbClr val="2C2C2C"/>
                </a:solidFill>
              </a:rPr>
              <a:t>, rpm, </a:t>
            </a:r>
            <a:r>
              <a:rPr lang="en-GB" sz="1200" dirty="0" err="1">
                <a:solidFill>
                  <a:srgbClr val="2C2C2C"/>
                </a:solidFill>
              </a:rPr>
              <a:t>brake_temp_avg</a:t>
            </a:r>
            <a:endParaRPr lang="en-GB" sz="1200" dirty="0">
              <a:solidFill>
                <a:srgbClr val="2C2C2C"/>
              </a:solidFill>
            </a:endParaRPr>
          </a:p>
          <a:p>
            <a:r>
              <a:rPr lang="en-GB" sz="1200" dirty="0" err="1">
                <a:solidFill>
                  <a:srgbClr val="2C2C2C"/>
                </a:solidFill>
              </a:rPr>
              <a:t>tire_wear_percent</a:t>
            </a:r>
            <a:r>
              <a:rPr lang="en-GB" sz="1200" dirty="0">
                <a:solidFill>
                  <a:srgbClr val="2C2C2C"/>
                </a:solidFill>
              </a:rPr>
              <a:t>, </a:t>
            </a:r>
            <a:r>
              <a:rPr lang="en-GB" sz="1200" dirty="0" err="1">
                <a:solidFill>
                  <a:srgbClr val="2C2C2C"/>
                </a:solidFill>
              </a:rPr>
              <a:t>pitstop_score</a:t>
            </a:r>
            <a:endParaRPr lang="en-GB" sz="1200" dirty="0">
              <a:solidFill>
                <a:srgbClr val="2C2C2C"/>
              </a:solidFill>
            </a:endParaRPr>
          </a:p>
          <a:p>
            <a:r>
              <a:rPr lang="en-GB" sz="1200" dirty="0" err="1">
                <a:solidFill>
                  <a:srgbClr val="2C2C2C"/>
                </a:solidFill>
              </a:rPr>
              <a:t>has_anomaly</a:t>
            </a:r>
            <a:r>
              <a:rPr lang="en-GB" sz="1200" dirty="0">
                <a:solidFill>
                  <a:srgbClr val="2C2C2C"/>
                </a:solidFill>
              </a:rPr>
              <a:t>, </a:t>
            </a:r>
            <a:r>
              <a:rPr lang="en-GB" sz="1200" dirty="0" err="1">
                <a:solidFill>
                  <a:srgbClr val="2C2C2C"/>
                </a:solidFill>
              </a:rPr>
              <a:t>anomaly_type</a:t>
            </a:r>
            <a:r>
              <a:rPr lang="en-GB" sz="1200" dirty="0">
                <a:solidFill>
                  <a:srgbClr val="2C2C2C"/>
                </a:solidFill>
              </a:rPr>
              <a:t> </a:t>
            </a:r>
          </a:p>
        </p:txBody>
      </p:sp>
      <p:sp>
        <p:nvSpPr>
          <p:cNvPr id="14" name="Rounded Rectangle 13">
            <a:extLst>
              <a:ext uri="{FF2B5EF4-FFF2-40B4-BE49-F238E27FC236}">
                <a16:creationId xmlns:a16="http://schemas.microsoft.com/office/drawing/2014/main" id="{4F29D010-A255-CD11-149C-A830F23B626C}"/>
              </a:ext>
            </a:extLst>
          </p:cNvPr>
          <p:cNvSpPr/>
          <p:nvPr/>
        </p:nvSpPr>
        <p:spPr>
          <a:xfrm>
            <a:off x="9027823" y="2397538"/>
            <a:ext cx="2611211" cy="1269068"/>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15" name="TextBox 14">
            <a:extLst>
              <a:ext uri="{FF2B5EF4-FFF2-40B4-BE49-F238E27FC236}">
                <a16:creationId xmlns:a16="http://schemas.microsoft.com/office/drawing/2014/main" id="{A5EC126F-2E34-2994-3A03-7B4DA25C2422}"/>
              </a:ext>
            </a:extLst>
          </p:cNvPr>
          <p:cNvSpPr txBox="1"/>
          <p:nvPr/>
        </p:nvSpPr>
        <p:spPr>
          <a:xfrm>
            <a:off x="9027823" y="2397537"/>
            <a:ext cx="2611211" cy="27699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200" dirty="0" err="1">
                <a:solidFill>
                  <a:srgbClr val="2C2C2C"/>
                </a:solidFill>
              </a:rPr>
              <a:t>telemetry_statistics</a:t>
            </a:r>
            <a:r>
              <a:rPr lang="en-GB" sz="1200" dirty="0">
                <a:solidFill>
                  <a:srgbClr val="2C2C2C"/>
                </a:solidFill>
              </a:rPr>
              <a:t> </a:t>
            </a:r>
          </a:p>
        </p:txBody>
      </p:sp>
      <p:cxnSp>
        <p:nvCxnSpPr>
          <p:cNvPr id="16" name="Straight Connector 15">
            <a:extLst>
              <a:ext uri="{FF2B5EF4-FFF2-40B4-BE49-F238E27FC236}">
                <a16:creationId xmlns:a16="http://schemas.microsoft.com/office/drawing/2014/main" id="{A1C078B2-9948-87C5-1D5C-BBBF01B019DC}"/>
              </a:ext>
            </a:extLst>
          </p:cNvPr>
          <p:cNvCxnSpPr>
            <a:cxnSpLocks/>
          </p:cNvCxnSpPr>
          <p:nvPr/>
        </p:nvCxnSpPr>
        <p:spPr>
          <a:xfrm>
            <a:off x="9072146" y="2674536"/>
            <a:ext cx="2530888" cy="0"/>
          </a:xfrm>
          <a:prstGeom prst="line">
            <a:avLst/>
          </a:prstGeom>
          <a:ln w="9525" cap="rnd">
            <a:solidFill>
              <a:srgbClr val="B71C1C"/>
            </a:solidFill>
            <a:prstDash val="solid"/>
            <a:roun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B6CA175-D7FF-01A6-F690-2FCC27F1489F}"/>
              </a:ext>
            </a:extLst>
          </p:cNvPr>
          <p:cNvSpPr txBox="1"/>
          <p:nvPr/>
        </p:nvSpPr>
        <p:spPr>
          <a:xfrm>
            <a:off x="9026474" y="2753946"/>
            <a:ext cx="2611211" cy="83099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200" dirty="0" err="1">
                <a:solidFill>
                  <a:srgbClr val="2C2C2C"/>
                </a:solidFill>
              </a:rPr>
              <a:t>execution_date</a:t>
            </a:r>
            <a:r>
              <a:rPr lang="en-GB" sz="1200" dirty="0">
                <a:solidFill>
                  <a:srgbClr val="2C2C2C"/>
                </a:solidFill>
              </a:rPr>
              <a:t> </a:t>
            </a:r>
          </a:p>
          <a:p>
            <a:r>
              <a:rPr lang="en-GB" sz="1200" dirty="0" err="1">
                <a:solidFill>
                  <a:srgbClr val="2C2C2C"/>
                </a:solidFill>
              </a:rPr>
              <a:t>total_records</a:t>
            </a:r>
            <a:r>
              <a:rPr lang="en-GB" sz="1200" dirty="0">
                <a:solidFill>
                  <a:srgbClr val="2C2C2C"/>
                </a:solidFill>
              </a:rPr>
              <a:t>, </a:t>
            </a:r>
            <a:r>
              <a:rPr lang="en-GB" sz="1200" dirty="0" err="1">
                <a:solidFill>
                  <a:srgbClr val="2C2C2C"/>
                </a:solidFill>
              </a:rPr>
              <a:t>anomaly_count</a:t>
            </a:r>
            <a:r>
              <a:rPr lang="en-GB" sz="1200" dirty="0">
                <a:solidFill>
                  <a:srgbClr val="2C2C2C"/>
                </a:solidFill>
              </a:rPr>
              <a:t> </a:t>
            </a:r>
          </a:p>
          <a:p>
            <a:r>
              <a:rPr lang="en-GB" sz="1200" dirty="0" err="1">
                <a:solidFill>
                  <a:srgbClr val="2C2C2C"/>
                </a:solidFill>
              </a:rPr>
              <a:t>avg_speed</a:t>
            </a:r>
            <a:r>
              <a:rPr lang="en-GB" sz="1200" dirty="0">
                <a:solidFill>
                  <a:srgbClr val="2C2C2C"/>
                </a:solidFill>
              </a:rPr>
              <a:t>, </a:t>
            </a:r>
            <a:r>
              <a:rPr lang="en-GB" sz="1200" dirty="0" err="1">
                <a:solidFill>
                  <a:srgbClr val="2C2C2C"/>
                </a:solidFill>
              </a:rPr>
              <a:t>avg_tire_temp</a:t>
            </a:r>
            <a:r>
              <a:rPr lang="en-GB" sz="1200" dirty="0">
                <a:solidFill>
                  <a:srgbClr val="2C2C2C"/>
                </a:solidFill>
              </a:rPr>
              <a:t>      </a:t>
            </a:r>
          </a:p>
          <a:p>
            <a:r>
              <a:rPr lang="en-GB" sz="1200" dirty="0" err="1">
                <a:solidFill>
                  <a:srgbClr val="2C2C2C"/>
                </a:solidFill>
              </a:rPr>
              <a:t>anomaly_rate</a:t>
            </a:r>
            <a:endParaRPr lang="en-GB" sz="1200" dirty="0">
              <a:solidFill>
                <a:srgbClr val="2C2C2C"/>
              </a:solidFill>
            </a:endParaRPr>
          </a:p>
        </p:txBody>
      </p:sp>
      <p:sp>
        <p:nvSpPr>
          <p:cNvPr id="18" name="Rounded Rectangle 17">
            <a:extLst>
              <a:ext uri="{FF2B5EF4-FFF2-40B4-BE49-F238E27FC236}">
                <a16:creationId xmlns:a16="http://schemas.microsoft.com/office/drawing/2014/main" id="{1738DEB6-17A6-D24A-016A-E6BCF196AD25}"/>
              </a:ext>
            </a:extLst>
          </p:cNvPr>
          <p:cNvSpPr/>
          <p:nvPr/>
        </p:nvSpPr>
        <p:spPr>
          <a:xfrm>
            <a:off x="9027823" y="4022808"/>
            <a:ext cx="2611211" cy="910406"/>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19" name="TextBox 18">
            <a:extLst>
              <a:ext uri="{FF2B5EF4-FFF2-40B4-BE49-F238E27FC236}">
                <a16:creationId xmlns:a16="http://schemas.microsoft.com/office/drawing/2014/main" id="{B96B96BA-65CE-788B-0392-A32299600ADB}"/>
              </a:ext>
            </a:extLst>
          </p:cNvPr>
          <p:cNvSpPr txBox="1"/>
          <p:nvPr/>
        </p:nvSpPr>
        <p:spPr>
          <a:xfrm>
            <a:off x="9027823" y="4022807"/>
            <a:ext cx="2611211" cy="27699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200" dirty="0" err="1">
                <a:solidFill>
                  <a:srgbClr val="2C2C2C"/>
                </a:solidFill>
              </a:rPr>
              <a:t>performance_strategy_insight</a:t>
            </a:r>
            <a:r>
              <a:rPr lang="en-GB" sz="1200" dirty="0">
                <a:solidFill>
                  <a:srgbClr val="2C2C2C"/>
                </a:solidFill>
              </a:rPr>
              <a:t> </a:t>
            </a:r>
          </a:p>
        </p:txBody>
      </p:sp>
      <p:cxnSp>
        <p:nvCxnSpPr>
          <p:cNvPr id="20" name="Straight Connector 19">
            <a:extLst>
              <a:ext uri="{FF2B5EF4-FFF2-40B4-BE49-F238E27FC236}">
                <a16:creationId xmlns:a16="http://schemas.microsoft.com/office/drawing/2014/main" id="{70D2EC49-50DA-671D-01FD-626079FFA6CB}"/>
              </a:ext>
            </a:extLst>
          </p:cNvPr>
          <p:cNvCxnSpPr>
            <a:cxnSpLocks/>
          </p:cNvCxnSpPr>
          <p:nvPr/>
        </p:nvCxnSpPr>
        <p:spPr>
          <a:xfrm>
            <a:off x="9072146" y="4299806"/>
            <a:ext cx="2530888" cy="0"/>
          </a:xfrm>
          <a:prstGeom prst="line">
            <a:avLst/>
          </a:prstGeom>
          <a:ln w="9525" cap="rnd">
            <a:solidFill>
              <a:srgbClr val="B71C1C"/>
            </a:solidFill>
            <a:prstDash val="solid"/>
            <a:roun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10CB229-FD1F-34B7-E821-BF5AFEE47E2D}"/>
              </a:ext>
            </a:extLst>
          </p:cNvPr>
          <p:cNvSpPr txBox="1"/>
          <p:nvPr/>
        </p:nvSpPr>
        <p:spPr>
          <a:xfrm>
            <a:off x="9026474" y="4379216"/>
            <a:ext cx="2611211" cy="46166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200" dirty="0" err="1">
                <a:solidFill>
                  <a:srgbClr val="2C2C2C"/>
                </a:solidFill>
              </a:rPr>
              <a:t>execution_date</a:t>
            </a:r>
            <a:r>
              <a:rPr lang="en-GB" sz="1200" dirty="0">
                <a:solidFill>
                  <a:srgbClr val="2C2C2C"/>
                </a:solidFill>
              </a:rPr>
              <a:t>, </a:t>
            </a:r>
            <a:r>
              <a:rPr lang="en-GB" sz="1200" dirty="0" err="1">
                <a:solidFill>
                  <a:srgbClr val="2C2C2C"/>
                </a:solidFill>
              </a:rPr>
              <a:t>car_id</a:t>
            </a:r>
            <a:r>
              <a:rPr lang="en-GB" sz="1200" dirty="0">
                <a:solidFill>
                  <a:srgbClr val="2C2C2C"/>
                </a:solidFill>
              </a:rPr>
              <a:t>, lap  score, urgency, recommendation</a:t>
            </a:r>
          </a:p>
        </p:txBody>
      </p:sp>
      <p:sp>
        <p:nvSpPr>
          <p:cNvPr id="25" name="Rounded Rectangle 24">
            <a:extLst>
              <a:ext uri="{FF2B5EF4-FFF2-40B4-BE49-F238E27FC236}">
                <a16:creationId xmlns:a16="http://schemas.microsoft.com/office/drawing/2014/main" id="{ED88C71C-5EC3-CF35-BC9F-1A84A2247241}"/>
              </a:ext>
            </a:extLst>
          </p:cNvPr>
          <p:cNvSpPr/>
          <p:nvPr/>
        </p:nvSpPr>
        <p:spPr>
          <a:xfrm>
            <a:off x="9026818" y="5289621"/>
            <a:ext cx="2611211" cy="1069853"/>
          </a:xfrm>
          <a:prstGeom prst="roundRect">
            <a:avLst/>
          </a:prstGeom>
          <a:solidFill>
            <a:schemeClr val="bg1"/>
          </a:solidFill>
          <a:ln w="9525" cap="rnd" cmpd="sng" algn="ctr">
            <a:solidFill>
              <a:srgbClr val="B71C1C"/>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6" name="TextBox 25">
            <a:extLst>
              <a:ext uri="{FF2B5EF4-FFF2-40B4-BE49-F238E27FC236}">
                <a16:creationId xmlns:a16="http://schemas.microsoft.com/office/drawing/2014/main" id="{839D86C2-520C-0A78-2CB3-A6FBEADB4812}"/>
              </a:ext>
            </a:extLst>
          </p:cNvPr>
          <p:cNvSpPr txBox="1"/>
          <p:nvPr/>
        </p:nvSpPr>
        <p:spPr>
          <a:xfrm>
            <a:off x="9026818" y="5289621"/>
            <a:ext cx="2611211" cy="27699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ctr"/>
            <a:r>
              <a:rPr lang="en-GB" sz="1200" dirty="0" err="1">
                <a:solidFill>
                  <a:srgbClr val="2C2C2C"/>
                </a:solidFill>
              </a:rPr>
              <a:t>telemetry_team_summary</a:t>
            </a:r>
            <a:endParaRPr lang="en-GB" sz="1200" dirty="0">
              <a:solidFill>
                <a:srgbClr val="2C2C2C"/>
              </a:solidFill>
            </a:endParaRPr>
          </a:p>
        </p:txBody>
      </p:sp>
      <p:cxnSp>
        <p:nvCxnSpPr>
          <p:cNvPr id="28" name="Straight Connector 27">
            <a:extLst>
              <a:ext uri="{FF2B5EF4-FFF2-40B4-BE49-F238E27FC236}">
                <a16:creationId xmlns:a16="http://schemas.microsoft.com/office/drawing/2014/main" id="{D0FAFD8A-EA32-917D-71FB-1B653C55F955}"/>
              </a:ext>
            </a:extLst>
          </p:cNvPr>
          <p:cNvCxnSpPr>
            <a:cxnSpLocks/>
          </p:cNvCxnSpPr>
          <p:nvPr/>
        </p:nvCxnSpPr>
        <p:spPr>
          <a:xfrm>
            <a:off x="9071141" y="5566620"/>
            <a:ext cx="2530888" cy="0"/>
          </a:xfrm>
          <a:prstGeom prst="line">
            <a:avLst/>
          </a:prstGeom>
          <a:ln w="9525" cap="rnd">
            <a:solidFill>
              <a:srgbClr val="B71C1C"/>
            </a:solidFill>
            <a:prstDash val="solid"/>
            <a:roun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9B07F40-5BA8-3D26-45F5-A095C194DAB9}"/>
              </a:ext>
            </a:extLst>
          </p:cNvPr>
          <p:cNvSpPr txBox="1"/>
          <p:nvPr/>
        </p:nvSpPr>
        <p:spPr>
          <a:xfrm>
            <a:off x="9026474" y="5593751"/>
            <a:ext cx="2611211" cy="6463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GB" sz="1200" dirty="0" err="1">
                <a:solidFill>
                  <a:srgbClr val="2C2C2C"/>
                </a:solidFill>
              </a:rPr>
              <a:t>execution_date</a:t>
            </a:r>
            <a:r>
              <a:rPr lang="en-GB" sz="1200" dirty="0">
                <a:solidFill>
                  <a:srgbClr val="2C2C2C"/>
                </a:solidFill>
              </a:rPr>
              <a:t>, team         </a:t>
            </a:r>
            <a:r>
              <a:rPr lang="en-GB" sz="1200" dirty="0" err="1">
                <a:solidFill>
                  <a:srgbClr val="2C2C2C"/>
                </a:solidFill>
              </a:rPr>
              <a:t>avg_speed</a:t>
            </a:r>
            <a:r>
              <a:rPr lang="en-GB" sz="1200" dirty="0">
                <a:solidFill>
                  <a:srgbClr val="2C2C2C"/>
                </a:solidFill>
              </a:rPr>
              <a:t>, </a:t>
            </a:r>
            <a:r>
              <a:rPr lang="en-GB" sz="1200" dirty="0" err="1">
                <a:solidFill>
                  <a:srgbClr val="2C2C2C"/>
                </a:solidFill>
              </a:rPr>
              <a:t>avg_pitstop_score</a:t>
            </a:r>
            <a:r>
              <a:rPr lang="en-GB" sz="1200" dirty="0">
                <a:solidFill>
                  <a:srgbClr val="2C2C2C"/>
                </a:solidFill>
              </a:rPr>
              <a:t> </a:t>
            </a:r>
            <a:r>
              <a:rPr lang="en-GB" sz="1200" dirty="0" err="1">
                <a:solidFill>
                  <a:srgbClr val="2C2C2C"/>
                </a:solidFill>
              </a:rPr>
              <a:t>anomaly_rate</a:t>
            </a:r>
            <a:r>
              <a:rPr lang="en-GB" sz="1200" dirty="0">
                <a:solidFill>
                  <a:srgbClr val="2C2C2C"/>
                </a:solidFill>
              </a:rPr>
              <a:t> </a:t>
            </a:r>
          </a:p>
        </p:txBody>
      </p:sp>
      <p:sp>
        <p:nvSpPr>
          <p:cNvPr id="30" name="TextBox 29">
            <a:extLst>
              <a:ext uri="{FF2B5EF4-FFF2-40B4-BE49-F238E27FC236}">
                <a16:creationId xmlns:a16="http://schemas.microsoft.com/office/drawing/2014/main" id="{25420BA3-39C9-856E-26BE-9CF97E9BE852}"/>
              </a:ext>
            </a:extLst>
          </p:cNvPr>
          <p:cNvSpPr txBox="1"/>
          <p:nvPr/>
        </p:nvSpPr>
        <p:spPr>
          <a:xfrm>
            <a:off x="12789074" y="4072982"/>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cxnSp>
        <p:nvCxnSpPr>
          <p:cNvPr id="31" name="Straight Arrow Connector 30">
            <a:extLst>
              <a:ext uri="{FF2B5EF4-FFF2-40B4-BE49-F238E27FC236}">
                <a16:creationId xmlns:a16="http://schemas.microsoft.com/office/drawing/2014/main" id="{C3112363-31FE-6ECD-BCAE-C1D961CA2AC5}"/>
              </a:ext>
            </a:extLst>
          </p:cNvPr>
          <p:cNvCxnSpPr>
            <a:cxnSpLocks/>
            <a:stCxn id="3" idx="2"/>
            <a:endCxn id="14" idx="0"/>
          </p:cNvCxnSpPr>
          <p:nvPr/>
        </p:nvCxnSpPr>
        <p:spPr>
          <a:xfrm>
            <a:off x="10333429" y="2059907"/>
            <a:ext cx="0" cy="337631"/>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7E7998C-84D6-E04F-4CFA-555C37930445}"/>
              </a:ext>
            </a:extLst>
          </p:cNvPr>
          <p:cNvCxnSpPr>
            <a:cxnSpLocks/>
            <a:stCxn id="14" idx="2"/>
            <a:endCxn id="19" idx="0"/>
          </p:cNvCxnSpPr>
          <p:nvPr/>
        </p:nvCxnSpPr>
        <p:spPr>
          <a:xfrm>
            <a:off x="10333429" y="3666606"/>
            <a:ext cx="0" cy="356201"/>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CCC3071-CB44-74BD-8CF5-A17226C6BE65}"/>
              </a:ext>
            </a:extLst>
          </p:cNvPr>
          <p:cNvCxnSpPr>
            <a:cxnSpLocks/>
            <a:stCxn id="18" idx="2"/>
            <a:endCxn id="25" idx="0"/>
          </p:cNvCxnSpPr>
          <p:nvPr/>
        </p:nvCxnSpPr>
        <p:spPr>
          <a:xfrm flipH="1">
            <a:off x="10332424" y="4933214"/>
            <a:ext cx="1005" cy="356407"/>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C9E5BB74-52BD-91CD-AE9C-E0495F775B12}"/>
              </a:ext>
            </a:extLst>
          </p:cNvPr>
          <p:cNvSpPr txBox="1"/>
          <p:nvPr/>
        </p:nvSpPr>
        <p:spPr>
          <a:xfrm>
            <a:off x="630945" y="1572513"/>
            <a:ext cx="7286701" cy="3994107"/>
          </a:xfrm>
          <a:prstGeom prst="rect">
            <a:avLst/>
          </a:prstGeom>
          <a:no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25000"/>
              </a:lnSpc>
            </a:pPr>
            <a:r>
              <a:rPr lang="en-GB" sz="1200" b="1" dirty="0">
                <a:solidFill>
                  <a:srgbClr val="2C2C2C"/>
                </a:solidFill>
              </a:rPr>
              <a:t>Description</a:t>
            </a:r>
          </a:p>
          <a:p>
            <a:pPr>
              <a:lnSpc>
                <a:spcPct val="125000"/>
              </a:lnSpc>
            </a:pPr>
            <a:r>
              <a:rPr lang="en-GB" sz="1200" dirty="0">
                <a:solidFill>
                  <a:srgbClr val="2C2C2C"/>
                </a:solidFill>
              </a:rPr>
              <a:t>The PostgreSQL schema is created automatically via Airflow’s initialization script (</a:t>
            </a:r>
            <a:r>
              <a:rPr lang="en-GB" sz="1200" dirty="0" err="1">
                <a:solidFill>
                  <a:srgbClr val="2C2C2C"/>
                </a:solidFill>
              </a:rPr>
              <a:t>init-db.sql</a:t>
            </a:r>
            <a:r>
              <a:rPr lang="en-GB" sz="1200" dirty="0">
                <a:solidFill>
                  <a:srgbClr val="2C2C2C"/>
                </a:solidFill>
              </a:rPr>
              <a:t>) and updated by the DAG </a:t>
            </a:r>
            <a:r>
              <a:rPr lang="en-GB" sz="1200" dirty="0" err="1">
                <a:solidFill>
                  <a:srgbClr val="2C2C2C"/>
                </a:solidFill>
              </a:rPr>
              <a:t>ferrari_grand_prix_dag</a:t>
            </a:r>
            <a:r>
              <a:rPr lang="en-GB" sz="1200" dirty="0">
                <a:solidFill>
                  <a:srgbClr val="2C2C2C"/>
                </a:solidFill>
              </a:rPr>
              <a:t>.</a:t>
            </a:r>
          </a:p>
          <a:p>
            <a:pPr>
              <a:lnSpc>
                <a:spcPct val="125000"/>
              </a:lnSpc>
            </a:pPr>
            <a:r>
              <a:rPr lang="en-GB" sz="1200" dirty="0">
                <a:solidFill>
                  <a:srgbClr val="2C2C2C"/>
                </a:solidFill>
              </a:rPr>
              <a:t>It stores both </a:t>
            </a:r>
            <a:r>
              <a:rPr lang="en-GB" sz="1200" b="1" dirty="0">
                <a:solidFill>
                  <a:srgbClr val="2C2C2C"/>
                </a:solidFill>
              </a:rPr>
              <a:t>real-time telemetry</a:t>
            </a:r>
            <a:r>
              <a:rPr lang="en-GB" sz="1200" dirty="0">
                <a:solidFill>
                  <a:srgbClr val="2C2C2C"/>
                </a:solidFill>
              </a:rPr>
              <a:t> and </a:t>
            </a:r>
            <a:r>
              <a:rPr lang="en-GB" sz="1200" b="1" dirty="0">
                <a:solidFill>
                  <a:srgbClr val="2C2C2C"/>
                </a:solidFill>
              </a:rPr>
              <a:t>batch analytics results</a:t>
            </a:r>
            <a:r>
              <a:rPr lang="en-GB" sz="1200" dirty="0">
                <a:solidFill>
                  <a:srgbClr val="2C2C2C"/>
                </a:solidFill>
              </a:rPr>
              <a:t>, ensuring traceability and historical insights.</a:t>
            </a:r>
          </a:p>
          <a:p>
            <a:pPr>
              <a:lnSpc>
                <a:spcPct val="125000"/>
              </a:lnSpc>
            </a:pPr>
            <a:endParaRPr lang="en-GB" sz="1200" dirty="0">
              <a:solidFill>
                <a:srgbClr val="2C2C2C"/>
              </a:solidFill>
            </a:endParaRPr>
          </a:p>
          <a:p>
            <a:pPr>
              <a:lnSpc>
                <a:spcPct val="125000"/>
              </a:lnSpc>
            </a:pPr>
            <a:r>
              <a:rPr lang="en-GB" sz="1200" b="1" dirty="0">
                <a:solidFill>
                  <a:srgbClr val="2C2C2C"/>
                </a:solidFill>
              </a:rPr>
              <a:t>Key Features</a:t>
            </a:r>
          </a:p>
          <a:p>
            <a:pPr marL="171450" indent="-171450">
              <a:lnSpc>
                <a:spcPct val="125000"/>
              </a:lnSpc>
              <a:buFont typeface="Arial" panose="020B0604020202020204" pitchFamily="34" charset="0"/>
              <a:buChar char="•"/>
            </a:pPr>
            <a:r>
              <a:rPr lang="en-GB" sz="1200" b="1" dirty="0">
                <a:solidFill>
                  <a:srgbClr val="2C2C2C"/>
                </a:solidFill>
              </a:rPr>
              <a:t>Transactional Inserts:</a:t>
            </a:r>
            <a:r>
              <a:rPr lang="en-GB" sz="1200" dirty="0">
                <a:solidFill>
                  <a:srgbClr val="2C2C2C"/>
                </a:solidFill>
              </a:rPr>
              <a:t> each record timestamped (</a:t>
            </a:r>
            <a:r>
              <a:rPr lang="en-GB" sz="1200" dirty="0" err="1">
                <a:solidFill>
                  <a:srgbClr val="2C2C2C"/>
                </a:solidFill>
              </a:rPr>
              <a:t>created_at</a:t>
            </a:r>
            <a:r>
              <a:rPr lang="en-GB" sz="1200" dirty="0">
                <a:solidFill>
                  <a:srgbClr val="2C2C2C"/>
                </a:solidFill>
              </a:rPr>
              <a:t>) for auditability.</a:t>
            </a:r>
          </a:p>
          <a:p>
            <a:pPr marL="171450" indent="-171450">
              <a:lnSpc>
                <a:spcPct val="125000"/>
              </a:lnSpc>
              <a:buFont typeface="Arial" panose="020B0604020202020204" pitchFamily="34" charset="0"/>
              <a:buChar char="•"/>
            </a:pPr>
            <a:r>
              <a:rPr lang="en-GB" sz="1200" b="1" dirty="0">
                <a:solidFill>
                  <a:srgbClr val="2C2C2C"/>
                </a:solidFill>
              </a:rPr>
              <a:t>Aggregations:</a:t>
            </a:r>
            <a:r>
              <a:rPr lang="en-GB" sz="1200" dirty="0">
                <a:solidFill>
                  <a:srgbClr val="2C2C2C"/>
                </a:solidFill>
              </a:rPr>
              <a:t> </a:t>
            </a:r>
            <a:r>
              <a:rPr lang="en-GB" sz="1200" dirty="0" err="1">
                <a:solidFill>
                  <a:srgbClr val="2C2C2C"/>
                </a:solidFill>
              </a:rPr>
              <a:t>telemetry_statistics</a:t>
            </a:r>
            <a:r>
              <a:rPr lang="en-GB" sz="1200" dirty="0">
                <a:solidFill>
                  <a:srgbClr val="2C2C2C"/>
                </a:solidFill>
              </a:rPr>
              <a:t> and </a:t>
            </a:r>
            <a:r>
              <a:rPr lang="en-GB" sz="1200" dirty="0" err="1">
                <a:solidFill>
                  <a:srgbClr val="2C2C2C"/>
                </a:solidFill>
              </a:rPr>
              <a:t>telemetry_team_summary</a:t>
            </a:r>
            <a:r>
              <a:rPr lang="en-GB" sz="1200" dirty="0">
                <a:solidFill>
                  <a:srgbClr val="2C2C2C"/>
                </a:solidFill>
              </a:rPr>
              <a:t> computed after each Grand Prix.</a:t>
            </a:r>
          </a:p>
          <a:p>
            <a:pPr marL="171450" indent="-171450">
              <a:lnSpc>
                <a:spcPct val="125000"/>
              </a:lnSpc>
              <a:buFont typeface="Arial" panose="020B0604020202020204" pitchFamily="34" charset="0"/>
              <a:buChar char="•"/>
            </a:pPr>
            <a:r>
              <a:rPr lang="en-GB" sz="1200" b="1" dirty="0">
                <a:solidFill>
                  <a:srgbClr val="2C2C2C"/>
                </a:solidFill>
              </a:rPr>
              <a:t>Normalised Model:</a:t>
            </a:r>
            <a:r>
              <a:rPr lang="en-GB" sz="1200" dirty="0">
                <a:solidFill>
                  <a:srgbClr val="2C2C2C"/>
                </a:solidFill>
              </a:rPr>
              <a:t> separation of raw telemetry, anomalies, insights, and aggregated statistics.</a:t>
            </a:r>
          </a:p>
          <a:p>
            <a:pPr marL="171450" indent="-171450">
              <a:lnSpc>
                <a:spcPct val="125000"/>
              </a:lnSpc>
              <a:buFont typeface="Arial" panose="020B0604020202020204" pitchFamily="34" charset="0"/>
              <a:buChar char="•"/>
            </a:pPr>
            <a:r>
              <a:rPr lang="en-GB" sz="1200" b="1" dirty="0">
                <a:solidFill>
                  <a:srgbClr val="2C2C2C"/>
                </a:solidFill>
              </a:rPr>
              <a:t>Performance-Oriented:</a:t>
            </a:r>
            <a:r>
              <a:rPr lang="en-GB" sz="1200" dirty="0">
                <a:solidFill>
                  <a:srgbClr val="2C2C2C"/>
                </a:solidFill>
              </a:rPr>
              <a:t> indexed columns (timestamp, </a:t>
            </a:r>
            <a:r>
              <a:rPr lang="en-GB" sz="1200" dirty="0" err="1">
                <a:solidFill>
                  <a:srgbClr val="2C2C2C"/>
                </a:solidFill>
              </a:rPr>
              <a:t>car_id</a:t>
            </a:r>
            <a:r>
              <a:rPr lang="en-GB" sz="1200" dirty="0">
                <a:solidFill>
                  <a:srgbClr val="2C2C2C"/>
                </a:solidFill>
              </a:rPr>
              <a:t>, team) for fast queries and analytics.</a:t>
            </a:r>
          </a:p>
          <a:p>
            <a:pPr>
              <a:lnSpc>
                <a:spcPct val="125000"/>
              </a:lnSpc>
              <a:buFont typeface="Arial" panose="020B0604020202020204" pitchFamily="34" charset="0"/>
              <a:buChar char="•"/>
            </a:pPr>
            <a:endParaRPr lang="en-GB" sz="1200" dirty="0">
              <a:solidFill>
                <a:srgbClr val="2C2C2C"/>
              </a:solidFill>
            </a:endParaRPr>
          </a:p>
          <a:p>
            <a:pPr>
              <a:lnSpc>
                <a:spcPct val="125000"/>
              </a:lnSpc>
            </a:pPr>
            <a:r>
              <a:rPr lang="en-GB" sz="1200" b="1" dirty="0">
                <a:solidFill>
                  <a:srgbClr val="2C2C2C"/>
                </a:solidFill>
              </a:rPr>
              <a:t>Relation to Airflow</a:t>
            </a:r>
          </a:p>
          <a:p>
            <a:pPr>
              <a:lnSpc>
                <a:spcPct val="125000"/>
              </a:lnSpc>
            </a:pPr>
            <a:r>
              <a:rPr lang="en-GB" sz="1200" dirty="0">
                <a:solidFill>
                  <a:srgbClr val="2C2C2C"/>
                </a:solidFill>
              </a:rPr>
              <a:t>Airflow reads and writes across all tables:</a:t>
            </a:r>
          </a:p>
          <a:p>
            <a:pPr marL="171450" indent="-171450">
              <a:lnSpc>
                <a:spcPct val="125000"/>
              </a:lnSpc>
              <a:buFont typeface="Arial" panose="020B0604020202020204" pitchFamily="34" charset="0"/>
              <a:buChar char="•"/>
            </a:pPr>
            <a:r>
              <a:rPr lang="en-GB" sz="1200" dirty="0">
                <a:solidFill>
                  <a:srgbClr val="2C2C2C"/>
                </a:solidFill>
              </a:rPr>
              <a:t>Ingests processed telemetry from the stream processor.</a:t>
            </a:r>
          </a:p>
          <a:p>
            <a:pPr marL="171450" indent="-171450">
              <a:lnSpc>
                <a:spcPct val="125000"/>
              </a:lnSpc>
              <a:buFont typeface="Arial" panose="020B0604020202020204" pitchFamily="34" charset="0"/>
              <a:buChar char="•"/>
            </a:pPr>
            <a:r>
              <a:rPr lang="en-GB" sz="1200" dirty="0">
                <a:solidFill>
                  <a:srgbClr val="2C2C2C"/>
                </a:solidFill>
              </a:rPr>
              <a:t>Aggregates KPIs for dashboards.</a:t>
            </a:r>
          </a:p>
          <a:p>
            <a:pPr marL="171450" indent="-171450">
              <a:lnSpc>
                <a:spcPct val="125000"/>
              </a:lnSpc>
              <a:buFont typeface="Arial" panose="020B0604020202020204" pitchFamily="34" charset="0"/>
              <a:buChar char="•"/>
            </a:pPr>
            <a:r>
              <a:rPr lang="en-GB" sz="1200" dirty="0">
                <a:solidFill>
                  <a:srgbClr val="2C2C2C"/>
                </a:solidFill>
              </a:rPr>
              <a:t>Inserts recommendations into the insights tables.</a:t>
            </a:r>
          </a:p>
        </p:txBody>
      </p:sp>
    </p:spTree>
    <p:extLst>
      <p:ext uri="{BB962C8B-B14F-4D97-AF65-F5344CB8AC3E}">
        <p14:creationId xmlns:p14="http://schemas.microsoft.com/office/powerpoint/2010/main" val="74185117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30E18-E7A9-A745-8BB7-9D1CB31C5D35}"/>
              </a:ext>
            </a:extLst>
          </p:cNvPr>
          <p:cNvSpPr>
            <a:spLocks noGrp="1"/>
          </p:cNvSpPr>
          <p:nvPr>
            <p:ph type="title"/>
          </p:nvPr>
        </p:nvSpPr>
        <p:spPr>
          <a:xfrm>
            <a:off x="3917945" y="617329"/>
            <a:ext cx="7542482" cy="514813"/>
          </a:xfrm>
        </p:spPr>
        <p:txBody>
          <a:bodyPr/>
          <a:lstStyle/>
          <a:p>
            <a:r>
              <a:rPr lang="en-GB" dirty="0">
                <a:solidFill>
                  <a:srgbClr val="7D0D2D"/>
                </a:solidFill>
              </a:rPr>
              <a:t>Observability Metrics Model</a:t>
            </a:r>
          </a:p>
        </p:txBody>
      </p:sp>
      <p:sp>
        <p:nvSpPr>
          <p:cNvPr id="5" name="Rectangle 4">
            <a:extLst>
              <a:ext uri="{FF2B5EF4-FFF2-40B4-BE49-F238E27FC236}">
                <a16:creationId xmlns:a16="http://schemas.microsoft.com/office/drawing/2014/main" id="{4D8F79D3-2D6C-37CF-7F57-8296F8E5D6C7}"/>
              </a:ext>
            </a:extLst>
          </p:cNvPr>
          <p:cNvSpPr/>
          <p:nvPr/>
        </p:nvSpPr>
        <p:spPr>
          <a:xfrm>
            <a:off x="11928764" y="3425260"/>
            <a:ext cx="263236" cy="3229972"/>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7" name="TextBox 26">
            <a:extLst>
              <a:ext uri="{FF2B5EF4-FFF2-40B4-BE49-F238E27FC236}">
                <a16:creationId xmlns:a16="http://schemas.microsoft.com/office/drawing/2014/main" id="{EE7A268A-26AA-902A-B09C-F61FCD7FE8A6}"/>
              </a:ext>
            </a:extLst>
          </p:cNvPr>
          <p:cNvSpPr txBox="1"/>
          <p:nvPr/>
        </p:nvSpPr>
        <p:spPr>
          <a:xfrm>
            <a:off x="-356461" y="1022888"/>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6" name="TextBox 5">
            <a:extLst>
              <a:ext uri="{FF2B5EF4-FFF2-40B4-BE49-F238E27FC236}">
                <a16:creationId xmlns:a16="http://schemas.microsoft.com/office/drawing/2014/main" id="{BAF5875A-6BEC-BA7D-A736-104677AE9CAC}"/>
              </a:ext>
            </a:extLst>
          </p:cNvPr>
          <p:cNvSpPr txBox="1"/>
          <p:nvPr/>
        </p:nvSpPr>
        <p:spPr>
          <a:xfrm>
            <a:off x="5473087" y="4062283"/>
            <a:ext cx="991492" cy="396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2C2C2C"/>
              </a:solidFill>
            </a:endParaRPr>
          </a:p>
        </p:txBody>
      </p:sp>
      <p:sp>
        <p:nvSpPr>
          <p:cNvPr id="12" name="Rounded Rectangle 11">
            <a:extLst>
              <a:ext uri="{FF2B5EF4-FFF2-40B4-BE49-F238E27FC236}">
                <a16:creationId xmlns:a16="http://schemas.microsoft.com/office/drawing/2014/main" id="{BD805412-6EE9-9069-EECB-BA705BC39655}"/>
              </a:ext>
            </a:extLst>
          </p:cNvPr>
          <p:cNvSpPr/>
          <p:nvPr/>
        </p:nvSpPr>
        <p:spPr>
          <a:xfrm>
            <a:off x="829067" y="386568"/>
            <a:ext cx="1716261" cy="1031916"/>
          </a:xfrm>
          <a:prstGeom prst="roundRect">
            <a:avLst/>
          </a:prstGeom>
          <a:solidFill>
            <a:schemeClr val="bg1"/>
          </a:solidFill>
          <a:ln w="12700"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14" name="TextBox 13">
            <a:extLst>
              <a:ext uri="{FF2B5EF4-FFF2-40B4-BE49-F238E27FC236}">
                <a16:creationId xmlns:a16="http://schemas.microsoft.com/office/drawing/2014/main" id="{F73FCEEC-D167-0FA5-6FDA-D616AD10B372}"/>
              </a:ext>
            </a:extLst>
          </p:cNvPr>
          <p:cNvSpPr txBox="1"/>
          <p:nvPr/>
        </p:nvSpPr>
        <p:spPr>
          <a:xfrm>
            <a:off x="1395665" y="506555"/>
            <a:ext cx="1062646" cy="3096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F1 car sensors</a:t>
            </a:r>
          </a:p>
        </p:txBody>
      </p:sp>
      <p:sp>
        <p:nvSpPr>
          <p:cNvPr id="15" name="TextBox 14">
            <a:extLst>
              <a:ext uri="{FF2B5EF4-FFF2-40B4-BE49-F238E27FC236}">
                <a16:creationId xmlns:a16="http://schemas.microsoft.com/office/drawing/2014/main" id="{80AF8459-1991-5D7B-C480-B85162E8E785}"/>
              </a:ext>
            </a:extLst>
          </p:cNvPr>
          <p:cNvSpPr txBox="1"/>
          <p:nvPr/>
        </p:nvSpPr>
        <p:spPr>
          <a:xfrm>
            <a:off x="855250" y="892118"/>
            <a:ext cx="1716261" cy="4380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900" dirty="0">
                <a:solidFill>
                  <a:srgbClr val="2C2C2C"/>
                </a:solidFill>
              </a:rPr>
              <a:t>Generates metrics (</a:t>
            </a:r>
            <a:r>
              <a:rPr lang="en-GB" sz="900" dirty="0" err="1">
                <a:solidFill>
                  <a:srgbClr val="2C2C2C"/>
                </a:solidFill>
              </a:rPr>
              <a:t>engine_temp</a:t>
            </a:r>
            <a:r>
              <a:rPr lang="en-GB" sz="900" dirty="0">
                <a:solidFill>
                  <a:srgbClr val="2C2C2C"/>
                </a:solidFill>
              </a:rPr>
              <a:t>, rpm)</a:t>
            </a:r>
          </a:p>
        </p:txBody>
      </p:sp>
      <p:sp>
        <p:nvSpPr>
          <p:cNvPr id="16" name="Rounded Rectangle 15">
            <a:extLst>
              <a:ext uri="{FF2B5EF4-FFF2-40B4-BE49-F238E27FC236}">
                <a16:creationId xmlns:a16="http://schemas.microsoft.com/office/drawing/2014/main" id="{8B7B7F19-970D-68AB-997E-BC340073BF30}"/>
              </a:ext>
            </a:extLst>
          </p:cNvPr>
          <p:cNvSpPr/>
          <p:nvPr/>
        </p:nvSpPr>
        <p:spPr>
          <a:xfrm>
            <a:off x="829067" y="1884136"/>
            <a:ext cx="1716261" cy="1157989"/>
          </a:xfrm>
          <a:prstGeom prst="roundRect">
            <a:avLst/>
          </a:prstGeom>
          <a:solidFill>
            <a:schemeClr val="bg1"/>
          </a:solidFill>
          <a:ln w="12700"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pic>
        <p:nvPicPr>
          <p:cNvPr id="17" name="Picture 16">
            <a:extLst>
              <a:ext uri="{FF2B5EF4-FFF2-40B4-BE49-F238E27FC236}">
                <a16:creationId xmlns:a16="http://schemas.microsoft.com/office/drawing/2014/main" id="{8AAB4060-B02D-BB79-72B3-06D40DC76EB8}"/>
              </a:ext>
            </a:extLst>
          </p:cNvPr>
          <p:cNvPicPr>
            <a:picLocks noChangeAspect="1"/>
          </p:cNvPicPr>
          <p:nvPr/>
        </p:nvPicPr>
        <p:blipFill>
          <a:blip r:embed="rId2"/>
          <a:stretch>
            <a:fillRect/>
          </a:stretch>
        </p:blipFill>
        <p:spPr>
          <a:xfrm>
            <a:off x="968479" y="2026249"/>
            <a:ext cx="309600" cy="309600"/>
          </a:xfrm>
          <a:prstGeom prst="rect">
            <a:avLst/>
          </a:prstGeom>
        </p:spPr>
      </p:pic>
      <p:sp>
        <p:nvSpPr>
          <p:cNvPr id="18" name="TextBox 17">
            <a:extLst>
              <a:ext uri="{FF2B5EF4-FFF2-40B4-BE49-F238E27FC236}">
                <a16:creationId xmlns:a16="http://schemas.microsoft.com/office/drawing/2014/main" id="{296B29A1-729F-5820-0BD9-E16A6BCFD53C}"/>
              </a:ext>
            </a:extLst>
          </p:cNvPr>
          <p:cNvSpPr txBox="1"/>
          <p:nvPr/>
        </p:nvSpPr>
        <p:spPr>
          <a:xfrm>
            <a:off x="1378287" y="2026674"/>
            <a:ext cx="1097402" cy="3096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Stream Processor</a:t>
            </a:r>
          </a:p>
        </p:txBody>
      </p:sp>
      <p:sp>
        <p:nvSpPr>
          <p:cNvPr id="19" name="TextBox 18">
            <a:extLst>
              <a:ext uri="{FF2B5EF4-FFF2-40B4-BE49-F238E27FC236}">
                <a16:creationId xmlns:a16="http://schemas.microsoft.com/office/drawing/2014/main" id="{D92E12CF-85C7-F443-1FEB-68F421394FDA}"/>
              </a:ext>
            </a:extLst>
          </p:cNvPr>
          <p:cNvSpPr txBox="1"/>
          <p:nvPr/>
        </p:nvSpPr>
        <p:spPr>
          <a:xfrm>
            <a:off x="844046" y="2463130"/>
            <a:ext cx="1716261" cy="4380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900" dirty="0">
                <a:solidFill>
                  <a:srgbClr val="2C2C2C"/>
                </a:solidFill>
              </a:rPr>
              <a:t>Exposes /metrics </a:t>
            </a:r>
          </a:p>
          <a:p>
            <a:pPr algn="ctr"/>
            <a:r>
              <a:rPr lang="en-GB" sz="900" dirty="0">
                <a:solidFill>
                  <a:srgbClr val="2C2C2C"/>
                </a:solidFill>
              </a:rPr>
              <a:t>Counts </a:t>
            </a:r>
            <a:r>
              <a:rPr lang="en-GB" sz="900" dirty="0" err="1">
                <a:solidFill>
                  <a:srgbClr val="2C2C2C"/>
                </a:solidFill>
              </a:rPr>
              <a:t>msgs</a:t>
            </a:r>
            <a:r>
              <a:rPr lang="en-GB" sz="900" dirty="0">
                <a:solidFill>
                  <a:srgbClr val="2C2C2C"/>
                </a:solidFill>
              </a:rPr>
              <a:t>, latency histograms</a:t>
            </a:r>
          </a:p>
        </p:txBody>
      </p:sp>
      <p:pic>
        <p:nvPicPr>
          <p:cNvPr id="20" name="Picture 19">
            <a:extLst>
              <a:ext uri="{FF2B5EF4-FFF2-40B4-BE49-F238E27FC236}">
                <a16:creationId xmlns:a16="http://schemas.microsoft.com/office/drawing/2014/main" id="{A0047DB4-9FAA-9909-07E7-241E9F44B5BD}"/>
              </a:ext>
            </a:extLst>
          </p:cNvPr>
          <p:cNvPicPr>
            <a:picLocks noChangeAspect="1"/>
          </p:cNvPicPr>
          <p:nvPr/>
        </p:nvPicPr>
        <p:blipFill rotWithShape="1">
          <a:blip r:embed="rId3"/>
          <a:srcRect b="34128"/>
          <a:stretch/>
        </p:blipFill>
        <p:spPr>
          <a:xfrm>
            <a:off x="968479" y="512056"/>
            <a:ext cx="470005" cy="309600"/>
          </a:xfrm>
          <a:prstGeom prst="rect">
            <a:avLst/>
          </a:prstGeom>
          <a:noFill/>
        </p:spPr>
      </p:pic>
      <p:sp>
        <p:nvSpPr>
          <p:cNvPr id="21" name="TextBox 20">
            <a:extLst>
              <a:ext uri="{FF2B5EF4-FFF2-40B4-BE49-F238E27FC236}">
                <a16:creationId xmlns:a16="http://schemas.microsoft.com/office/drawing/2014/main" id="{B6B2ED57-548D-F3CA-868C-759FA637BA84}"/>
              </a:ext>
            </a:extLst>
          </p:cNvPr>
          <p:cNvSpPr txBox="1"/>
          <p:nvPr/>
        </p:nvSpPr>
        <p:spPr>
          <a:xfrm>
            <a:off x="3066585" y="3580260"/>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22" name="Rounded Rectangle 21">
            <a:extLst>
              <a:ext uri="{FF2B5EF4-FFF2-40B4-BE49-F238E27FC236}">
                <a16:creationId xmlns:a16="http://schemas.microsoft.com/office/drawing/2014/main" id="{9912E762-483C-329D-6C96-19D6ADDA8E62}"/>
              </a:ext>
            </a:extLst>
          </p:cNvPr>
          <p:cNvSpPr/>
          <p:nvPr/>
        </p:nvSpPr>
        <p:spPr>
          <a:xfrm>
            <a:off x="828675" y="3537819"/>
            <a:ext cx="1716261" cy="1031916"/>
          </a:xfrm>
          <a:prstGeom prst="roundRect">
            <a:avLst/>
          </a:prstGeom>
          <a:solidFill>
            <a:schemeClr val="bg1"/>
          </a:solidFill>
          <a:ln w="12700"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24" name="TextBox 23">
            <a:extLst>
              <a:ext uri="{FF2B5EF4-FFF2-40B4-BE49-F238E27FC236}">
                <a16:creationId xmlns:a16="http://schemas.microsoft.com/office/drawing/2014/main" id="{191DF79F-5582-A7F5-F5A3-0E4784B09F81}"/>
              </a:ext>
            </a:extLst>
          </p:cNvPr>
          <p:cNvSpPr txBox="1"/>
          <p:nvPr/>
        </p:nvSpPr>
        <p:spPr>
          <a:xfrm>
            <a:off x="1377895" y="3680356"/>
            <a:ext cx="1097402" cy="3096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Prometheus</a:t>
            </a:r>
          </a:p>
        </p:txBody>
      </p:sp>
      <p:sp>
        <p:nvSpPr>
          <p:cNvPr id="25" name="TextBox 24">
            <a:extLst>
              <a:ext uri="{FF2B5EF4-FFF2-40B4-BE49-F238E27FC236}">
                <a16:creationId xmlns:a16="http://schemas.microsoft.com/office/drawing/2014/main" id="{4E816C21-02DA-4240-1D2C-C4BBE9AE2722}"/>
              </a:ext>
            </a:extLst>
          </p:cNvPr>
          <p:cNvSpPr txBox="1"/>
          <p:nvPr/>
        </p:nvSpPr>
        <p:spPr>
          <a:xfrm>
            <a:off x="843654" y="4023015"/>
            <a:ext cx="1716261" cy="4380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900" dirty="0">
                <a:solidFill>
                  <a:srgbClr val="2C2C2C"/>
                </a:solidFill>
              </a:rPr>
              <a:t>Scrapes metrics </a:t>
            </a:r>
          </a:p>
          <a:p>
            <a:pPr algn="ctr"/>
            <a:r>
              <a:rPr lang="en-GB" sz="900" dirty="0">
                <a:solidFill>
                  <a:srgbClr val="2C2C2C"/>
                </a:solidFill>
              </a:rPr>
              <a:t>Stores in TSDB</a:t>
            </a:r>
          </a:p>
          <a:p>
            <a:pPr algn="ctr"/>
            <a:r>
              <a:rPr lang="en-GB" sz="900" dirty="0">
                <a:solidFill>
                  <a:srgbClr val="2C2C2C"/>
                </a:solidFill>
              </a:rPr>
              <a:t>Evaluates alerts</a:t>
            </a:r>
          </a:p>
        </p:txBody>
      </p:sp>
      <p:sp>
        <p:nvSpPr>
          <p:cNvPr id="26" name="TextBox 25">
            <a:extLst>
              <a:ext uri="{FF2B5EF4-FFF2-40B4-BE49-F238E27FC236}">
                <a16:creationId xmlns:a16="http://schemas.microsoft.com/office/drawing/2014/main" id="{A8192B6E-5BA3-FFE0-AAE6-304082389FA9}"/>
              </a:ext>
            </a:extLst>
          </p:cNvPr>
          <p:cNvSpPr txBox="1"/>
          <p:nvPr/>
        </p:nvSpPr>
        <p:spPr>
          <a:xfrm>
            <a:off x="3086324" y="5213461"/>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pic>
        <p:nvPicPr>
          <p:cNvPr id="28" name="Picture 27">
            <a:extLst>
              <a:ext uri="{FF2B5EF4-FFF2-40B4-BE49-F238E27FC236}">
                <a16:creationId xmlns:a16="http://schemas.microsoft.com/office/drawing/2014/main" id="{D081B433-12FD-D519-D3EF-704863C6CA83}"/>
              </a:ext>
            </a:extLst>
          </p:cNvPr>
          <p:cNvPicPr>
            <a:picLocks noChangeAspect="1"/>
          </p:cNvPicPr>
          <p:nvPr/>
        </p:nvPicPr>
        <p:blipFill>
          <a:blip r:embed="rId4">
            <a:extLst>
              <a:ext uri="{BEBA8EAE-BF5A-486C-A8C5-ECC9F3942E4B}">
                <a14:imgProps xmlns:a14="http://schemas.microsoft.com/office/drawing/2010/main">
                  <a14:imgLayer r:embed="rId5">
                    <a14:imgEffect>
                      <a14:artisticMarker/>
                    </a14:imgEffect>
                    <a14:imgEffect>
                      <a14:sharpenSoften amount="-25000"/>
                    </a14:imgEffect>
                    <a14:imgEffect>
                      <a14:colorTemperature colorTemp="5900"/>
                    </a14:imgEffect>
                    <a14:imgEffect>
                      <a14:saturation sat="300000"/>
                    </a14:imgEffect>
                    <a14:imgEffect>
                      <a14:brightnessContrast bright="-20000"/>
                    </a14:imgEffect>
                  </a14:imgLayer>
                </a14:imgProps>
              </a:ext>
            </a:extLst>
          </a:blip>
          <a:stretch>
            <a:fillRect/>
          </a:stretch>
        </p:blipFill>
        <p:spPr>
          <a:xfrm>
            <a:off x="973802" y="3687046"/>
            <a:ext cx="309600" cy="309600"/>
          </a:xfrm>
          <a:prstGeom prst="rect">
            <a:avLst/>
          </a:prstGeom>
          <a:noFill/>
        </p:spPr>
      </p:pic>
      <p:sp>
        <p:nvSpPr>
          <p:cNvPr id="29" name="TextBox 28">
            <a:extLst>
              <a:ext uri="{FF2B5EF4-FFF2-40B4-BE49-F238E27FC236}">
                <a16:creationId xmlns:a16="http://schemas.microsoft.com/office/drawing/2014/main" id="{DE25725F-88F1-EC6C-9957-2853B1854F3D}"/>
              </a:ext>
            </a:extLst>
          </p:cNvPr>
          <p:cNvSpPr txBox="1"/>
          <p:nvPr/>
        </p:nvSpPr>
        <p:spPr>
          <a:xfrm>
            <a:off x="3075120" y="5156575"/>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GB" dirty="0" err="1">
              <a:solidFill>
                <a:srgbClr val="575757"/>
              </a:solidFill>
            </a:endParaRPr>
          </a:p>
        </p:txBody>
      </p:sp>
      <p:sp>
        <p:nvSpPr>
          <p:cNvPr id="30" name="Rounded Rectangle 29">
            <a:extLst>
              <a:ext uri="{FF2B5EF4-FFF2-40B4-BE49-F238E27FC236}">
                <a16:creationId xmlns:a16="http://schemas.microsoft.com/office/drawing/2014/main" id="{9B5B3493-0D42-D623-75CD-4ED3518F418E}"/>
              </a:ext>
            </a:extLst>
          </p:cNvPr>
          <p:cNvSpPr/>
          <p:nvPr/>
        </p:nvSpPr>
        <p:spPr>
          <a:xfrm>
            <a:off x="828638" y="5082683"/>
            <a:ext cx="1716261" cy="1078406"/>
          </a:xfrm>
          <a:prstGeom prst="roundRect">
            <a:avLst/>
          </a:prstGeom>
          <a:solidFill>
            <a:schemeClr val="bg1"/>
          </a:solidFill>
          <a:ln w="12700" cap="rnd" cmpd="sng" algn="ctr">
            <a:solidFill>
              <a:srgbClr val="670F3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200" dirty="0">
              <a:solidFill>
                <a:srgbClr val="FFFFFF"/>
              </a:solidFill>
            </a:endParaRPr>
          </a:p>
        </p:txBody>
      </p:sp>
      <p:sp>
        <p:nvSpPr>
          <p:cNvPr id="31" name="TextBox 30">
            <a:extLst>
              <a:ext uri="{FF2B5EF4-FFF2-40B4-BE49-F238E27FC236}">
                <a16:creationId xmlns:a16="http://schemas.microsoft.com/office/drawing/2014/main" id="{59A6D673-A399-FBEF-04C5-DBEFA5BC63EB}"/>
              </a:ext>
            </a:extLst>
          </p:cNvPr>
          <p:cNvSpPr txBox="1"/>
          <p:nvPr/>
        </p:nvSpPr>
        <p:spPr>
          <a:xfrm>
            <a:off x="1377858" y="5225220"/>
            <a:ext cx="1097402" cy="3096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200" dirty="0">
                <a:solidFill>
                  <a:srgbClr val="2C2C2C"/>
                </a:solidFill>
              </a:rPr>
              <a:t>Grafana</a:t>
            </a:r>
          </a:p>
        </p:txBody>
      </p:sp>
      <p:sp>
        <p:nvSpPr>
          <p:cNvPr id="32" name="TextBox 31">
            <a:extLst>
              <a:ext uri="{FF2B5EF4-FFF2-40B4-BE49-F238E27FC236}">
                <a16:creationId xmlns:a16="http://schemas.microsoft.com/office/drawing/2014/main" id="{8E9128FA-6CA4-9AE2-1DB5-F61D2456549A}"/>
              </a:ext>
            </a:extLst>
          </p:cNvPr>
          <p:cNvSpPr txBox="1"/>
          <p:nvPr/>
        </p:nvSpPr>
        <p:spPr>
          <a:xfrm>
            <a:off x="843618" y="5607055"/>
            <a:ext cx="1660120" cy="4380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900" dirty="0">
                <a:solidFill>
                  <a:srgbClr val="2C2C2C"/>
                </a:solidFill>
              </a:rPr>
              <a:t> Visualises real-time metrics</a:t>
            </a:r>
          </a:p>
          <a:p>
            <a:pPr algn="ctr"/>
            <a:r>
              <a:rPr lang="en-GB" sz="900" dirty="0">
                <a:solidFill>
                  <a:srgbClr val="2C2C2C"/>
                </a:solidFill>
              </a:rPr>
              <a:t>Dashboards for system health</a:t>
            </a:r>
          </a:p>
        </p:txBody>
      </p:sp>
      <p:pic>
        <p:nvPicPr>
          <p:cNvPr id="34" name="Picture 33">
            <a:extLst>
              <a:ext uri="{FF2B5EF4-FFF2-40B4-BE49-F238E27FC236}">
                <a16:creationId xmlns:a16="http://schemas.microsoft.com/office/drawing/2014/main" id="{C22610DB-0D7C-5CBF-2C5C-0AA9686DA9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8479" y="5217379"/>
            <a:ext cx="309600" cy="309600"/>
          </a:xfrm>
          <a:prstGeom prst="rect">
            <a:avLst/>
          </a:prstGeom>
          <a:noFill/>
        </p:spPr>
      </p:pic>
      <p:cxnSp>
        <p:nvCxnSpPr>
          <p:cNvPr id="35" name="Straight Arrow Connector 34">
            <a:extLst>
              <a:ext uri="{FF2B5EF4-FFF2-40B4-BE49-F238E27FC236}">
                <a16:creationId xmlns:a16="http://schemas.microsoft.com/office/drawing/2014/main" id="{BF797A90-18B6-C046-8AD9-2F87C6C6D17D}"/>
              </a:ext>
            </a:extLst>
          </p:cNvPr>
          <p:cNvCxnSpPr>
            <a:cxnSpLocks/>
          </p:cNvCxnSpPr>
          <p:nvPr/>
        </p:nvCxnSpPr>
        <p:spPr>
          <a:xfrm>
            <a:off x="10333429" y="2059907"/>
            <a:ext cx="0" cy="337631"/>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EF5AC24-8CD0-AB67-A9B9-CA085E075186}"/>
              </a:ext>
            </a:extLst>
          </p:cNvPr>
          <p:cNvCxnSpPr>
            <a:cxnSpLocks/>
            <a:stCxn id="12" idx="2"/>
            <a:endCxn id="16" idx="0"/>
          </p:cNvCxnSpPr>
          <p:nvPr/>
        </p:nvCxnSpPr>
        <p:spPr>
          <a:xfrm>
            <a:off x="1687198" y="1418484"/>
            <a:ext cx="0" cy="465652"/>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B25CFFF5-8C08-2CE5-B773-A3D7659B4B42}"/>
              </a:ext>
            </a:extLst>
          </p:cNvPr>
          <p:cNvCxnSpPr>
            <a:cxnSpLocks/>
            <a:endCxn id="22" idx="0"/>
          </p:cNvCxnSpPr>
          <p:nvPr/>
        </p:nvCxnSpPr>
        <p:spPr>
          <a:xfrm flipH="1">
            <a:off x="1686806" y="2901159"/>
            <a:ext cx="392" cy="636660"/>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3F25D5F-B915-EB67-A1D8-6FE8194F9D93}"/>
              </a:ext>
            </a:extLst>
          </p:cNvPr>
          <p:cNvCxnSpPr>
            <a:cxnSpLocks/>
            <a:stCxn id="22" idx="2"/>
            <a:endCxn id="30" idx="0"/>
          </p:cNvCxnSpPr>
          <p:nvPr/>
        </p:nvCxnSpPr>
        <p:spPr>
          <a:xfrm flipH="1">
            <a:off x="1686769" y="4569735"/>
            <a:ext cx="37" cy="512948"/>
          </a:xfrm>
          <a:prstGeom prst="straightConnector1">
            <a:avLst/>
          </a:prstGeom>
          <a:ln w="9525" cap="rnd">
            <a:solidFill>
              <a:srgbClr val="F2F2F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CDD1D307-C486-924D-3B5F-2E3399157B04}"/>
              </a:ext>
            </a:extLst>
          </p:cNvPr>
          <p:cNvSpPr txBox="1"/>
          <p:nvPr/>
        </p:nvSpPr>
        <p:spPr>
          <a:xfrm>
            <a:off x="3925621" y="1251569"/>
            <a:ext cx="7637728" cy="10279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30000"/>
              </a:lnSpc>
            </a:pPr>
            <a:r>
              <a:rPr lang="en-GB" sz="1200" dirty="0">
                <a:solidFill>
                  <a:srgbClr val="2C2C2C"/>
                </a:solidFill>
              </a:rPr>
              <a:t>The Observability layer ensures continuous monitoring of system performance, latency, and resource usage across all services.</a:t>
            </a:r>
            <a:br>
              <a:rPr lang="en-GB" sz="1200" dirty="0">
                <a:solidFill>
                  <a:srgbClr val="2C2C2C"/>
                </a:solidFill>
              </a:rPr>
            </a:br>
            <a:r>
              <a:rPr lang="en-GB" sz="1200" dirty="0">
                <a:solidFill>
                  <a:srgbClr val="2C2C2C"/>
                </a:solidFill>
              </a:rPr>
              <a:t>Metrics are exposed by each container through a /metrics HTTP endpoint and scraped by Prometheus for analysis and visualisation in Grafana.</a:t>
            </a:r>
          </a:p>
        </p:txBody>
      </p:sp>
      <p:graphicFrame>
        <p:nvGraphicFramePr>
          <p:cNvPr id="51" name="Table 50">
            <a:extLst>
              <a:ext uri="{FF2B5EF4-FFF2-40B4-BE49-F238E27FC236}">
                <a16:creationId xmlns:a16="http://schemas.microsoft.com/office/drawing/2014/main" id="{EAF16C52-027F-0A0D-309A-AF1F4140E296}"/>
              </a:ext>
            </a:extLst>
          </p:cNvPr>
          <p:cNvGraphicFramePr>
            <a:graphicFrameLocks noGrp="1"/>
          </p:cNvGraphicFramePr>
          <p:nvPr>
            <p:extLst>
              <p:ext uri="{D42A27DB-BD31-4B8C-83A1-F6EECF244321}">
                <p14:modId xmlns:p14="http://schemas.microsoft.com/office/powerpoint/2010/main" val="306560916"/>
              </p:ext>
            </p:extLst>
          </p:nvPr>
        </p:nvGraphicFramePr>
        <p:xfrm>
          <a:off x="5717044" y="2349244"/>
          <a:ext cx="4727204" cy="2028011"/>
        </p:xfrm>
        <a:graphic>
          <a:graphicData uri="http://schemas.openxmlformats.org/drawingml/2006/table">
            <a:tbl>
              <a:tblPr/>
              <a:tblGrid>
                <a:gridCol w="1663057">
                  <a:extLst>
                    <a:ext uri="{9D8B030D-6E8A-4147-A177-3AD203B41FA5}">
                      <a16:colId xmlns:a16="http://schemas.microsoft.com/office/drawing/2014/main" val="277045123"/>
                    </a:ext>
                  </a:extLst>
                </a:gridCol>
                <a:gridCol w="3064147">
                  <a:extLst>
                    <a:ext uri="{9D8B030D-6E8A-4147-A177-3AD203B41FA5}">
                      <a16:colId xmlns:a16="http://schemas.microsoft.com/office/drawing/2014/main" val="1984482614"/>
                    </a:ext>
                  </a:extLst>
                </a:gridCol>
              </a:tblGrid>
              <a:tr h="203772">
                <a:tc>
                  <a:txBody>
                    <a:bodyPr/>
                    <a:lstStyle/>
                    <a:p>
                      <a:pPr algn="r"/>
                      <a:r>
                        <a:rPr lang="en-GB" sz="1200" b="1">
                          <a:solidFill>
                            <a:srgbClr val="2C2C2C"/>
                          </a:solidFill>
                        </a:rPr>
                        <a:t>Service</a:t>
                      </a: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GB" sz="1200" b="1" dirty="0">
                          <a:solidFill>
                            <a:srgbClr val="2C2C2C"/>
                          </a:solidFill>
                        </a:rPr>
                        <a:t>Purpose</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1241200"/>
                  </a:ext>
                </a:extLst>
              </a:tr>
              <a:tr h="510637">
                <a:tc>
                  <a:txBody>
                    <a:bodyPr/>
                    <a:lstStyle/>
                    <a:p>
                      <a:pPr algn="r"/>
                      <a:r>
                        <a:rPr lang="en-GB" sz="1200" b="0" dirty="0">
                          <a:solidFill>
                            <a:srgbClr val="2C2C2C"/>
                          </a:solidFill>
                        </a:rPr>
                        <a:t>F1 Car Simulator</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dirty="0">
                          <a:solidFill>
                            <a:srgbClr val="2C2C2C"/>
                          </a:solidFill>
                        </a:rPr>
                        <a:t>Monitor generation rate and engine temperature trends</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0328072"/>
                  </a:ext>
                </a:extLst>
              </a:tr>
              <a:tr h="510637">
                <a:tc>
                  <a:txBody>
                    <a:bodyPr/>
                    <a:lstStyle/>
                    <a:p>
                      <a:pPr algn="r"/>
                      <a:r>
                        <a:rPr lang="en-GB" sz="1200" b="0">
                          <a:solidFill>
                            <a:srgbClr val="2C2C2C"/>
                          </a:solidFill>
                        </a:rPr>
                        <a:t>Stream Processor</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a:solidFill>
                            <a:srgbClr val="2C2C2C"/>
                          </a:solidFill>
                        </a:rPr>
                        <a:t>Track throughput, latency, and performance quality</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3363896"/>
                  </a:ext>
                </a:extLst>
              </a:tr>
              <a:tr h="392797">
                <a:tc>
                  <a:txBody>
                    <a:bodyPr/>
                    <a:lstStyle/>
                    <a:p>
                      <a:pPr algn="r"/>
                      <a:r>
                        <a:rPr lang="en-GB" sz="1200" b="0" dirty="0">
                          <a:solidFill>
                            <a:srgbClr val="2C2C2C"/>
                          </a:solidFill>
                        </a:rPr>
                        <a:t>Airflow</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200" b="0">
                          <a:solidFill>
                            <a:srgbClr val="2C2C2C"/>
                          </a:solidFill>
                        </a:rPr>
                        <a:t>Monitor workflow stability</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7596442"/>
                  </a:ext>
                </a:extLst>
              </a:tr>
              <a:tr h="339620">
                <a:tc>
                  <a:txBody>
                    <a:bodyPr/>
                    <a:lstStyle/>
                    <a:p>
                      <a:pPr algn="r"/>
                      <a:r>
                        <a:rPr lang="en-GB" sz="1200" b="0" dirty="0">
                          <a:solidFill>
                            <a:srgbClr val="2C2C2C"/>
                          </a:solidFill>
                        </a:rPr>
                        <a:t>Prometheus</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GB" sz="1200" b="0" dirty="0">
                          <a:solidFill>
                            <a:srgbClr val="2C2C2C"/>
                          </a:solidFill>
                        </a:rPr>
                        <a:t>Ensure scrape health and DB performance</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3255619419"/>
                  </a:ext>
                </a:extLst>
              </a:tr>
            </a:tbl>
          </a:graphicData>
        </a:graphic>
      </p:graphicFrame>
      <p:pic>
        <p:nvPicPr>
          <p:cNvPr id="52" name="Picture 51">
            <a:extLst>
              <a:ext uri="{FF2B5EF4-FFF2-40B4-BE49-F238E27FC236}">
                <a16:creationId xmlns:a16="http://schemas.microsoft.com/office/drawing/2014/main" id="{D12C2543-FE9B-4045-23E8-B5ACE5D5365B}"/>
              </a:ext>
            </a:extLst>
          </p:cNvPr>
          <p:cNvPicPr>
            <a:picLocks noChangeAspect="1"/>
          </p:cNvPicPr>
          <p:nvPr/>
        </p:nvPicPr>
        <p:blipFill rotWithShape="1">
          <a:blip r:embed="rId3"/>
          <a:srcRect b="34128"/>
          <a:stretch/>
        </p:blipFill>
        <p:spPr>
          <a:xfrm>
            <a:off x="5185177" y="2732525"/>
            <a:ext cx="382562" cy="252000"/>
          </a:xfrm>
          <a:prstGeom prst="rect">
            <a:avLst/>
          </a:prstGeom>
          <a:noFill/>
        </p:spPr>
      </p:pic>
      <p:pic>
        <p:nvPicPr>
          <p:cNvPr id="53" name="Picture 52">
            <a:extLst>
              <a:ext uri="{FF2B5EF4-FFF2-40B4-BE49-F238E27FC236}">
                <a16:creationId xmlns:a16="http://schemas.microsoft.com/office/drawing/2014/main" id="{1E21BA49-354A-774C-6D13-DA0254E9A3D9}"/>
              </a:ext>
            </a:extLst>
          </p:cNvPr>
          <p:cNvPicPr>
            <a:picLocks noChangeAspect="1"/>
          </p:cNvPicPr>
          <p:nvPr/>
        </p:nvPicPr>
        <p:blipFill>
          <a:blip r:embed="rId2"/>
          <a:stretch>
            <a:fillRect/>
          </a:stretch>
        </p:blipFill>
        <p:spPr>
          <a:xfrm>
            <a:off x="5205262" y="3238203"/>
            <a:ext cx="309600" cy="309600"/>
          </a:xfrm>
          <a:prstGeom prst="rect">
            <a:avLst/>
          </a:prstGeom>
        </p:spPr>
      </p:pic>
      <p:pic>
        <p:nvPicPr>
          <p:cNvPr id="54" name="Picture 53">
            <a:extLst>
              <a:ext uri="{FF2B5EF4-FFF2-40B4-BE49-F238E27FC236}">
                <a16:creationId xmlns:a16="http://schemas.microsoft.com/office/drawing/2014/main" id="{78D793B8-1AB5-B899-BE62-29DC78732A27}"/>
              </a:ext>
            </a:extLst>
          </p:cNvPr>
          <p:cNvPicPr>
            <a:picLocks noChangeAspect="1"/>
          </p:cNvPicPr>
          <p:nvPr/>
        </p:nvPicPr>
        <p:blipFill>
          <a:blip r:embed="rId4">
            <a:extLst>
              <a:ext uri="{BEBA8EAE-BF5A-486C-A8C5-ECC9F3942E4B}">
                <a14:imgProps xmlns:a14="http://schemas.microsoft.com/office/drawing/2010/main">
                  <a14:imgLayer r:embed="rId5">
                    <a14:imgEffect>
                      <a14:artisticMarker/>
                    </a14:imgEffect>
                    <a14:imgEffect>
                      <a14:sharpenSoften amount="-25000"/>
                    </a14:imgEffect>
                    <a14:imgEffect>
                      <a14:colorTemperature colorTemp="5900"/>
                    </a14:imgEffect>
                    <a14:imgEffect>
                      <a14:saturation sat="300000"/>
                    </a14:imgEffect>
                    <a14:imgEffect>
                      <a14:brightnessContrast bright="-20000"/>
                    </a14:imgEffect>
                  </a14:imgLayer>
                </a14:imgProps>
              </a:ext>
            </a:extLst>
          </a:blip>
          <a:stretch>
            <a:fillRect/>
          </a:stretch>
        </p:blipFill>
        <p:spPr>
          <a:xfrm>
            <a:off x="5218538" y="4069824"/>
            <a:ext cx="309600" cy="309600"/>
          </a:xfrm>
          <a:prstGeom prst="rect">
            <a:avLst/>
          </a:prstGeom>
          <a:noFill/>
        </p:spPr>
      </p:pic>
      <p:pic>
        <p:nvPicPr>
          <p:cNvPr id="59" name="Picture 2">
            <a:extLst>
              <a:ext uri="{FF2B5EF4-FFF2-40B4-BE49-F238E27FC236}">
                <a16:creationId xmlns:a16="http://schemas.microsoft.com/office/drawing/2014/main" id="{C3B7A7F7-0E57-9FD1-2473-0D3B174A6E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8538" y="3713415"/>
            <a:ext cx="252000" cy="252000"/>
          </a:xfrm>
          <a:prstGeom prst="rect">
            <a:avLst/>
          </a:prstGeom>
          <a:noFill/>
        </p:spPr>
      </p:pic>
      <p:sp>
        <p:nvSpPr>
          <p:cNvPr id="61" name="TextBox 60">
            <a:extLst>
              <a:ext uri="{FF2B5EF4-FFF2-40B4-BE49-F238E27FC236}">
                <a16:creationId xmlns:a16="http://schemas.microsoft.com/office/drawing/2014/main" id="{2A2737F6-6F49-957C-2F19-DD0551AAA088}"/>
              </a:ext>
            </a:extLst>
          </p:cNvPr>
          <p:cNvSpPr txBox="1"/>
          <p:nvPr/>
        </p:nvSpPr>
        <p:spPr>
          <a:xfrm>
            <a:off x="4198354" y="4767329"/>
            <a:ext cx="7364996" cy="1267976"/>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30000"/>
              </a:lnSpc>
            </a:pPr>
            <a:r>
              <a:rPr lang="en-GB" sz="1200" dirty="0">
                <a:solidFill>
                  <a:srgbClr val="2C2C2C"/>
                </a:solidFill>
              </a:rPr>
              <a:t>Data Lifecycle</a:t>
            </a:r>
          </a:p>
          <a:p>
            <a:pPr marL="171450" indent="-171450">
              <a:lnSpc>
                <a:spcPct val="130000"/>
              </a:lnSpc>
              <a:buFont typeface="Arial" panose="020B0604020202020204" pitchFamily="34" charset="0"/>
              <a:buChar char="•"/>
            </a:pPr>
            <a:r>
              <a:rPr lang="en-GB" sz="1200" dirty="0">
                <a:solidFill>
                  <a:srgbClr val="2C2C2C"/>
                </a:solidFill>
              </a:rPr>
              <a:t>Collection: Metrics exposed via /metrics in text format.</a:t>
            </a:r>
          </a:p>
          <a:p>
            <a:pPr marL="171450" indent="-171450">
              <a:lnSpc>
                <a:spcPct val="130000"/>
              </a:lnSpc>
              <a:buFont typeface="Arial" panose="020B0604020202020204" pitchFamily="34" charset="0"/>
              <a:buChar char="•"/>
            </a:pPr>
            <a:r>
              <a:rPr lang="en-GB" sz="1200" dirty="0">
                <a:solidFill>
                  <a:srgbClr val="2C2C2C"/>
                </a:solidFill>
              </a:rPr>
              <a:t>Storage: Prometheus TSDB (time-series database).</a:t>
            </a:r>
          </a:p>
          <a:p>
            <a:pPr marL="171450" indent="-171450">
              <a:lnSpc>
                <a:spcPct val="130000"/>
              </a:lnSpc>
              <a:buFont typeface="Arial" panose="020B0604020202020204" pitchFamily="34" charset="0"/>
              <a:buChar char="•"/>
            </a:pPr>
            <a:r>
              <a:rPr lang="en-GB" sz="1200" dirty="0">
                <a:solidFill>
                  <a:srgbClr val="2C2C2C"/>
                </a:solidFill>
              </a:rPr>
              <a:t>Visualization: Grafana dashboards (real-time and historical).</a:t>
            </a:r>
          </a:p>
          <a:p>
            <a:pPr marL="171450" indent="-171450">
              <a:lnSpc>
                <a:spcPct val="130000"/>
              </a:lnSpc>
              <a:buFont typeface="Arial" panose="020B0604020202020204" pitchFamily="34" charset="0"/>
              <a:buChar char="•"/>
            </a:pPr>
            <a:r>
              <a:rPr lang="en-GB" sz="1200" dirty="0">
                <a:solidFill>
                  <a:srgbClr val="2C2C2C"/>
                </a:solidFill>
              </a:rPr>
              <a:t>Alerting (optional): Alert rules trigger warnings when thresholds are exceeded.</a:t>
            </a:r>
          </a:p>
        </p:txBody>
      </p:sp>
    </p:spTree>
    <p:extLst>
      <p:ext uri="{BB962C8B-B14F-4D97-AF65-F5344CB8AC3E}">
        <p14:creationId xmlns:p14="http://schemas.microsoft.com/office/powerpoint/2010/main" val="33295069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 name="EE4P_STYLE_ID" val="39dcc26a-7131-49f4-a9eb-1c0521500c03"/>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9.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4133</TotalTime>
  <Words>625</Words>
  <Application>Microsoft Macintosh PowerPoint</Application>
  <PresentationFormat>Widescreen</PresentationFormat>
  <Paragraphs>102</Paragraphs>
  <Slides>5</Slides>
  <Notes>1</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5</vt:i4>
      </vt:variant>
      <vt:variant>
        <vt:lpstr>Custom Shows</vt:lpstr>
      </vt:variant>
      <vt:variant>
        <vt:i4>1</vt:i4>
      </vt:variant>
    </vt:vector>
  </HeadingPairs>
  <TitlesOfParts>
    <vt:vector size="10" baseType="lpstr">
      <vt:lpstr>Arial</vt:lpstr>
      <vt:lpstr>Trebuchet MS</vt:lpstr>
      <vt:lpstr>BCG Grid 16:9</vt:lpstr>
      <vt:lpstr>think-cell Slide</vt:lpstr>
      <vt:lpstr> F1 Race Strategy Platform </vt:lpstr>
      <vt:lpstr>Data Models Overview</vt:lpstr>
      <vt:lpstr>Logical Data Model</vt:lpstr>
      <vt:lpstr>Physical Data Model (PostgreSQL)</vt:lpstr>
      <vt:lpstr>Observability Metrics Model</vt:lpstr>
      <vt:lpstr>Format Guide Workshop</vt:lpstr>
    </vt:vector>
  </TitlesOfParts>
  <Company>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Slide Deck</dc:title>
  <dc:creator>Boston Consulting Group</dc:creator>
  <cp:lastModifiedBy>Elea Nizam</cp:lastModifiedBy>
  <cp:revision>463</cp:revision>
  <cp:lastPrinted>2016-04-06T18:59:25Z</cp:lastPrinted>
  <dcterms:created xsi:type="dcterms:W3CDTF">2016-11-04T11:46:04Z</dcterms:created>
  <dcterms:modified xsi:type="dcterms:W3CDTF">2025-10-21T08:56:08Z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2025-10-18T10:38:44Z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b3c33760-eecb-4217-837d-a96e903100eb</vt:lpwstr>
  </property>
  <property fmtid="{D5CDD505-2E9C-101B-9397-08002B2CF9AE}" pid="13" name="MSIP_Label_b0d5c4f4-7a29-4385-b7a5-afbe2154ae6f_ContentBits">
    <vt:lpwstr>0</vt:lpwstr>
  </property>
  <property fmtid="{D5CDD505-2E9C-101B-9397-08002B2CF9AE}" pid="14" name="MSIP_Label_b0d5c4f4-7a29-4385-b7a5-afbe2154ae6f_Tag">
    <vt:lpwstr>10, 3, 0, 1</vt:lpwstr>
  </property>
</Properties>
</file>